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HEAD OF DATA 101  —  SESSION 07  —  FINAL ARCHITECTURE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From Pipeline to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6187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BD5E1"/>
                </a:solidFill>
                <a:latin typeface="Calibri"/>
              </a:rPr>
              <a:t>End-to-End Architecture for Professional Data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19072"/>
            <a:ext cx="6400800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Web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104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7272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2992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Raw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3336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54504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0224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Clean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0568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1736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7456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BigQuery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7800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8968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4688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SQL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5032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6200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1920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ML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2264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3432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9152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BI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9496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90664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6384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6728" y="2084831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7896" y="1874519"/>
            <a:ext cx="766064" cy="64008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3616" y="1911095"/>
            <a:ext cx="6746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2788920"/>
            <a:ext cx="585216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 professional data product is not the model, the dashboard, or the app.
It is the governed chain that makes a decision surface trustworthy.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7777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The pipeline is the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Seven sessions. One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Knowing tools is not the same as designing a product.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2700528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33856"/>
            <a:ext cx="2609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Session 02
Acquisition
(Notebook 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0568" y="1353312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1736" y="1097280"/>
            <a:ext cx="2700528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7456" y="1133856"/>
            <a:ext cx="2609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Session 03
Preprocessing
(Notebook 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2264" y="1353312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3432" y="1097280"/>
            <a:ext cx="2700528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9152" y="1133856"/>
            <a:ext cx="2609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Session 04
Warehouse + SQL
(sql/00–03)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2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30552"/>
            <a:ext cx="4151376" cy="731520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167128"/>
            <a:ext cx="40599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Sessions 05–06
ML Signals
(Notebooks 04–05)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38658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2584" y="2130552"/>
            <a:ext cx="4151376" cy="731520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2167128"/>
            <a:ext cx="40599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Session 07
BI View + Streamlit
(sql/06 + bi/)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44952"/>
            <a:ext cx="42519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081528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the course taught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044952"/>
            <a:ext cx="42519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081528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this session adds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337560"/>
            <a:ext cx="4251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3374136"/>
            <a:ext cx="4105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How to build each 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337560"/>
            <a:ext cx="4251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374136"/>
            <a:ext cx="4105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How layers depend on each other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11880"/>
            <a:ext cx="4251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648456"/>
            <a:ext cx="4105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Tools and techniques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611880"/>
            <a:ext cx="4251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3648456"/>
            <a:ext cx="4105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Contracts and governance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86200"/>
            <a:ext cx="4251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3922776"/>
            <a:ext cx="4105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Individual outputs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886200"/>
            <a:ext cx="4251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3922776"/>
            <a:ext cx="4105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 system with a single source of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business question has not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A stable architecture lets one business question survive many technical layers.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4160520" cy="35433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7043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THE SPECIFIC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 retail and consumer bank evaluates used-vehicle acquisition opportunities for resale and financing portfolios.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65960"/>
            <a:ext cx="397764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8"/>
            <a:ext cx="3794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"Which listings look attractive relative to comparable market conditions — and how should that opportunity set be explained to a committee?"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62072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  <a:latin typeface="Calibri"/>
              </a:rPr>
              <a:t>The Audi A3 / Germany scope is the running example.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097280"/>
            <a:ext cx="4160520" cy="35433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17043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THE GENERIC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71600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This question is specific. The architecture it requires is not.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755648"/>
            <a:ext cx="37947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792224"/>
            <a:ext cx="361188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Evidence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0820" y="200253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167128"/>
            <a:ext cx="37947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203704"/>
            <a:ext cx="361188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Quality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0820" y="241401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578608"/>
            <a:ext cx="37947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615184"/>
            <a:ext cx="361188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Governed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0820" y="28254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2990088"/>
            <a:ext cx="37947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026664"/>
            <a:ext cx="361188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Analytical contracts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0820" y="323697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401568"/>
            <a:ext cx="37947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438144"/>
            <a:ext cx="361188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Model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0820" y="364845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813048"/>
            <a:ext cx="37947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849624"/>
            <a:ext cx="361188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Decision surface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0820" y="405993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4224528"/>
            <a:ext cx="3794760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4261104"/>
            <a:ext cx="361188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Human judgment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generic reference architecture for professional data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Every layer must have an upstream dependency and a downstream purpose.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1539849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3385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External
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9889" y="1298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1057" y="1097280"/>
            <a:ext cx="1539849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6777" y="113385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907" y="1298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2075" y="1097280"/>
            <a:ext cx="1539849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7795" y="113385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Raw
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924" y="1298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43092" y="1097280"/>
            <a:ext cx="1539849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812" y="113385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Preprocessing
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2942" y="129844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4110" y="1097280"/>
            <a:ext cx="1539849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9830" y="113385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Warehouse
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17190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920240"/>
            <a:ext cx="1539849" cy="621792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95681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SQL
Contracts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9889" y="212140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61057" y="1920240"/>
            <a:ext cx="1539849" cy="621792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6777" y="195681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Model
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907" y="212140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02075" y="1920240"/>
            <a:ext cx="1539849" cy="621792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7795" y="195681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Semantic /
BI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1924" y="212140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43092" y="1920240"/>
            <a:ext cx="1539849" cy="621792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8812" y="195681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Decision
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2942" y="2121408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84110" y="1920240"/>
            <a:ext cx="1539849" cy="621792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9830" y="1956816"/>
            <a:ext cx="144840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Human
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660904"/>
            <a:ext cx="5486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2697480"/>
            <a:ext cx="402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2660904"/>
            <a:ext cx="164592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2697480"/>
            <a:ext cx="1499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Generic name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2660904"/>
            <a:ext cx="63093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87752" y="2697480"/>
            <a:ext cx="6163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One-line purpose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95351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299008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1–2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295351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" y="299008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Source + Acquisition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2953512"/>
            <a:ext cx="6309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87752" y="299008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The observable world; scoped, reproducible capture of raw evidence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227832"/>
            <a:ext cx="5486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326440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3227832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" y="326440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Raw Contract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4600" y="3227832"/>
            <a:ext cx="6309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87752" y="326440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Immutable record of what was collected and when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50215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353872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" y="350215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" y="353872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Preprocessing Contract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14600" y="3502152"/>
            <a:ext cx="6309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87752" y="353872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Cleaned, typed, flagged analytical asset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3776472"/>
            <a:ext cx="5486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3192" y="381304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" y="3776472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2" y="381304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Warehouse Model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14600" y="3776472"/>
            <a:ext cx="6309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87752" y="381304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Governed dimensional model — the source of truth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05079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" y="408736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" y="405079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1832" y="408736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SQL Contracts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14600" y="4050792"/>
            <a:ext cx="6309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87752" y="408736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Dataset definitions that govern what ML and BI can see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4325112"/>
            <a:ext cx="5486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3192" y="436168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8680" y="4325112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1832" y="436168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Model Signals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14600" y="4325112"/>
            <a:ext cx="6309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87752" y="436168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Persisted, queryable outputs of trained models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4599432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192" y="463600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" y="459943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1832" y="463600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Semantic / BI View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14600" y="4599432"/>
            <a:ext cx="6309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87752" y="463600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Decision-ready view combining all signals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4873752"/>
            <a:ext cx="5486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3192" y="4910328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9–10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8680" y="4873752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1832" y="4910328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Decision Application + Human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14600" y="4873752"/>
            <a:ext cx="6309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587752" y="4910328"/>
            <a:ext cx="6163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Interface for interpretation, action, and judgment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architecture is a chain of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Professional data products fail when implicit assumptions cross layer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WHAT A DATA CONTRACT SPECIFIES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18872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10424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1325880"/>
            <a:ext cx="29718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912" y="1362456"/>
            <a:ext cx="2825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specifies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1042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Schema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1618488"/>
            <a:ext cx="2971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1912" y="165506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Field names, types, and nullability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11887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1042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Grain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1892808"/>
            <a:ext cx="2971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81912" y="192938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What one row represents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1042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Assumptions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2167128"/>
            <a:ext cx="2971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81912" y="220370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What was filtered, flagged, or transformed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11887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1042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Ownership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2441448"/>
            <a:ext cx="2971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81912" y="247802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Who is responsible for this layer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1576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752344"/>
            <a:ext cx="1042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Acceptable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2715768"/>
            <a:ext cx="2971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81912" y="275234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What downstream layers are allowed to 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291840"/>
            <a:ext cx="4160520" cy="77724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364992"/>
            <a:ext cx="39410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When a contract is implicit — when a team assumes rather than specifies what a dataset means — that assumption travels silently through every downstream layer until it produces a wrong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109728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THE CONTRACT CHAIN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1325880"/>
            <a:ext cx="3794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136245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Raw contract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0820" y="160020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1764792"/>
            <a:ext cx="3794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180136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Cleaned dataset contract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0820" y="203911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00600" y="2203704"/>
            <a:ext cx="3794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224028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Warehouse 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0820" y="247802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2642616"/>
            <a:ext cx="3794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2679192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 analytical contracts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0820" y="291693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600" y="3081528"/>
            <a:ext cx="3794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311810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Model output contracts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0820" y="335584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600" y="3520440"/>
            <a:ext cx="3794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92040" y="355701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Semantic / BI contract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0820" y="379476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3959352"/>
            <a:ext cx="3794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399592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Decision interface contract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1 — Acquisition: scoped capture of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The scraper does not capture the market; it captures a scoped view of the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ACQUISITION SCOPE (CONFIG/PROJECT_CONFIG.YAML)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0058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1325880"/>
            <a:ext cx="8229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9032" y="1362456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325880"/>
            <a:ext cx="23774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362456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excludes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1848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65506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618488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9032" y="1655064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Audi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1618488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1992" y="165506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All other brands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892808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192938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1892808"/>
            <a:ext cx="822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9032" y="1929384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1892808"/>
            <a:ext cx="23774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1992" y="192938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All other models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16712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20370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Country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2167128"/>
            <a:ext cx="822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9032" y="2203704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Germany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2167128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21992" y="220370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All other markets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441448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247802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Source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" y="2441448"/>
            <a:ext cx="822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99032" y="2478024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AutoScout24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2441448"/>
            <a:ext cx="23774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21992" y="247802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Sold inventory, private sales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834640"/>
            <a:ext cx="4206240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2907792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acquisition decision defines the boundary of what the product can ever know. The scope is not a technical detail — it is a product decision.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ACQUISITION RISKS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1325880"/>
            <a:ext cx="13716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0872" y="1362456"/>
            <a:ext cx="1225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1325880"/>
            <a:ext cx="28346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1362456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means for the product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1618488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165506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Source fragility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1618488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62472" y="1655064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Scraper breaks when the source changes structure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1892808"/>
            <a:ext cx="13716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90872" y="192938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Pagination bias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1892808"/>
            <a:ext cx="28346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62472" y="1929384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Early pages over-represent recent or promoted listings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2167128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0872" y="220370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Visibility bias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2167128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62472" y="2203704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Only active listings are visible; sold inventory is not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17720" y="2441448"/>
            <a:ext cx="13716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90872" y="2478024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Silent coverage drift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2441448"/>
            <a:ext cx="28346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62472" y="2478024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Source coverage changes without notification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28346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  <a:latin typeface="Calibri"/>
              </a:rPr>
              <a:t>Notebook 01 (01_scraping_audi_a3_germany.ipynb) implements this scoped acquisition.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2 — Raw data: the immutable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If raw data is modified, every downstream result becomes harder to defend.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WHY IMMUTABILITY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64592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1499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If raw data is...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325880"/>
            <a:ext cx="256032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1362456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 consequence is...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Overwritten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1618488"/>
            <a:ext cx="2560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9112" y="1655064"/>
            <a:ext cx="2414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No way to reproduce the original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Modified in 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1892808"/>
            <a:ext cx="25603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39112" y="1929384"/>
            <a:ext cx="2414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Downstream results cannot be audited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Deleted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2167128"/>
            <a:ext cx="2560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9112" y="2203704"/>
            <a:ext cx="2414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The chain of evidence breaks permanently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Versioned and immutable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2441448"/>
            <a:ext cx="25603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39112" y="2478024"/>
            <a:ext cx="2414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Every result can be traced to its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34640"/>
            <a:ext cx="4206240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907792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Immutability is not a storage policy. It is an audit guarantee. The raw file is the evidence that the model's inputs were produced correctly.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DATA LINEAGE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325880"/>
            <a:ext cx="40233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136245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data/raw/
Exactly what was scraped. Never modified.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72821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1892808"/>
            <a:ext cx="40233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192938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data/processed/
Output of Notebook 02. Reproducible from raw.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29514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2459736"/>
            <a:ext cx="40233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249631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BigQuery (stg_listings_clean → fact_listings)
Governed analytical system. Source of truth.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86207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3026664"/>
            <a:ext cx="40233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306324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ML outputs (fact_expected_price / fact_top_price)
Persisted model signals. Queryable by BI.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42900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3593592"/>
            <a:ext cx="402336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363016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vw_bi_dashboard
Decision-ready view. Read by Streamlit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3 — Preprocessing: evidence becomes an analytical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Cleaning is not hygiene. It is product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PREPROCESSING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7373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325880"/>
            <a:ext cx="246888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0552" y="1362456"/>
            <a:ext cx="2322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protects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Missingness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161848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0552" y="165506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Signal completeness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Outlier flagging (not removal)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189280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0552" y="192938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Opportunity vs. noise distinction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Duplicate removal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216712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220370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Grain integrity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Type casting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244144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0552" y="247802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Downstream compatibility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1576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75234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Category normalization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271576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30552" y="275234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Consistent dimension keys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9008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02666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Schema validation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99008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0552" y="302666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Contract stability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THE OUTLIER DILEMMA — CASE EXAMPLE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1325880"/>
            <a:ext cx="420624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1389888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 the Audi A3 dataset, price outliers are not removed. They are flagged with price_outlier_iqr.
A listing priced 30% below market could be:
  A data error  →  should be excluded
  A genuine opportunity  →  should reach the committee
Decision rule: flag it. Let the BI layer decide.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2834640"/>
            <a:ext cx="4206240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27448" y="2907792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preprocessing decision is a product decision. The question is never 'is this data clean?' — it is 'does this transformation preserve the signal the product needs?'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cleaned dataset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A clean dataset is one another team can consume without guessing what it means.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Before any data enters BigQuery, it must satisfy the staging contract defined in sql/01_create_staging.sql. This contract is not implicit — it is the declared DDL that the warehouse expects.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81328"/>
            <a:ext cx="18288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517904"/>
            <a:ext cx="1682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481328"/>
            <a:ext cx="10058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2" y="151790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481328"/>
            <a:ext cx="566928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1517904"/>
            <a:ext cx="5522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Contract meaning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73936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81051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price_eur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1773936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1992" y="181051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INTEGER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1773936"/>
            <a:ext cx="5669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7832" y="181051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Actual listing price in euros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48256"/>
            <a:ext cx="1828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08483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mileage_km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048256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21992" y="208483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INTEGER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2048256"/>
            <a:ext cx="56692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27832" y="208483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Odometer reading in kilometres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22576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35915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fuel_type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2322576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21992" y="235915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2322576"/>
            <a:ext cx="5669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27832" y="235915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Normalized fuel category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596896"/>
            <a:ext cx="1828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263347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age_years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2596896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21992" y="263347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FLOAT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2596896"/>
            <a:ext cx="56692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27832" y="263347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Vehicle age at capture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871216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290779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price_outlier_iqr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48840" y="2871216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21992" y="290779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BOOLEAN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2871216"/>
            <a:ext cx="5669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7832" y="290779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True if price is outside IQR bounds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145536"/>
            <a:ext cx="1828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318211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mileage_outlier_iqr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3145536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21992" y="318211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BOOLEAN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3145536"/>
            <a:ext cx="56692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27832" y="318211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True if mileage is outside IQR bounds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419856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345643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logical_issue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48840" y="3419856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21992" y="345643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BOOLEAN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54680" y="3419856"/>
            <a:ext cx="5669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27832" y="345643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True if price/mileage combination is implausible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694176"/>
            <a:ext cx="1828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373075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price_label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48840" y="3694176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21992" y="3730752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54680" y="3694176"/>
            <a:ext cx="56692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27832" y="3730752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Source platform price tier label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059936"/>
            <a:ext cx="850392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" y="4133088"/>
            <a:ext cx="8284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 clean dataset is not one that looks tidy. It is one that another team can consume without guessing what it means, how it was produced, or what assumptions it carries.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4 — Warehouse: the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The warehouse is not storage. It is the trust system of the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THE FUNDAMENTAL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210312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325880"/>
            <a:ext cx="210312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136245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Warehouse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Local CSV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618488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165506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BigQuery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21031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Implicit 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1892808"/>
            <a:ext cx="21031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192938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Declared DDL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Manual 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2167128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6312" y="220370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Ordered SQL assets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21031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No data versioning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2441448"/>
            <a:ext cx="21031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6312" y="247802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Stable, queryable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15768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75234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Personal workspace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2715768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96312" y="275234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Organization-wide contract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90088"/>
            <a:ext cx="21031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02666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Prototype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2990088"/>
            <a:ext cx="21031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96312" y="3026664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Product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SQL ASSET SEQUENCE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1325880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136245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sql/00  Create dataset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160020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1764792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180136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sql/01  Staging contract (stg_listings_clean)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03911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2203704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22402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sql/02  Dimensions (dim_model, dim_fuel, dim_country, dim_price_label)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247802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2642616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267919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sql/03  Fact table (fact_listings)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91693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081528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0600" y="311810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sql/04  Regression dataset view (vw_regression_dataset)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35584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60" y="3520440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0600" y="35570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sql/05  Classification dataset view (vw_classification_dataset)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379476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3959352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39959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sql/06  BI dashboard view (vw_bi_dashboard)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Grain, dimensions, and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Most analytical errors begin before the first SQL query — at the grain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STAR SCHEMA — FACT_LISTINGS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20624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Grain: one row per listing at capture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737360"/>
            <a:ext cx="146304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fact_listings
price_eur
mileage_km
age_years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755648"/>
            <a:ext cx="10058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  <a:latin typeface="Calibri"/>
              </a:rPr>
              <a:t>dim_model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755648"/>
            <a:ext cx="10058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8105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  <a:latin typeface="Calibri"/>
              </a:rPr>
              <a:t>dim_fuel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70048"/>
            <a:ext cx="10058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249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  <a:latin typeface="Calibri"/>
              </a:rPr>
              <a:t>dim_country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670048"/>
            <a:ext cx="100584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7249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  <a:latin typeface="Calibri"/>
              </a:rPr>
              <a:t>dim_price_label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WHY GRAIN MATTERS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325880"/>
            <a:ext cx="155448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1362456"/>
            <a:ext cx="1408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If grain is...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325880"/>
            <a:ext cx="26517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1362456"/>
            <a:ext cx="2505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 consequence is...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61848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1655064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Correct and explicit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618488"/>
            <a:ext cx="2651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1655064"/>
            <a:ext cx="2505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Metrics are unambiguous and reproducible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1892808"/>
            <a:ext cx="1554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1929384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Wrong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892808"/>
            <a:ext cx="2651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1929384"/>
            <a:ext cx="2505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Aggregations double-count or miss records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16712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2203704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Implicit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167128"/>
            <a:ext cx="2651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2203704"/>
            <a:ext cx="2505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Different analysts get different numbers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2441448"/>
            <a:ext cx="1554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2478024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Changed mid-project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441448"/>
            <a:ext cx="26517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2478024"/>
            <a:ext cx="2505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All historical comparisons break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2834640"/>
            <a:ext cx="4206240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27448" y="2907792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Facts protect measurement. Dimensions protect meaning. A wrong grain produces metrics that look correct but measure the wrong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5 — SQL: the analytical contract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SQL decides the analytical reality consumed by downstream layers.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SQL AS 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0058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SQL clause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1325880"/>
            <a:ext cx="32004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9032" y="1362456"/>
            <a:ext cx="3054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governs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SELECT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1618488"/>
            <a:ext cx="3200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2" y="1655064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Which fields are exposed to downstream 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1892808"/>
            <a:ext cx="32004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9032" y="1929384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Which records are in scope for the model or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JOIN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2167128"/>
            <a:ext cx="3200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9032" y="2203704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Which dimensions define the meaning of measures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1005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GROUP BY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2441448"/>
            <a:ext cx="32004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9032" y="2478024"/>
            <a:ext cx="3054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What the grain of the output 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606040"/>
            <a:ext cx="4206240" cy="50292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679192"/>
            <a:ext cx="39867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An ad hoc extract bypasses this governance entirely. Every view definition is a contract.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SQL VIEW DEPENDENCIES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1353312"/>
            <a:ext cx="14630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13990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fact_listings + dimensions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60" y="1901952"/>
            <a:ext cx="10972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1938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vw_regression_
dataset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1901952"/>
            <a:ext cx="10972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1938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vw_classification_
dataset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2569464"/>
            <a:ext cx="10972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  <a:latin typeface="Calibri"/>
              </a:rPr>
              <a:t>fact_expected_
price_predictions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2569464"/>
            <a:ext cx="10972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2606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  <a:latin typeface="Calibri"/>
              </a:rPr>
              <a:t>fact_top_price_
predictions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236976"/>
            <a:ext cx="14630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32918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vw_bi_dashboard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16459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231343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298094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16459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231343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298094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6 — Regression: the expected-price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The purpose of regression here is not only prediction; it creates a reference line for business interpretation.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MODEL CONTRACT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4630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325880"/>
            <a:ext cx="27432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2" y="1362456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Input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161848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56232" y="16550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vw_regression_dataset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1463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Target variable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1892808"/>
            <a:ext cx="27432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56232" y="192938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actual_price_eur (market price)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Output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216712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56232" y="220370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fact_expected_price_predictions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1463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Key output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41448"/>
            <a:ext cx="27432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56232" y="247802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expected_price_eur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1576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75234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Derived field (BI)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271576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56232" y="275234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expected_price_gap_eur = actual − expected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BUSINESS INTERPRETATION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1325880"/>
            <a:ext cx="420624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1389888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The regression output answers: what would a comparable vehicle typically cost in this market?
A negative gap (actual &lt; expected) means the listing is priced below what comparable vehicles command.
This is not a buy signal. It is a reference line that the committee interprets in context.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2514600"/>
            <a:ext cx="4206240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27448" y="2587752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Regression often acts as a baseline of normal behavior. Its analytical value is not the prediction alone — it is the deviation from expectation that becomes useful.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7 — Classification: the prioritization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Classification becomes valuable when its probability is connected to an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MODEL CONTRACT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4630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325880"/>
            <a:ext cx="27432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2" y="1362456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Input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161848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56232" y="16550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vw_classification_dataset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1463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Target variable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1892808"/>
            <a:ext cx="27432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56232" y="192938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top_price (1 if price_label = 'top-price', else 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Output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216712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56232" y="220370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fact_top_price_predictions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1463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Key output fields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41448"/>
            <a:ext cx="27432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56232" y="247802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top_price_probability, predicted_top_price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514600"/>
            <a:ext cx="42062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5603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The classification target is derived from the external price_label field — independent of the regression output.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BUSINESS USE AND THRESHOLD POLICY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1325880"/>
            <a:ext cx="420624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1389888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top_price_probability answers: how likely is this listing to represent a commercially attractive opportunity according to the market's own pricing signal?
A high-probability listing is not automatically acquired. It enters the committee's review queue as a prioritized candidate.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423160"/>
            <a:ext cx="4206240" cy="73152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27448" y="2496312"/>
            <a:ext cx="3986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The probability threshold is a business decision, not a model parameter. Setting it at 0.5 means: flag listings the model considers more likely than not to be commercially attractive. A more conservative threshold raises precision; a more permissive one raises recall.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8 — The semantic BI view: from signals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The BI view is where technical outputs become decision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WHAT VW_BI_DASHBOARD COMBINES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6245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fact_listings +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60020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64792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0136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fact_expected_price_predictions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03911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203704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02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fact_top_price_predictions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47802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642616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7919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Quality flags (price_outlier_iqr, logical_issue)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91693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81528"/>
            <a:ext cx="4023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1810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→  decision_flag  +  expected_price_gap_eur  +  top_price_probability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90672"/>
            <a:ext cx="4206240" cy="50292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163824"/>
            <a:ext cx="39867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This is the only surface that Streamlit and the Text-to-SQL assistant are allowed to query.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DECISION_FLAG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325880"/>
            <a:ext cx="2313432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1362456"/>
            <a:ext cx="2167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1152" y="1325880"/>
            <a:ext cx="1892808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04304" y="1362456"/>
            <a:ext cx="1746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decision_flag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1618488"/>
            <a:ext cx="2313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1655064"/>
            <a:ext cx="2167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Missing model outputs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1152" y="1618488"/>
            <a:ext cx="18928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4304" y="1655064"/>
            <a:ext cx="1746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review_missing_model_outputs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1892808"/>
            <a:ext cx="2313432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1929384"/>
            <a:ext cx="2167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price &lt; expected AND probability ≥ 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31152" y="1892808"/>
            <a:ext cx="1892808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04304" y="1929384"/>
            <a:ext cx="1746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high_priority_review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2167128"/>
            <a:ext cx="2313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2203704"/>
            <a:ext cx="2167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price &lt; expected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31152" y="2167128"/>
            <a:ext cx="18928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04304" y="2203704"/>
            <a:ext cx="1746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price_opportunity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2441448"/>
            <a:ext cx="2313432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0872" y="2478024"/>
            <a:ext cx="2167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probability ≥ 0.5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31152" y="2441448"/>
            <a:ext cx="1892808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04304" y="2478024"/>
            <a:ext cx="1746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top_price_signal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2715768"/>
            <a:ext cx="2313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2752344"/>
            <a:ext cx="2167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None of the above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31152" y="2715768"/>
            <a:ext cx="18928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04304" y="2752344"/>
            <a:ext cx="1746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standard_review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3090672"/>
            <a:ext cx="4206240" cy="50292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27448" y="3163824"/>
            <a:ext cx="39867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The semantic layer translates technical outputs into language a committee can act on. This translation belongs in SQL — not in the application.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Layer 9 — The decision application: three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Streamlit is the interface of the product, not the source of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27736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133856"/>
            <a:ext cx="2627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Committee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44752"/>
            <a:ext cx="2773680" cy="31501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17904"/>
            <a:ext cx="2590800" cy="300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Purpose: executive recommendation and KPIs for a 10-minute committee review.
Shows: top-priority listings, portfolio summary, expected discount distribution, and a Gemini-generated committee memo.
Governance rule: reads from vw_bi_dashboard. Does not compute 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5160" y="1097280"/>
            <a:ext cx="277368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8312" y="1133856"/>
            <a:ext cx="2627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Strategy &amp; Portfolio Builder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5160" y="1444752"/>
            <a:ext cx="2773680" cy="31501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6600" y="1517904"/>
            <a:ext cx="2590800" cy="300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Purpose: scenario simulation under analyst-controlled business assumptions.
Analyst controls: resale haircut, reconditioning cost, transaction cost, funding cost, financing take-up, cross-sell income.
Governance rule: business assumptions are scenario parameters, not stored in BigQuery.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0280" y="1097280"/>
            <a:ext cx="277368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3432" y="1133856"/>
            <a:ext cx="2627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Ask the Data
GenAI SQL Assistant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0280" y="1444752"/>
            <a:ext cx="2773680" cy="31501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720" y="1517904"/>
            <a:ext cx="2590800" cy="300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Purpose: governed natural-language access to BI data.
Generates SQL constrained to vw_bi_dashboard, validates it, runs a BigQuery dry-run, executes, and returns a table, chart, and executive interpretation.
Governance rule: the LLM cannot query arbitrary tables.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model signals to portfolio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The model provides evidence. The product defines the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WHAT THE MODELS PROVIDE (GOVERNED, IN BIGQUERY)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7373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362456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325880"/>
            <a:ext cx="246888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0552" y="1362456"/>
            <a:ext cx="2322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1848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5506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actual_price_eur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161848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0552" y="165506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fact_listings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9280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92938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expected_price_eur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189280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0552" y="192938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Regression (Notebook 04)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0370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expected_price_gap_eur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216712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220370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BI view computation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4144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47802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top_price_probability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244144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0552" y="247802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Classification (Notebook 05)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1576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75234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predicted_top_price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271576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30552" y="275234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Classification (Notebook 05)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9008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02666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decision_flag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99008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0552" y="302666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BI view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WHAT THE BUSINESS LAYER ADDS (SCENARIO PARAMETERS IN STREAMLIT)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1325880"/>
            <a:ext cx="1737360" cy="29260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1362456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1325880"/>
            <a:ext cx="2468880" cy="29260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1362456"/>
            <a:ext cx="2322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161848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0872" y="165506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Resale haircut (%)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161848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165506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Expected resale discount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189280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192938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Reconditioning cost (€)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189280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192938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Preparation cost per vehicle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216712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90872" y="220370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Transaction cost (%)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216712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28232" y="220370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Acquisition overhead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244144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0872" y="247802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Funding cost (%)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244144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8232" y="247802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Cost of capital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17720" y="271576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90872" y="275234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Financing take-up (%)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271576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28232" y="275234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Share of buyers using financing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17720" y="299008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90872" y="302666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Cross-sell income (€)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55080" y="299008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28232" y="302666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Expected ancillary revenue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3264408"/>
            <a:ext cx="1737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90872" y="330098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Expected ROI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5080" y="3264408"/>
            <a:ext cx="2468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28232" y="330098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Combined investment return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17720" y="3538728"/>
            <a:ext cx="17373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90872" y="357530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Investment score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3538728"/>
            <a:ext cx="24688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28232" y="3575304"/>
            <a:ext cx="2322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Composite ranking 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makes Text-to-SQL reliable is not the LLM — it is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Text-to-SQL becomes reliable only when the architecture narrows what the model is allowed to mean.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An LLM can generate useful SQL only because the architecture gives it a governed surface to work against. Without a stable schema, a semantic layer, and execution guardrails, the model has no reliable meaning to translate.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1539849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45336"/>
            <a:ext cx="144840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Natural language
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9889" y="17282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1057" y="1508760"/>
            <a:ext cx="1539849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6777" y="1545336"/>
            <a:ext cx="144840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Semantic
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907" y="17282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2075" y="1508760"/>
            <a:ext cx="1539849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7795" y="1545336"/>
            <a:ext cx="144840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Governed
BI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1924" y="17282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43092" y="1508760"/>
            <a:ext cx="1539849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8812" y="1545336"/>
            <a:ext cx="144840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SQL
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2942" y="17282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84110" y="1508760"/>
            <a:ext cx="1539849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1545336"/>
            <a:ext cx="144840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Validation +
BigQuery 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286000"/>
            <a:ext cx="23774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322576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286000"/>
            <a:ext cx="612648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2322576"/>
            <a:ext cx="5980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it provides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78608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61518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1. Governed data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2578608"/>
            <a:ext cx="612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70632" y="2615184"/>
            <a:ext cx="5980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 stable, typed schema the LLM can reason about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852928"/>
            <a:ext cx="23774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288950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2. Semantic layer with field meanings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2852928"/>
            <a:ext cx="6126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0632" y="2889504"/>
            <a:ext cx="5980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Business definitions that constrain interpretation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127248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316382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3. Prompt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3127248"/>
            <a:ext cx="612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632" y="3163824"/>
            <a:ext cx="5980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Instructions that scope what the LLM is allowed to generate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01568"/>
            <a:ext cx="23774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43814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4. SQL guardrails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3401568"/>
            <a:ext cx="6126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0632" y="3438144"/>
            <a:ext cx="5980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Deterministic validation before BigQuery sees the query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675888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3712464"/>
            <a:ext cx="2231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5. Execution boundary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97480" y="3675888"/>
            <a:ext cx="6126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70632" y="3712464"/>
            <a:ext cx="5980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BigQuery dry-run to check safety and scan cost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Text-to-SQL control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The LLM writes candidate syntax. The architecture owns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CONTROL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402336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6245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1. User asks a business question 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62763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402336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288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2. App enriches prompt with semantic context (field meanings, allowed table, SQL rules)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09397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258568"/>
            <a:ext cx="402336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9514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3. LLM drafts candidate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56032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24912"/>
            <a:ext cx="402336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6148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4. Validator inspects SQL (blocks non-SELECT, SELECT *, forbidden tables)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02666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91256"/>
            <a:ext cx="402336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278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5. BigQuery dry-run checks safety and estimated scan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49300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402336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9417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6. BigQuery executes — App returns table, chart, and executive 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RESPONSIBILITY SPLIT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1325880"/>
            <a:ext cx="109728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1362456"/>
            <a:ext cx="950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325880"/>
            <a:ext cx="31089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88152" y="1362456"/>
            <a:ext cx="2962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618488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1655064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1618488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88152" y="1655064"/>
            <a:ext cx="2962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Drafts candidate SQL syntax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892808"/>
            <a:ext cx="10972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1929384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Application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1892808"/>
            <a:ext cx="3108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88152" y="1929384"/>
            <a:ext cx="2962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Validates, constrains, and governs execution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2167128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0872" y="2203704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BigQuery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2167128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88152" y="2203704"/>
            <a:ext cx="2962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Executes against governed access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441448"/>
            <a:ext cx="10972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2478024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0" y="2441448"/>
            <a:ext cx="3108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88152" y="2478024"/>
            <a:ext cx="2962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Owns the decision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2743200"/>
            <a:ext cx="4206240" cy="77724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27448" y="2816352"/>
            <a:ext cx="3986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The LLM is not trusted. It is constrained. The architecture does not rely on the model generating correct SQL — it relies on the validation layer catching incorrect SQL before it reaches the database.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Failure modes across the full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Architecture is risk control made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Each layer has a characteristic way of failing — and a professional control that prevents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44752"/>
            <a:ext cx="128016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481328"/>
            <a:ext cx="1133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44752"/>
            <a:ext cx="164592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1481328"/>
            <a:ext cx="1499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Failure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44752"/>
            <a:ext cx="228600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481328"/>
            <a:ext cx="2139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Product consequence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1444752"/>
            <a:ext cx="32918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2" y="1481328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Professional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37360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77393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Acquisition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73736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73352" y="177393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Scrape without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737360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177393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Noisy, undefendable dataset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737360"/>
            <a:ext cx="3291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05272" y="177393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Product scope in 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011680"/>
            <a:ext cx="12801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04825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Raw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2011680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73352" y="204825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Overwrite raw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011680"/>
            <a:ext cx="22860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9272" y="204825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 reproducibility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2011680"/>
            <a:ext cx="3291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5272" y="204825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Immutable raw contract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286000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232257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Preprocessing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228600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73352" y="232257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Drop outliers blindly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2286000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9272" y="232257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Lost opportunity signal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2286000"/>
            <a:ext cx="3291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5272" y="232257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Flag-first policy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560320"/>
            <a:ext cx="12801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259689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Warehouse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0200" y="2560320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73352" y="259689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Implicit grain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2560320"/>
            <a:ext cx="22860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19272" y="259689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Duplicated or wrong metrics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32120" y="2560320"/>
            <a:ext cx="3291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05272" y="259689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Explicit grain definition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2834640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287121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SQL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283464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73352" y="287121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Ad hoc extracts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2834640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19272" y="287121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Inconsistent model inputs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32120" y="2834640"/>
            <a:ext cx="3291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05272" y="287121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Governed views only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108960"/>
            <a:ext cx="12801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314553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200" y="3108960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73352" y="314553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Local-only predictions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3108960"/>
            <a:ext cx="22860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19272" y="314553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 reuse, no auditability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108960"/>
            <a:ext cx="3291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05272" y="314553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Persisted outputs in BigQuery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383280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" y="341985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Streamlit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38328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73352" y="341985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Reads CSVs directly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6120" y="3383280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19272" y="341985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Bypasses source of truth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32120" y="3383280"/>
            <a:ext cx="3291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05272" y="341985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BigQuery-backed app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3657600"/>
            <a:ext cx="12801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3192" y="3694176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Text-to-SQL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3657600"/>
            <a:ext cx="1645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73352" y="3694176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LLM queries everything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46120" y="3657600"/>
            <a:ext cx="22860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19272" y="3694176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Unsafe ambiguity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32120" y="3657600"/>
            <a:ext cx="32918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05272" y="369417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Semantic layer + validation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same architecture applies beyond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Head of Data 101  —  Session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54864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477774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E293B"/>
                </a:solidFill>
                <a:latin typeface="Calibri"/>
              </a:rPr>
              <a:t>The architecture is the lesson. The case is the 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THE GENERIC 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624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Evidence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58191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46504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783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Quality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00253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67128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0370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Governed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42316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87752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243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Analytical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843784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08376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044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26440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29000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6557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Semantic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685032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849624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86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Decision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0565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70248"/>
            <a:ext cx="38404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30682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Human judgment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109728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WHERE THIS PATTERN APPLIES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1325880"/>
            <a:ext cx="1463040" cy="29260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90872" y="1362456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325880"/>
            <a:ext cx="2743200" cy="29260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53912" y="1362456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Business question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61848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90872" y="165506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Fraud detection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161848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16550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Which transactions look anomalous relative to normal behavior?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1892808"/>
            <a:ext cx="1463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90872" y="192938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Credit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1892808"/>
            <a:ext cx="27432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53912" y="192938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Which applicants are likely to default under current conditions?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216712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90872" y="220370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Churn prediction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216712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53912" y="220370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Which customers show early signs of disengagement?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2441448"/>
            <a:ext cx="1463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90872" y="247802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Pricing optimization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2441448"/>
            <a:ext cx="27432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3912" y="247802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Which products are priced below their demand-justified level?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271576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90872" y="275234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Operational monitoring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2715768"/>
            <a:ext cx="2743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53912" y="275234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Which processes are deviating from expected performance?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2990088"/>
            <a:ext cx="1463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90872" y="3026664"/>
            <a:ext cx="1316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AI assistants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2990088"/>
            <a:ext cx="27432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53912" y="30266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Which business questions can be answered from governed data?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17720" y="3337560"/>
            <a:ext cx="4206240" cy="32004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27448" y="3410712"/>
            <a:ext cx="39867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The lesson is not how to evaluate used cars — it is how to build a system that makes any evidence-based decision trustworthy.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HEAD OF DATA 101  —  SESSION 07  —  FINAL ARCHITECTURE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The reusable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7899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The case was vehicles.   The architecture is generic.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Fraud detection  |  Credit risk  |  Churn prediction  |  Pricing optimization  |  Operational monitoring  |  Marketing attribution  |  Financial control  |  AI assistants over governed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7315200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 professional data product is a reproducible chain from evidence to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Web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104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7272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2992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Raw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3336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4504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0224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Clean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0568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1736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7456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BigQuery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7800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8968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4688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SQL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5032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6200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1920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ML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2264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3432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9152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BI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9496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90664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6384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6728" y="2834640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57896" y="2670048"/>
            <a:ext cx="766064" cy="548640"/>
          </a:xfrm>
          <a:prstGeom prst="rect">
            <a:avLst/>
          </a:prstGeom>
          <a:solidFill>
            <a:srgbClr val="312E81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3616" y="2706624"/>
            <a:ext cx="674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7777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Do not ship a notebook. Ship a trustworthy decision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