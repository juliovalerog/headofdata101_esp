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502920"/>
            <a:ext cx="8284464" cy="320040"/>
          </a:xfrm>
          <a:prstGeom prst="rect">
            <a:avLst/>
          </a:prstGeom>
          <a:noFill/>
          <a:ln>
            <a:noFill/>
          </a:ln>
        </p:spPr>
        <p:txBody>
          <a:bodyPr wrap="square">
            <a:spAutoFit/>
          </a:bodyPr>
          <a:lstStyle/>
          <a:p>
            <a:pPr algn="ctr"/>
            <a:r>
              <a:rPr sz="1100" b="0" i="0">
                <a:solidFill>
                  <a:srgbClr val="CBD5E1"/>
                </a:solidFill>
                <a:latin typeface="Calibri"/>
              </a:rPr>
              <a:t>Head of Data 101  —  Session 07</a:t>
            </a:r>
          </a:p>
        </p:txBody>
      </p:sp>
      <p:sp>
        <p:nvSpPr>
          <p:cNvPr id="5" name="TextBox 4"/>
          <p:cNvSpPr txBox="1"/>
          <p:nvPr/>
        </p:nvSpPr>
        <p:spPr>
          <a:xfrm>
            <a:off x="429768" y="1005840"/>
            <a:ext cx="8284464" cy="777240"/>
          </a:xfrm>
          <a:prstGeom prst="rect">
            <a:avLst/>
          </a:prstGeom>
          <a:noFill/>
          <a:ln>
            <a:noFill/>
          </a:ln>
        </p:spPr>
        <p:txBody>
          <a:bodyPr wrap="square">
            <a:spAutoFit/>
          </a:bodyPr>
          <a:lstStyle/>
          <a:p>
            <a:pPr algn="ctr"/>
            <a:r>
              <a:rPr sz="4000" b="1" i="0">
                <a:solidFill>
                  <a:srgbClr val="FFFFFF"/>
                </a:solidFill>
                <a:latin typeface="Calibri"/>
              </a:rPr>
              <a:t>From Pipeline to Product</a:t>
            </a:r>
          </a:p>
        </p:txBody>
      </p:sp>
      <p:sp>
        <p:nvSpPr>
          <p:cNvPr id="6" name="TextBox 5"/>
          <p:cNvSpPr txBox="1"/>
          <p:nvPr/>
        </p:nvSpPr>
        <p:spPr>
          <a:xfrm>
            <a:off x="429768" y="1874519"/>
            <a:ext cx="8284464" cy="411480"/>
          </a:xfrm>
          <a:prstGeom prst="rect">
            <a:avLst/>
          </a:prstGeom>
          <a:noFill/>
          <a:ln>
            <a:noFill/>
          </a:ln>
        </p:spPr>
        <p:txBody>
          <a:bodyPr wrap="square">
            <a:spAutoFit/>
          </a:bodyPr>
          <a:lstStyle/>
          <a:p>
            <a:pPr algn="ctr"/>
            <a:r>
              <a:rPr sz="1600" b="0" i="0">
                <a:solidFill>
                  <a:srgbClr val="CBD5E1"/>
                </a:solidFill>
                <a:latin typeface="Calibri"/>
              </a:rPr>
              <a:t>End-to-End Data Architecture for Professional Data Products</a:t>
            </a:r>
          </a:p>
        </p:txBody>
      </p:sp>
      <p:sp>
        <p:nvSpPr>
          <p:cNvPr id="7" name="Rectangle 6"/>
          <p:cNvSpPr/>
          <p:nvPr/>
        </p:nvSpPr>
        <p:spPr>
          <a:xfrm>
            <a:off x="429768"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Web Source</a:t>
            </a:r>
          </a:p>
        </p:txBody>
      </p:sp>
      <p:sp>
        <p:nvSpPr>
          <p:cNvPr id="9" name="Rectangle 8"/>
          <p:cNvSpPr/>
          <p:nvPr/>
        </p:nvSpPr>
        <p:spPr>
          <a:xfrm>
            <a:off x="1203960"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68552"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8552"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Raw Data</a:t>
            </a:r>
          </a:p>
        </p:txBody>
      </p:sp>
      <p:sp>
        <p:nvSpPr>
          <p:cNvPr id="12" name="Rectangle 11"/>
          <p:cNvSpPr/>
          <p:nvPr/>
        </p:nvSpPr>
        <p:spPr>
          <a:xfrm>
            <a:off x="2142744"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07336"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07336"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Clean Data</a:t>
            </a:r>
          </a:p>
        </p:txBody>
      </p:sp>
      <p:sp>
        <p:nvSpPr>
          <p:cNvPr id="15" name="Rectangle 14"/>
          <p:cNvSpPr/>
          <p:nvPr/>
        </p:nvSpPr>
        <p:spPr>
          <a:xfrm>
            <a:off x="3081528"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6120"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6120"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BigQuery</a:t>
            </a:r>
          </a:p>
        </p:txBody>
      </p:sp>
      <p:sp>
        <p:nvSpPr>
          <p:cNvPr id="18" name="Rectangle 17"/>
          <p:cNvSpPr/>
          <p:nvPr/>
        </p:nvSpPr>
        <p:spPr>
          <a:xfrm>
            <a:off x="4020312"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84904"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84904"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SQL Views</a:t>
            </a:r>
          </a:p>
        </p:txBody>
      </p:sp>
      <p:sp>
        <p:nvSpPr>
          <p:cNvPr id="21" name="Rectangle 20"/>
          <p:cNvSpPr/>
          <p:nvPr/>
        </p:nvSpPr>
        <p:spPr>
          <a:xfrm>
            <a:off x="4959096"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3688"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3688"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ML Signals</a:t>
            </a:r>
          </a:p>
        </p:txBody>
      </p:sp>
      <p:sp>
        <p:nvSpPr>
          <p:cNvPr id="24" name="Rectangle 23"/>
          <p:cNvSpPr/>
          <p:nvPr/>
        </p:nvSpPr>
        <p:spPr>
          <a:xfrm>
            <a:off x="5897880"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62472"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62472"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BI View</a:t>
            </a:r>
          </a:p>
        </p:txBody>
      </p:sp>
      <p:sp>
        <p:nvSpPr>
          <p:cNvPr id="27" name="Rectangle 26"/>
          <p:cNvSpPr/>
          <p:nvPr/>
        </p:nvSpPr>
        <p:spPr>
          <a:xfrm>
            <a:off x="6836664"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01256"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01256"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Streamlit</a:t>
            </a:r>
          </a:p>
        </p:txBody>
      </p:sp>
      <p:sp>
        <p:nvSpPr>
          <p:cNvPr id="30" name="Rectangle 29"/>
          <p:cNvSpPr/>
          <p:nvPr/>
        </p:nvSpPr>
        <p:spPr>
          <a:xfrm>
            <a:off x="7775448" y="2724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40040" y="256032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40040" y="256032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Decision</a:t>
            </a:r>
          </a:p>
        </p:txBody>
      </p:sp>
      <p:sp>
        <p:nvSpPr>
          <p:cNvPr id="33" name="Rectangle 32"/>
          <p:cNvSpPr/>
          <p:nvPr/>
        </p:nvSpPr>
        <p:spPr>
          <a:xfrm>
            <a:off x="0" y="4777740"/>
            <a:ext cx="9144000" cy="36576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7160" y="4777740"/>
            <a:ext cx="8961120" cy="365760"/>
          </a:xfrm>
          <a:prstGeom prst="rect">
            <a:avLst/>
          </a:prstGeom>
          <a:noFill/>
          <a:ln>
            <a:noFill/>
          </a:ln>
        </p:spPr>
        <p:txBody>
          <a:bodyPr wrap="square">
            <a:spAutoFit/>
          </a:bodyPr>
          <a:lstStyle/>
          <a:p>
            <a:pPr algn="l"/>
            <a:r>
              <a:rPr sz="1100" b="1" i="0">
                <a:solidFill>
                  <a:srgbClr val="FFFFFF"/>
                </a:solidFill>
                <a:latin typeface="Calibri"/>
              </a:rPr>
              <a:t>The pipeline is the product.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Why this final session matters</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Knowing tools is not the same as designing a product.</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Tools covered in this course</a:t>
            </a:r>
          </a:p>
        </p:txBody>
      </p:sp>
      <p:sp>
        <p:nvSpPr>
          <p:cNvPr id="10" name="Rectangle 9"/>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What connects them into a product</a:t>
            </a:r>
          </a:p>
        </p:txBody>
      </p:sp>
      <p:sp>
        <p:nvSpPr>
          <p:cNvPr id="12" name="Rectangle 11"/>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207008"/>
            <a:ext cx="3840480" cy="384048"/>
          </a:xfrm>
          <a:prstGeom prst="rect">
            <a:avLst/>
          </a:prstGeom>
          <a:noFill/>
          <a:ln>
            <a:noFill/>
          </a:ln>
        </p:spPr>
        <p:txBody>
          <a:bodyPr wrap="square">
            <a:spAutoFit/>
          </a:bodyPr>
          <a:lstStyle/>
          <a:p>
            <a:pPr algn="l"/>
            <a:r>
              <a:rPr sz="1000" b="1" i="0">
                <a:solidFill>
                  <a:srgbClr val="1E293B"/>
                </a:solidFill>
                <a:latin typeface="Calibri"/>
              </a:rPr>
              <a:t>Notebook 01</a:t>
            </a:r>
          </a:p>
        </p:txBody>
      </p:sp>
      <p:sp>
        <p:nvSpPr>
          <p:cNvPr id="14" name="TextBox 13"/>
          <p:cNvSpPr txBox="1"/>
          <p:nvPr/>
        </p:nvSpPr>
        <p:spPr>
          <a:xfrm>
            <a:off x="1709928" y="1207008"/>
            <a:ext cx="2606040" cy="384048"/>
          </a:xfrm>
          <a:prstGeom prst="rect">
            <a:avLst/>
          </a:prstGeom>
          <a:noFill/>
          <a:ln>
            <a:noFill/>
          </a:ln>
        </p:spPr>
        <p:txBody>
          <a:bodyPr wrap="square">
            <a:spAutoFit/>
          </a:bodyPr>
          <a:lstStyle/>
          <a:p>
            <a:pPr algn="l"/>
            <a:r>
              <a:rPr sz="950" b="0" i="0">
                <a:solidFill>
                  <a:srgbClr val="475569"/>
                </a:solidFill>
                <a:latin typeface="Calibri"/>
              </a:rPr>
              <a:t>Python scraping — AutoScout24 acquisition</a:t>
            </a:r>
          </a:p>
        </p:txBody>
      </p:sp>
      <p:sp>
        <p:nvSpPr>
          <p:cNvPr id="15" name="Rectangle 14"/>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591056"/>
            <a:ext cx="3840480" cy="384048"/>
          </a:xfrm>
          <a:prstGeom prst="rect">
            <a:avLst/>
          </a:prstGeom>
          <a:noFill/>
          <a:ln>
            <a:noFill/>
          </a:ln>
        </p:spPr>
        <p:txBody>
          <a:bodyPr wrap="square">
            <a:spAutoFit/>
          </a:bodyPr>
          <a:lstStyle/>
          <a:p>
            <a:pPr algn="l"/>
            <a:r>
              <a:rPr sz="1000" b="1" i="0">
                <a:solidFill>
                  <a:srgbClr val="1E293B"/>
                </a:solidFill>
                <a:latin typeface="Calibri"/>
              </a:rPr>
              <a:t>Notebook 02</a:t>
            </a:r>
          </a:p>
        </p:txBody>
      </p:sp>
      <p:sp>
        <p:nvSpPr>
          <p:cNvPr id="17" name="TextBox 16"/>
          <p:cNvSpPr txBox="1"/>
          <p:nvPr/>
        </p:nvSpPr>
        <p:spPr>
          <a:xfrm>
            <a:off x="1709928" y="1591056"/>
            <a:ext cx="2606040" cy="384048"/>
          </a:xfrm>
          <a:prstGeom prst="rect">
            <a:avLst/>
          </a:prstGeom>
          <a:noFill/>
          <a:ln>
            <a:noFill/>
          </a:ln>
        </p:spPr>
        <p:txBody>
          <a:bodyPr wrap="square">
            <a:spAutoFit/>
          </a:bodyPr>
          <a:lstStyle/>
          <a:p>
            <a:pPr algn="l"/>
            <a:r>
              <a:rPr sz="950" b="0" i="0">
                <a:solidFill>
                  <a:srgbClr val="475569"/>
                </a:solidFill>
                <a:latin typeface="Calibri"/>
              </a:rPr>
              <a:t>Preprocessing logic — cleaning and flagging</a:t>
            </a:r>
          </a:p>
        </p:txBody>
      </p:sp>
      <p:sp>
        <p:nvSpPr>
          <p:cNvPr id="18" name="Rectangle 17"/>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1975104"/>
            <a:ext cx="3840480" cy="384048"/>
          </a:xfrm>
          <a:prstGeom prst="rect">
            <a:avLst/>
          </a:prstGeom>
          <a:noFill/>
          <a:ln>
            <a:noFill/>
          </a:ln>
        </p:spPr>
        <p:txBody>
          <a:bodyPr wrap="square">
            <a:spAutoFit/>
          </a:bodyPr>
          <a:lstStyle/>
          <a:p>
            <a:pPr algn="l"/>
            <a:r>
              <a:rPr sz="1000" b="1" i="0">
                <a:solidFill>
                  <a:srgbClr val="1E293B"/>
                </a:solidFill>
                <a:latin typeface="Calibri"/>
              </a:rPr>
              <a:t>Notebook 03</a:t>
            </a:r>
          </a:p>
        </p:txBody>
      </p:sp>
      <p:sp>
        <p:nvSpPr>
          <p:cNvPr id="20" name="TextBox 19"/>
          <p:cNvSpPr txBox="1"/>
          <p:nvPr/>
        </p:nvSpPr>
        <p:spPr>
          <a:xfrm>
            <a:off x="1709928" y="1975104"/>
            <a:ext cx="2606040" cy="384048"/>
          </a:xfrm>
          <a:prstGeom prst="rect">
            <a:avLst/>
          </a:prstGeom>
          <a:noFill/>
          <a:ln>
            <a:noFill/>
          </a:ln>
        </p:spPr>
        <p:txBody>
          <a:bodyPr wrap="square">
            <a:spAutoFit/>
          </a:bodyPr>
          <a:lstStyle/>
          <a:p>
            <a:pPr algn="l"/>
            <a:r>
              <a:rPr sz="950" b="0" i="0">
                <a:solidFill>
                  <a:srgbClr val="475569"/>
                </a:solidFill>
                <a:latin typeface="Calibri"/>
              </a:rPr>
              <a:t>SQL and warehouse — BigQuery contracts</a:t>
            </a:r>
          </a:p>
        </p:txBody>
      </p:sp>
      <p:sp>
        <p:nvSpPr>
          <p:cNvPr id="21" name="Rectangle 20"/>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359152"/>
            <a:ext cx="3840480" cy="384048"/>
          </a:xfrm>
          <a:prstGeom prst="rect">
            <a:avLst/>
          </a:prstGeom>
          <a:noFill/>
          <a:ln>
            <a:noFill/>
          </a:ln>
        </p:spPr>
        <p:txBody>
          <a:bodyPr wrap="square">
            <a:spAutoFit/>
          </a:bodyPr>
          <a:lstStyle/>
          <a:p>
            <a:pPr algn="l"/>
            <a:r>
              <a:rPr sz="1000" b="1" i="0">
                <a:solidFill>
                  <a:srgbClr val="1E293B"/>
                </a:solidFill>
                <a:latin typeface="Calibri"/>
              </a:rPr>
              <a:t>Notebook 04</a:t>
            </a:r>
          </a:p>
        </p:txBody>
      </p:sp>
      <p:sp>
        <p:nvSpPr>
          <p:cNvPr id="23" name="TextBox 22"/>
          <p:cNvSpPr txBox="1"/>
          <p:nvPr/>
        </p:nvSpPr>
        <p:spPr>
          <a:xfrm>
            <a:off x="1709928" y="2359152"/>
            <a:ext cx="2606040" cy="384048"/>
          </a:xfrm>
          <a:prstGeom prst="rect">
            <a:avLst/>
          </a:prstGeom>
          <a:noFill/>
          <a:ln>
            <a:noFill/>
          </a:ln>
        </p:spPr>
        <p:txBody>
          <a:bodyPr wrap="square">
            <a:spAutoFit/>
          </a:bodyPr>
          <a:lstStyle/>
          <a:p>
            <a:pPr algn="l"/>
            <a:r>
              <a:rPr sz="950" b="0" i="0">
                <a:solidFill>
                  <a:srgbClr val="475569"/>
                </a:solidFill>
                <a:latin typeface="Calibri"/>
              </a:rPr>
              <a:t>Regression model — expected price</a:t>
            </a:r>
          </a:p>
        </p:txBody>
      </p:sp>
      <p:sp>
        <p:nvSpPr>
          <p:cNvPr id="24" name="Rectangle 23"/>
          <p:cNvSpPr/>
          <p:nvPr/>
        </p:nvSpPr>
        <p:spPr>
          <a:xfrm>
            <a:off x="429768" y="2743200"/>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743200"/>
            <a:ext cx="3840480" cy="384048"/>
          </a:xfrm>
          <a:prstGeom prst="rect">
            <a:avLst/>
          </a:prstGeom>
          <a:noFill/>
          <a:ln>
            <a:noFill/>
          </a:ln>
        </p:spPr>
        <p:txBody>
          <a:bodyPr wrap="square">
            <a:spAutoFit/>
          </a:bodyPr>
          <a:lstStyle/>
          <a:p>
            <a:pPr algn="l"/>
            <a:r>
              <a:rPr sz="1000" b="1" i="0">
                <a:solidFill>
                  <a:srgbClr val="1E293B"/>
                </a:solidFill>
                <a:latin typeface="Calibri"/>
              </a:rPr>
              <a:t>Notebook 05</a:t>
            </a:r>
          </a:p>
        </p:txBody>
      </p:sp>
      <p:sp>
        <p:nvSpPr>
          <p:cNvPr id="26" name="TextBox 25"/>
          <p:cNvSpPr txBox="1"/>
          <p:nvPr/>
        </p:nvSpPr>
        <p:spPr>
          <a:xfrm>
            <a:off x="1709928" y="2743200"/>
            <a:ext cx="2606040" cy="384048"/>
          </a:xfrm>
          <a:prstGeom prst="rect">
            <a:avLst/>
          </a:prstGeom>
          <a:noFill/>
          <a:ln>
            <a:noFill/>
          </a:ln>
        </p:spPr>
        <p:txBody>
          <a:bodyPr wrap="square">
            <a:spAutoFit/>
          </a:bodyPr>
          <a:lstStyle/>
          <a:p>
            <a:pPr algn="l"/>
            <a:r>
              <a:rPr sz="950" b="0" i="0">
                <a:solidFill>
                  <a:srgbClr val="475569"/>
                </a:solidFill>
                <a:latin typeface="Calibri"/>
              </a:rPr>
              <a:t>Classification model — top-price signal</a:t>
            </a:r>
          </a:p>
        </p:txBody>
      </p:sp>
      <p:sp>
        <p:nvSpPr>
          <p:cNvPr id="27" name="Rectangle 26"/>
          <p:cNvSpPr/>
          <p:nvPr/>
        </p:nvSpPr>
        <p:spPr>
          <a:xfrm>
            <a:off x="4544568" y="1207008"/>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1207008"/>
            <a:ext cx="3840480" cy="320040"/>
          </a:xfrm>
          <a:prstGeom prst="rect">
            <a:avLst/>
          </a:prstGeom>
          <a:noFill/>
          <a:ln>
            <a:noFill/>
          </a:ln>
        </p:spPr>
        <p:txBody>
          <a:bodyPr wrap="square">
            <a:spAutoFit/>
          </a:bodyPr>
          <a:lstStyle/>
          <a:p>
            <a:pPr algn="l"/>
            <a:r>
              <a:rPr sz="950" b="1" i="0">
                <a:solidFill>
                  <a:srgbClr val="1E293B"/>
                </a:solidFill>
                <a:latin typeface="Calibri"/>
              </a:rPr>
              <a:t>Governed scope</a:t>
            </a:r>
          </a:p>
        </p:txBody>
      </p:sp>
      <p:sp>
        <p:nvSpPr>
          <p:cNvPr id="29" name="TextBox 28"/>
          <p:cNvSpPr txBox="1"/>
          <p:nvPr/>
        </p:nvSpPr>
        <p:spPr>
          <a:xfrm>
            <a:off x="6007608" y="1207008"/>
            <a:ext cx="2423160" cy="320040"/>
          </a:xfrm>
          <a:prstGeom prst="rect">
            <a:avLst/>
          </a:prstGeom>
          <a:noFill/>
          <a:ln>
            <a:noFill/>
          </a:ln>
        </p:spPr>
        <p:txBody>
          <a:bodyPr wrap="square">
            <a:spAutoFit/>
          </a:bodyPr>
          <a:lstStyle/>
          <a:p>
            <a:pPr algn="l"/>
            <a:r>
              <a:rPr sz="900" b="0" i="0">
                <a:solidFill>
                  <a:srgbClr val="475569"/>
                </a:solidFill>
                <a:latin typeface="Calibri"/>
              </a:rPr>
              <a:t>Acquisition bounded by config</a:t>
            </a:r>
          </a:p>
        </p:txBody>
      </p:sp>
      <p:sp>
        <p:nvSpPr>
          <p:cNvPr id="30" name="Rectangle 29"/>
          <p:cNvSpPr/>
          <p:nvPr/>
        </p:nvSpPr>
        <p:spPr>
          <a:xfrm>
            <a:off x="4544568" y="1527048"/>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1527048"/>
            <a:ext cx="3840480" cy="320040"/>
          </a:xfrm>
          <a:prstGeom prst="rect">
            <a:avLst/>
          </a:prstGeom>
          <a:noFill/>
          <a:ln>
            <a:noFill/>
          </a:ln>
        </p:spPr>
        <p:txBody>
          <a:bodyPr wrap="square">
            <a:spAutoFit/>
          </a:bodyPr>
          <a:lstStyle/>
          <a:p>
            <a:pPr algn="l"/>
            <a:r>
              <a:rPr sz="950" b="1" i="0">
                <a:solidFill>
                  <a:srgbClr val="1E293B"/>
                </a:solidFill>
                <a:latin typeface="Calibri"/>
              </a:rPr>
              <a:t>Immutable raw layer</a:t>
            </a:r>
          </a:p>
        </p:txBody>
      </p:sp>
      <p:sp>
        <p:nvSpPr>
          <p:cNvPr id="32" name="TextBox 31"/>
          <p:cNvSpPr txBox="1"/>
          <p:nvPr/>
        </p:nvSpPr>
        <p:spPr>
          <a:xfrm>
            <a:off x="6007608" y="1527048"/>
            <a:ext cx="2423160" cy="320040"/>
          </a:xfrm>
          <a:prstGeom prst="rect">
            <a:avLst/>
          </a:prstGeom>
          <a:noFill/>
          <a:ln>
            <a:noFill/>
          </a:ln>
        </p:spPr>
        <p:txBody>
          <a:bodyPr wrap="square">
            <a:spAutoFit/>
          </a:bodyPr>
          <a:lstStyle/>
          <a:p>
            <a:pPr algn="l"/>
            <a:r>
              <a:rPr sz="900" b="0" i="0">
                <a:solidFill>
                  <a:srgbClr val="475569"/>
                </a:solidFill>
                <a:latin typeface="Calibri"/>
              </a:rPr>
              <a:t>Evidence that cannot be overwritten</a:t>
            </a:r>
          </a:p>
        </p:txBody>
      </p:sp>
      <p:sp>
        <p:nvSpPr>
          <p:cNvPr id="33" name="Rectangle 32"/>
          <p:cNvSpPr/>
          <p:nvPr/>
        </p:nvSpPr>
        <p:spPr>
          <a:xfrm>
            <a:off x="4544568" y="1847088"/>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7720" y="1847088"/>
            <a:ext cx="3840480" cy="320040"/>
          </a:xfrm>
          <a:prstGeom prst="rect">
            <a:avLst/>
          </a:prstGeom>
          <a:noFill/>
          <a:ln>
            <a:noFill/>
          </a:ln>
        </p:spPr>
        <p:txBody>
          <a:bodyPr wrap="square">
            <a:spAutoFit/>
          </a:bodyPr>
          <a:lstStyle/>
          <a:p>
            <a:pPr algn="l"/>
            <a:r>
              <a:rPr sz="950" b="1" i="0">
                <a:solidFill>
                  <a:srgbClr val="1E293B"/>
                </a:solidFill>
                <a:latin typeface="Calibri"/>
              </a:rPr>
              <a:t>Warehouse as source of truth</a:t>
            </a:r>
          </a:p>
        </p:txBody>
      </p:sp>
      <p:sp>
        <p:nvSpPr>
          <p:cNvPr id="35" name="TextBox 34"/>
          <p:cNvSpPr txBox="1"/>
          <p:nvPr/>
        </p:nvSpPr>
        <p:spPr>
          <a:xfrm>
            <a:off x="6007608" y="1847088"/>
            <a:ext cx="2423160" cy="320040"/>
          </a:xfrm>
          <a:prstGeom prst="rect">
            <a:avLst/>
          </a:prstGeom>
          <a:noFill/>
          <a:ln>
            <a:noFill/>
          </a:ln>
        </p:spPr>
        <p:txBody>
          <a:bodyPr wrap="square">
            <a:spAutoFit/>
          </a:bodyPr>
          <a:lstStyle/>
          <a:p>
            <a:pPr algn="l"/>
            <a:r>
              <a:rPr sz="900" b="0" i="0">
                <a:solidFill>
                  <a:srgbClr val="475569"/>
                </a:solidFill>
                <a:latin typeface="Calibri"/>
              </a:rPr>
              <a:t>BigQuery as the governed system</a:t>
            </a:r>
          </a:p>
        </p:txBody>
      </p:sp>
      <p:sp>
        <p:nvSpPr>
          <p:cNvPr id="36" name="Rectangle 35"/>
          <p:cNvSpPr/>
          <p:nvPr/>
        </p:nvSpPr>
        <p:spPr>
          <a:xfrm>
            <a:off x="4544568" y="2167128"/>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2167128"/>
            <a:ext cx="3840480" cy="320040"/>
          </a:xfrm>
          <a:prstGeom prst="rect">
            <a:avLst/>
          </a:prstGeom>
          <a:noFill/>
          <a:ln>
            <a:noFill/>
          </a:ln>
        </p:spPr>
        <p:txBody>
          <a:bodyPr wrap="square">
            <a:spAutoFit/>
          </a:bodyPr>
          <a:lstStyle/>
          <a:p>
            <a:pPr algn="l"/>
            <a:r>
              <a:rPr sz="950" b="1" i="0">
                <a:solidFill>
                  <a:srgbClr val="1E293B"/>
                </a:solidFill>
                <a:latin typeface="Calibri"/>
              </a:rPr>
              <a:t>SQL as analytical contracts</a:t>
            </a:r>
          </a:p>
        </p:txBody>
      </p:sp>
      <p:sp>
        <p:nvSpPr>
          <p:cNvPr id="38" name="TextBox 37"/>
          <p:cNvSpPr txBox="1"/>
          <p:nvPr/>
        </p:nvSpPr>
        <p:spPr>
          <a:xfrm>
            <a:off x="6007608" y="2167128"/>
            <a:ext cx="2423160" cy="320040"/>
          </a:xfrm>
          <a:prstGeom prst="rect">
            <a:avLst/>
          </a:prstGeom>
          <a:noFill/>
          <a:ln>
            <a:noFill/>
          </a:ln>
        </p:spPr>
        <p:txBody>
          <a:bodyPr wrap="square">
            <a:spAutoFit/>
          </a:bodyPr>
          <a:lstStyle/>
          <a:p>
            <a:pPr algn="l"/>
            <a:r>
              <a:rPr sz="900" b="0" i="0">
                <a:solidFill>
                  <a:srgbClr val="475569"/>
                </a:solidFill>
                <a:latin typeface="Calibri"/>
              </a:rPr>
              <a:t>Views that define model inputs</a:t>
            </a:r>
          </a:p>
        </p:txBody>
      </p:sp>
      <p:sp>
        <p:nvSpPr>
          <p:cNvPr id="39" name="Rectangle 38"/>
          <p:cNvSpPr/>
          <p:nvPr/>
        </p:nvSpPr>
        <p:spPr>
          <a:xfrm>
            <a:off x="4544568" y="2487168"/>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2487168"/>
            <a:ext cx="3840480" cy="320040"/>
          </a:xfrm>
          <a:prstGeom prst="rect">
            <a:avLst/>
          </a:prstGeom>
          <a:noFill/>
          <a:ln>
            <a:noFill/>
          </a:ln>
        </p:spPr>
        <p:txBody>
          <a:bodyPr wrap="square">
            <a:spAutoFit/>
          </a:bodyPr>
          <a:lstStyle/>
          <a:p>
            <a:pPr algn="l"/>
            <a:r>
              <a:rPr sz="950" b="1" i="0">
                <a:solidFill>
                  <a:srgbClr val="1E293B"/>
                </a:solidFill>
                <a:latin typeface="Calibri"/>
              </a:rPr>
              <a:t>ML outputs as persisted signals</a:t>
            </a:r>
          </a:p>
        </p:txBody>
      </p:sp>
      <p:sp>
        <p:nvSpPr>
          <p:cNvPr id="41" name="TextBox 40"/>
          <p:cNvSpPr txBox="1"/>
          <p:nvPr/>
        </p:nvSpPr>
        <p:spPr>
          <a:xfrm>
            <a:off x="6007608" y="2487168"/>
            <a:ext cx="2423160" cy="320040"/>
          </a:xfrm>
          <a:prstGeom prst="rect">
            <a:avLst/>
          </a:prstGeom>
          <a:noFill/>
          <a:ln>
            <a:noFill/>
          </a:ln>
        </p:spPr>
        <p:txBody>
          <a:bodyPr wrap="square">
            <a:spAutoFit/>
          </a:bodyPr>
          <a:lstStyle/>
          <a:p>
            <a:pPr algn="l"/>
            <a:r>
              <a:rPr sz="900" b="0" i="0">
                <a:solidFill>
                  <a:srgbClr val="475569"/>
                </a:solidFill>
                <a:latin typeface="Calibri"/>
              </a:rPr>
              <a:t>fact tables queryable by BI</a:t>
            </a:r>
          </a:p>
        </p:txBody>
      </p:sp>
      <p:sp>
        <p:nvSpPr>
          <p:cNvPr id="42" name="Rectangle 41"/>
          <p:cNvSpPr/>
          <p:nvPr/>
        </p:nvSpPr>
        <p:spPr>
          <a:xfrm>
            <a:off x="4544568" y="2807208"/>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17720" y="2807208"/>
            <a:ext cx="3840480" cy="320040"/>
          </a:xfrm>
          <a:prstGeom prst="rect">
            <a:avLst/>
          </a:prstGeom>
          <a:noFill/>
          <a:ln>
            <a:noFill/>
          </a:ln>
        </p:spPr>
        <p:txBody>
          <a:bodyPr wrap="square">
            <a:spAutoFit/>
          </a:bodyPr>
          <a:lstStyle/>
          <a:p>
            <a:pPr algn="l"/>
            <a:r>
              <a:rPr sz="950" b="1" i="0">
                <a:solidFill>
                  <a:srgbClr val="1E293B"/>
                </a:solidFill>
                <a:latin typeface="Calibri"/>
              </a:rPr>
              <a:t>Decision interface</a:t>
            </a:r>
          </a:p>
        </p:txBody>
      </p:sp>
      <p:sp>
        <p:nvSpPr>
          <p:cNvPr id="44" name="TextBox 43"/>
          <p:cNvSpPr txBox="1"/>
          <p:nvPr/>
        </p:nvSpPr>
        <p:spPr>
          <a:xfrm>
            <a:off x="6007608" y="2807208"/>
            <a:ext cx="2423160" cy="320040"/>
          </a:xfrm>
          <a:prstGeom prst="rect">
            <a:avLst/>
          </a:prstGeom>
          <a:noFill/>
          <a:ln>
            <a:noFill/>
          </a:ln>
        </p:spPr>
        <p:txBody>
          <a:bodyPr wrap="square">
            <a:spAutoFit/>
          </a:bodyPr>
          <a:lstStyle/>
          <a:p>
            <a:pPr algn="l"/>
            <a:r>
              <a:rPr sz="900" b="0" i="0">
                <a:solidFill>
                  <a:srgbClr val="475569"/>
                </a:solidFill>
                <a:latin typeface="Calibri"/>
              </a:rPr>
              <a:t>Streamlit backed by BigQuery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business question has not changed</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A stable architecture lets one business question survive many technical layers.</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The case</a:t>
            </a:r>
          </a:p>
        </p:txBody>
      </p:sp>
      <p:sp>
        <p:nvSpPr>
          <p:cNvPr id="10" name="TextBox 9"/>
          <p:cNvSpPr txBox="1"/>
          <p:nvPr/>
        </p:nvSpPr>
        <p:spPr>
          <a:xfrm>
            <a:off x="429768" y="1261872"/>
            <a:ext cx="3931920" cy="594360"/>
          </a:xfrm>
          <a:prstGeom prst="rect">
            <a:avLst/>
          </a:prstGeom>
          <a:noFill/>
          <a:ln>
            <a:noFill/>
          </a:ln>
        </p:spPr>
        <p:txBody>
          <a:bodyPr wrap="square">
            <a:spAutoFit/>
          </a:bodyPr>
          <a:lstStyle/>
          <a:p>
            <a:pPr algn="l"/>
            <a:r>
              <a:rPr sz="1000" b="0" i="0">
                <a:solidFill>
                  <a:srgbClr val="475569"/>
                </a:solidFill>
                <a:latin typeface="Calibri"/>
              </a:rPr>
              <a:t>A retail and consumer bank wants to evaluate used-vehicle acquisition opportunities for resale and financing portfolios.</a:t>
            </a:r>
          </a:p>
        </p:txBody>
      </p:sp>
      <p:sp>
        <p:nvSpPr>
          <p:cNvPr id="11" name="Rectangle 10"/>
          <p:cNvSpPr/>
          <p:nvPr/>
        </p:nvSpPr>
        <p:spPr>
          <a:xfrm>
            <a:off x="429768" y="1901952"/>
            <a:ext cx="3931920" cy="96012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29384"/>
            <a:ext cx="3785616" cy="868680"/>
          </a:xfrm>
          <a:prstGeom prst="rect">
            <a:avLst/>
          </a:prstGeom>
          <a:noFill/>
          <a:ln>
            <a:noFill/>
          </a:ln>
        </p:spPr>
        <p:txBody>
          <a:bodyPr wrap="square">
            <a:spAutoFit/>
          </a:bodyPr>
          <a:lstStyle/>
          <a:p>
            <a:pPr algn="l"/>
            <a:r>
              <a:rPr sz="1000" b="0" i="1">
                <a:solidFill>
                  <a:srgbClr val="1E293B"/>
                </a:solidFill>
                <a:latin typeface="Calibri"/>
              </a:rPr>
              <a:t>"Which used-vehicle listings look attractive relative to comparable market conditions, and how should that opportunity set be explained to a decision-making committee?"</a:t>
            </a:r>
          </a:p>
        </p:txBody>
      </p:sp>
      <p:sp>
        <p:nvSpPr>
          <p:cNvPr id="13" name="TextBox 12"/>
          <p:cNvSpPr txBox="1"/>
          <p:nvPr/>
        </p:nvSpPr>
        <p:spPr>
          <a:xfrm>
            <a:off x="429768" y="2907792"/>
            <a:ext cx="3931920" cy="365760"/>
          </a:xfrm>
          <a:prstGeom prst="rect">
            <a:avLst/>
          </a:prstGeom>
          <a:noFill/>
          <a:ln>
            <a:noFill/>
          </a:ln>
        </p:spPr>
        <p:txBody>
          <a:bodyPr wrap="square">
            <a:spAutoFit/>
          </a:bodyPr>
          <a:lstStyle/>
          <a:p>
            <a:pPr algn="l"/>
            <a:r>
              <a:rPr sz="950" b="0" i="1">
                <a:solidFill>
                  <a:srgbClr val="475569"/>
                </a:solidFill>
                <a:latin typeface="Calibri"/>
              </a:rPr>
              <a:t>Running example: Audi A3 / Germany / AutoScout24</a:t>
            </a:r>
          </a:p>
        </p:txBody>
      </p:sp>
      <p:sp>
        <p:nvSpPr>
          <p:cNvPr id="14" name="Rectangle 13"/>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The architecture is generic</a:t>
            </a:r>
          </a:p>
        </p:txBody>
      </p:sp>
      <p:sp>
        <p:nvSpPr>
          <p:cNvPr id="16" name="TextBox 15"/>
          <p:cNvSpPr txBox="1"/>
          <p:nvPr/>
        </p:nvSpPr>
        <p:spPr>
          <a:xfrm>
            <a:off x="4544568" y="1261872"/>
            <a:ext cx="3931920" cy="365760"/>
          </a:xfrm>
          <a:prstGeom prst="rect">
            <a:avLst/>
          </a:prstGeom>
          <a:noFill/>
          <a:ln>
            <a:noFill/>
          </a:ln>
        </p:spPr>
        <p:txBody>
          <a:bodyPr wrap="square">
            <a:spAutoFit/>
          </a:bodyPr>
          <a:lstStyle/>
          <a:p>
            <a:pPr algn="l"/>
            <a:r>
              <a:rPr sz="1000" b="1" i="0">
                <a:solidFill>
                  <a:srgbClr val="1E293B"/>
                </a:solidFill>
                <a:latin typeface="Calibri"/>
              </a:rPr>
              <a:t>The same chain applies to:</a:t>
            </a:r>
          </a:p>
        </p:txBody>
      </p:sp>
      <p:sp>
        <p:nvSpPr>
          <p:cNvPr id="17" name="Rectangle 16"/>
          <p:cNvSpPr/>
          <p:nvPr/>
        </p:nvSpPr>
        <p:spPr>
          <a:xfrm>
            <a:off x="4544568" y="1682496"/>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1682496"/>
            <a:ext cx="3822192" cy="320040"/>
          </a:xfrm>
          <a:prstGeom prst="rect">
            <a:avLst/>
          </a:prstGeom>
          <a:noFill/>
          <a:ln>
            <a:noFill/>
          </a:ln>
        </p:spPr>
        <p:txBody>
          <a:bodyPr wrap="square">
            <a:spAutoFit/>
          </a:bodyPr>
          <a:lstStyle/>
          <a:p>
            <a:pPr algn="l"/>
            <a:r>
              <a:rPr sz="1000" b="0" i="0">
                <a:solidFill>
                  <a:srgbClr val="475569"/>
                </a:solidFill>
                <a:latin typeface="Calibri"/>
              </a:rPr>
              <a:t>Credit risk scoring</a:t>
            </a:r>
          </a:p>
        </p:txBody>
      </p:sp>
      <p:sp>
        <p:nvSpPr>
          <p:cNvPr id="19" name="Rectangle 18"/>
          <p:cNvSpPr/>
          <p:nvPr/>
        </p:nvSpPr>
        <p:spPr>
          <a:xfrm>
            <a:off x="4544568" y="2002536"/>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008" y="2002536"/>
            <a:ext cx="3822192" cy="320040"/>
          </a:xfrm>
          <a:prstGeom prst="rect">
            <a:avLst/>
          </a:prstGeom>
          <a:noFill/>
          <a:ln>
            <a:noFill/>
          </a:ln>
        </p:spPr>
        <p:txBody>
          <a:bodyPr wrap="square">
            <a:spAutoFit/>
          </a:bodyPr>
          <a:lstStyle/>
          <a:p>
            <a:pPr algn="l"/>
            <a:r>
              <a:rPr sz="1000" b="0" i="0">
                <a:solidFill>
                  <a:srgbClr val="475569"/>
                </a:solidFill>
                <a:latin typeface="Calibri"/>
              </a:rPr>
              <a:t>Churn prediction</a:t>
            </a:r>
          </a:p>
        </p:txBody>
      </p:sp>
      <p:sp>
        <p:nvSpPr>
          <p:cNvPr id="21" name="Rectangle 20"/>
          <p:cNvSpPr/>
          <p:nvPr/>
        </p:nvSpPr>
        <p:spPr>
          <a:xfrm>
            <a:off x="4544568" y="2322576"/>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36008" y="2322576"/>
            <a:ext cx="3822192" cy="320040"/>
          </a:xfrm>
          <a:prstGeom prst="rect">
            <a:avLst/>
          </a:prstGeom>
          <a:noFill/>
          <a:ln>
            <a:noFill/>
          </a:ln>
        </p:spPr>
        <p:txBody>
          <a:bodyPr wrap="square">
            <a:spAutoFit/>
          </a:bodyPr>
          <a:lstStyle/>
          <a:p>
            <a:pPr algn="l"/>
            <a:r>
              <a:rPr sz="1000" b="0" i="0">
                <a:solidFill>
                  <a:srgbClr val="475569"/>
                </a:solidFill>
                <a:latin typeface="Calibri"/>
              </a:rPr>
              <a:t>Fraud detection</a:t>
            </a:r>
          </a:p>
        </p:txBody>
      </p:sp>
      <p:sp>
        <p:nvSpPr>
          <p:cNvPr id="23" name="Rectangle 22"/>
          <p:cNvSpPr/>
          <p:nvPr/>
        </p:nvSpPr>
        <p:spPr>
          <a:xfrm>
            <a:off x="4544568" y="2642616"/>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8" y="2642616"/>
            <a:ext cx="3822192" cy="320040"/>
          </a:xfrm>
          <a:prstGeom prst="rect">
            <a:avLst/>
          </a:prstGeom>
          <a:noFill/>
          <a:ln>
            <a:noFill/>
          </a:ln>
        </p:spPr>
        <p:txBody>
          <a:bodyPr wrap="square">
            <a:spAutoFit/>
          </a:bodyPr>
          <a:lstStyle/>
          <a:p>
            <a:pPr algn="l"/>
            <a:r>
              <a:rPr sz="1000" b="0" i="0">
                <a:solidFill>
                  <a:srgbClr val="475569"/>
                </a:solidFill>
                <a:latin typeface="Calibri"/>
              </a:rPr>
              <a:t>Pricing optimization</a:t>
            </a:r>
          </a:p>
        </p:txBody>
      </p:sp>
      <p:sp>
        <p:nvSpPr>
          <p:cNvPr id="25" name="Rectangle 24"/>
          <p:cNvSpPr/>
          <p:nvPr/>
        </p:nvSpPr>
        <p:spPr>
          <a:xfrm>
            <a:off x="4544568" y="2962656"/>
            <a:ext cx="393192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6008" y="2962656"/>
            <a:ext cx="3822192" cy="320040"/>
          </a:xfrm>
          <a:prstGeom prst="rect">
            <a:avLst/>
          </a:prstGeom>
          <a:noFill/>
          <a:ln>
            <a:noFill/>
          </a:ln>
        </p:spPr>
        <p:txBody>
          <a:bodyPr wrap="square">
            <a:spAutoFit/>
          </a:bodyPr>
          <a:lstStyle/>
          <a:p>
            <a:pPr algn="l"/>
            <a:r>
              <a:rPr sz="1000" b="0" i="0">
                <a:solidFill>
                  <a:srgbClr val="475569"/>
                </a:solidFill>
                <a:latin typeface="Calibri"/>
              </a:rPr>
              <a:t>Operational monitoring</a:t>
            </a:r>
          </a:p>
        </p:txBody>
      </p:sp>
      <p:sp>
        <p:nvSpPr>
          <p:cNvPr id="27" name="Rectangle 26"/>
          <p:cNvSpPr/>
          <p:nvPr/>
        </p:nvSpPr>
        <p:spPr>
          <a:xfrm>
            <a:off x="4544568" y="3282696"/>
            <a:ext cx="3931920" cy="3200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3282696"/>
            <a:ext cx="3822192" cy="320040"/>
          </a:xfrm>
          <a:prstGeom prst="rect">
            <a:avLst/>
          </a:prstGeom>
          <a:noFill/>
          <a:ln>
            <a:noFill/>
          </a:ln>
        </p:spPr>
        <p:txBody>
          <a:bodyPr wrap="square">
            <a:spAutoFit/>
          </a:bodyPr>
          <a:lstStyle/>
          <a:p>
            <a:pPr algn="l"/>
            <a:r>
              <a:rPr sz="1000" b="0" i="0">
                <a:solidFill>
                  <a:srgbClr val="475569"/>
                </a:solidFill>
                <a:latin typeface="Calibri"/>
              </a:rPr>
              <a:t>Marketing attribution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generic reference architecture</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Every layer must have an upstream dependency and a downstream purpose.</a:t>
            </a:r>
          </a:p>
        </p:txBody>
      </p:sp>
      <p:graphicFrame>
        <p:nvGraphicFramePr>
          <p:cNvPr id="8" name="Table 7"/>
          <p:cNvGraphicFramePr>
            <a:graphicFrameLocks noGrp="1"/>
          </p:cNvGraphicFramePr>
          <p:nvPr/>
        </p:nvGraphicFramePr>
        <p:xfrm>
          <a:off x="429768" y="877824"/>
          <a:ext cx="7955280" cy="3566160"/>
        </p:xfrm>
        <a:graphic>
          <a:graphicData uri="http://schemas.openxmlformats.org/drawingml/2006/table">
            <a:tbl>
              <a:tblPr firstRow="1" bandRow="1">
                <a:tableStyleId>{5C22544A-7EE6-4342-B048-85BDC9FD1C3A}</a:tableStyleId>
              </a:tblPr>
              <a:tblGrid>
                <a:gridCol w="365760"/>
                <a:gridCol w="2011680"/>
                <a:gridCol w="5577840"/>
              </a:tblGrid>
              <a:tr h="324196">
                <a:tc>
                  <a:txBody>
                    <a:bodyPr wrap="square"/>
                    <a:lstStyle/>
                    <a:p>
                      <a:pPr algn="l"/>
                      <a:r>
                        <a:rPr sz="950" b="1" i="0">
                          <a:solidFill>
                            <a:srgbClr val="FFFFFF"/>
                          </a:solidFill>
                          <a:latin typeface="Calibri"/>
                        </a:rPr>
                        <a:t>Layer</a:t>
                      </a:r>
                    </a:p>
                  </a:txBody>
                  <a:tcPr>
                    <a:solidFill>
                      <a:srgbClr val="1E293B"/>
                    </a:solidFill>
                  </a:tcPr>
                </a:tc>
                <a:tc>
                  <a:txBody>
                    <a:bodyPr wrap="square"/>
                    <a:lstStyle/>
                    <a:p>
                      <a:pPr algn="l"/>
                      <a:r>
                        <a:rPr sz="950" b="1" i="0">
                          <a:solidFill>
                            <a:srgbClr val="FFFFFF"/>
                          </a:solidFill>
                          <a:latin typeface="Calibri"/>
                        </a:rPr>
                        <a:t>Name</a:t>
                      </a:r>
                    </a:p>
                  </a:txBody>
                  <a:tcPr>
                    <a:solidFill>
                      <a:srgbClr val="1E293B"/>
                    </a:solidFill>
                  </a:tcPr>
                </a:tc>
                <a:tc>
                  <a:txBody>
                    <a:bodyPr wrap="square"/>
                    <a:lstStyle/>
                    <a:p>
                      <a:pPr algn="l"/>
                      <a:r>
                        <a:rPr sz="950" b="1" i="0">
                          <a:solidFill>
                            <a:srgbClr val="FFFFFF"/>
                          </a:solidFill>
                          <a:latin typeface="Calibri"/>
                        </a:rPr>
                        <a:t>Purpose</a:t>
                      </a:r>
                    </a:p>
                  </a:txBody>
                  <a:tcPr>
                    <a:solidFill>
                      <a:srgbClr val="1E293B"/>
                    </a:solidFill>
                  </a:tcPr>
                </a:tc>
              </a:tr>
              <a:tr h="324196">
                <a:tc>
                  <a:txBody>
                    <a:bodyPr wrap="square"/>
                    <a:lstStyle/>
                    <a:p>
                      <a:pPr algn="l"/>
                      <a:r>
                        <a:rPr sz="950" b="1" i="0">
                          <a:solidFill>
                            <a:srgbClr val="1E293B"/>
                          </a:solidFill>
                          <a:latin typeface="Calibri"/>
                        </a:rPr>
                        <a:t>1</a:t>
                      </a:r>
                    </a:p>
                  </a:txBody>
                  <a:tcPr>
                    <a:solidFill>
                      <a:srgbClr val="FFFFFF"/>
                    </a:solidFill>
                  </a:tcPr>
                </a:tc>
                <a:tc>
                  <a:txBody>
                    <a:bodyPr wrap="square"/>
                    <a:lstStyle/>
                    <a:p>
                      <a:pPr algn="l"/>
                      <a:r>
                        <a:rPr sz="950" b="0" i="0">
                          <a:solidFill>
                            <a:srgbClr val="475569"/>
                          </a:solidFill>
                          <a:latin typeface="Calibri"/>
                        </a:rPr>
                        <a:t>External Source</a:t>
                      </a:r>
                    </a:p>
                  </a:txBody>
                  <a:tcPr>
                    <a:solidFill>
                      <a:srgbClr val="FFFFFF"/>
                    </a:solidFill>
                  </a:tcPr>
                </a:tc>
                <a:tc>
                  <a:txBody>
                    <a:bodyPr wrap="square"/>
                    <a:lstStyle/>
                    <a:p>
                      <a:pPr algn="l"/>
                      <a:r>
                        <a:rPr sz="950" b="0" i="0">
                          <a:solidFill>
                            <a:srgbClr val="475569"/>
                          </a:solidFill>
                          <a:latin typeface="Calibri"/>
                        </a:rPr>
                        <a:t>Observable market: listings, prices, attributes</a:t>
                      </a:r>
                    </a:p>
                  </a:txBody>
                  <a:tcPr>
                    <a:solidFill>
                      <a:srgbClr val="FFFFFF"/>
                    </a:solidFill>
                  </a:tcPr>
                </a:tc>
              </a:tr>
              <a:tr h="324196">
                <a:tc>
                  <a:txBody>
                    <a:bodyPr wrap="square"/>
                    <a:lstStyle/>
                    <a:p>
                      <a:pPr algn="l"/>
                      <a:r>
                        <a:rPr sz="950" b="1" i="0">
                          <a:solidFill>
                            <a:srgbClr val="1E293B"/>
                          </a:solidFill>
                          <a:latin typeface="Calibri"/>
                        </a:rPr>
                        <a:t>2</a:t>
                      </a:r>
                    </a:p>
                  </a:txBody>
                  <a:tcPr>
                    <a:solidFill>
                      <a:srgbClr val="F1F5F9"/>
                    </a:solidFill>
                  </a:tcPr>
                </a:tc>
                <a:tc>
                  <a:txBody>
                    <a:bodyPr wrap="square"/>
                    <a:lstStyle/>
                    <a:p>
                      <a:pPr algn="l"/>
                      <a:r>
                        <a:rPr sz="950" b="0" i="0">
                          <a:solidFill>
                            <a:srgbClr val="475569"/>
                          </a:solidFill>
                          <a:latin typeface="Calibri"/>
                        </a:rPr>
                        <a:t>Acquisition</a:t>
                      </a:r>
                    </a:p>
                  </a:txBody>
                  <a:tcPr>
                    <a:solidFill>
                      <a:srgbClr val="F1F5F9"/>
                    </a:solidFill>
                  </a:tcPr>
                </a:tc>
                <a:tc>
                  <a:txBody>
                    <a:bodyPr wrap="square"/>
                    <a:lstStyle/>
                    <a:p>
                      <a:pPr algn="l"/>
                      <a:r>
                        <a:rPr sz="950" b="0" i="0">
                          <a:solidFill>
                            <a:srgbClr val="475569"/>
                          </a:solidFill>
                          <a:latin typeface="Calibri"/>
                        </a:rPr>
                        <a:t>Scoped, reproducible capture of raw evidence</a:t>
                      </a:r>
                    </a:p>
                  </a:txBody>
                  <a:tcPr>
                    <a:solidFill>
                      <a:srgbClr val="F1F5F9"/>
                    </a:solidFill>
                  </a:tcPr>
                </a:tc>
              </a:tr>
              <a:tr h="324196">
                <a:tc>
                  <a:txBody>
                    <a:bodyPr wrap="square"/>
                    <a:lstStyle/>
                    <a:p>
                      <a:pPr algn="l"/>
                      <a:r>
                        <a:rPr sz="950" b="1" i="0">
                          <a:solidFill>
                            <a:srgbClr val="1E293B"/>
                          </a:solidFill>
                          <a:latin typeface="Calibri"/>
                        </a:rPr>
                        <a:t>3</a:t>
                      </a:r>
                    </a:p>
                  </a:txBody>
                  <a:tcPr>
                    <a:solidFill>
                      <a:srgbClr val="FFFFFF"/>
                    </a:solidFill>
                  </a:tcPr>
                </a:tc>
                <a:tc>
                  <a:txBody>
                    <a:bodyPr wrap="square"/>
                    <a:lstStyle/>
                    <a:p>
                      <a:pPr algn="l"/>
                      <a:r>
                        <a:rPr sz="950" b="0" i="0">
                          <a:solidFill>
                            <a:srgbClr val="475569"/>
                          </a:solidFill>
                          <a:latin typeface="Calibri"/>
                        </a:rPr>
                        <a:t>Raw Data Contract</a:t>
                      </a:r>
                    </a:p>
                  </a:txBody>
                  <a:tcPr>
                    <a:solidFill>
                      <a:srgbClr val="FFFFFF"/>
                    </a:solidFill>
                  </a:tcPr>
                </a:tc>
                <a:tc>
                  <a:txBody>
                    <a:bodyPr wrap="square"/>
                    <a:lstStyle/>
                    <a:p>
                      <a:pPr algn="l"/>
                      <a:r>
                        <a:rPr sz="950" b="0" i="0">
                          <a:solidFill>
                            <a:srgbClr val="475569"/>
                          </a:solidFill>
                          <a:latin typeface="Calibri"/>
                        </a:rPr>
                        <a:t>Immutable record of what was collected</a:t>
                      </a:r>
                    </a:p>
                  </a:txBody>
                  <a:tcPr>
                    <a:solidFill>
                      <a:srgbClr val="FFFFFF"/>
                    </a:solidFill>
                  </a:tcPr>
                </a:tc>
              </a:tr>
              <a:tr h="324196">
                <a:tc>
                  <a:txBody>
                    <a:bodyPr wrap="square"/>
                    <a:lstStyle/>
                    <a:p>
                      <a:pPr algn="l"/>
                      <a:r>
                        <a:rPr sz="950" b="1" i="0">
                          <a:solidFill>
                            <a:srgbClr val="1E293B"/>
                          </a:solidFill>
                          <a:latin typeface="Calibri"/>
                        </a:rPr>
                        <a:t>4</a:t>
                      </a:r>
                    </a:p>
                  </a:txBody>
                  <a:tcPr>
                    <a:solidFill>
                      <a:srgbClr val="F1F5F9"/>
                    </a:solidFill>
                  </a:tcPr>
                </a:tc>
                <a:tc>
                  <a:txBody>
                    <a:bodyPr wrap="square"/>
                    <a:lstStyle/>
                    <a:p>
                      <a:pPr algn="l"/>
                      <a:r>
                        <a:rPr sz="950" b="0" i="0">
                          <a:solidFill>
                            <a:srgbClr val="475569"/>
                          </a:solidFill>
                          <a:latin typeface="Calibri"/>
                        </a:rPr>
                        <a:t>Preprocessing Contract</a:t>
                      </a:r>
                    </a:p>
                  </a:txBody>
                  <a:tcPr>
                    <a:solidFill>
                      <a:srgbClr val="F1F5F9"/>
                    </a:solidFill>
                  </a:tcPr>
                </a:tc>
                <a:tc>
                  <a:txBody>
                    <a:bodyPr wrap="square"/>
                    <a:lstStyle/>
                    <a:p>
                      <a:pPr algn="l"/>
                      <a:r>
                        <a:rPr sz="950" b="0" i="0">
                          <a:solidFill>
                            <a:srgbClr val="475569"/>
                          </a:solidFill>
                          <a:latin typeface="Calibri"/>
                        </a:rPr>
                        <a:t>Cleaned, typed, flagged analytical asset</a:t>
                      </a:r>
                    </a:p>
                  </a:txBody>
                  <a:tcPr>
                    <a:solidFill>
                      <a:srgbClr val="F1F5F9"/>
                    </a:solidFill>
                  </a:tcPr>
                </a:tc>
              </a:tr>
              <a:tr h="324196">
                <a:tc>
                  <a:txBody>
                    <a:bodyPr wrap="square"/>
                    <a:lstStyle/>
                    <a:p>
                      <a:pPr algn="l"/>
                      <a:r>
                        <a:rPr sz="950" b="1" i="0">
                          <a:solidFill>
                            <a:srgbClr val="1E293B"/>
                          </a:solidFill>
                          <a:latin typeface="Calibri"/>
                        </a:rPr>
                        <a:t>5</a:t>
                      </a:r>
                    </a:p>
                  </a:txBody>
                  <a:tcPr>
                    <a:solidFill>
                      <a:srgbClr val="FFFFFF"/>
                    </a:solidFill>
                  </a:tcPr>
                </a:tc>
                <a:tc>
                  <a:txBody>
                    <a:bodyPr wrap="square"/>
                    <a:lstStyle/>
                    <a:p>
                      <a:pPr algn="l"/>
                      <a:r>
                        <a:rPr sz="950" b="0" i="0">
                          <a:solidFill>
                            <a:srgbClr val="475569"/>
                          </a:solidFill>
                          <a:latin typeface="Calibri"/>
                        </a:rPr>
                        <a:t>Warehouse Model</a:t>
                      </a:r>
                    </a:p>
                  </a:txBody>
                  <a:tcPr>
                    <a:solidFill>
                      <a:srgbClr val="FFFFFF"/>
                    </a:solidFill>
                  </a:tcPr>
                </a:tc>
                <a:tc>
                  <a:txBody>
                    <a:bodyPr wrap="square"/>
                    <a:lstStyle/>
                    <a:p>
                      <a:pPr algn="l"/>
                      <a:r>
                        <a:rPr sz="950" b="0" i="0">
                          <a:solidFill>
                            <a:srgbClr val="475569"/>
                          </a:solidFill>
                          <a:latin typeface="Calibri"/>
                        </a:rPr>
                        <a:t>Governed dimensional model in BigQuery</a:t>
                      </a:r>
                    </a:p>
                  </a:txBody>
                  <a:tcPr>
                    <a:solidFill>
                      <a:srgbClr val="FFFFFF"/>
                    </a:solidFill>
                  </a:tcPr>
                </a:tc>
              </a:tr>
              <a:tr h="324196">
                <a:tc>
                  <a:txBody>
                    <a:bodyPr wrap="square"/>
                    <a:lstStyle/>
                    <a:p>
                      <a:pPr algn="l"/>
                      <a:r>
                        <a:rPr sz="950" b="1" i="0">
                          <a:solidFill>
                            <a:srgbClr val="1E293B"/>
                          </a:solidFill>
                          <a:latin typeface="Calibri"/>
                        </a:rPr>
                        <a:t>6</a:t>
                      </a:r>
                    </a:p>
                  </a:txBody>
                  <a:tcPr>
                    <a:solidFill>
                      <a:srgbClr val="F1F5F9"/>
                    </a:solidFill>
                  </a:tcPr>
                </a:tc>
                <a:tc>
                  <a:txBody>
                    <a:bodyPr wrap="square"/>
                    <a:lstStyle/>
                    <a:p>
                      <a:pPr algn="l"/>
                      <a:r>
                        <a:rPr sz="950" b="0" i="0">
                          <a:solidFill>
                            <a:srgbClr val="475569"/>
                          </a:solidFill>
                          <a:latin typeface="Calibri"/>
                        </a:rPr>
                        <a:t>SQL Analytical Contracts</a:t>
                      </a:r>
                    </a:p>
                  </a:txBody>
                  <a:tcPr>
                    <a:solidFill>
                      <a:srgbClr val="F1F5F9"/>
                    </a:solidFill>
                  </a:tcPr>
                </a:tc>
                <a:tc>
                  <a:txBody>
                    <a:bodyPr wrap="square"/>
                    <a:lstStyle/>
                    <a:p>
                      <a:pPr algn="l"/>
                      <a:r>
                        <a:rPr sz="950" b="0" i="0">
                          <a:solidFill>
                            <a:srgbClr val="475569"/>
                          </a:solidFill>
                          <a:latin typeface="Calibri"/>
                        </a:rPr>
                        <a:t>Dataset definitions for ML and BI</a:t>
                      </a:r>
                    </a:p>
                  </a:txBody>
                  <a:tcPr>
                    <a:solidFill>
                      <a:srgbClr val="F1F5F9"/>
                    </a:solidFill>
                  </a:tcPr>
                </a:tc>
              </a:tr>
              <a:tr h="324196">
                <a:tc>
                  <a:txBody>
                    <a:bodyPr wrap="square"/>
                    <a:lstStyle/>
                    <a:p>
                      <a:pPr algn="l"/>
                      <a:r>
                        <a:rPr sz="950" b="1" i="0">
                          <a:solidFill>
                            <a:srgbClr val="1E293B"/>
                          </a:solidFill>
                          <a:latin typeface="Calibri"/>
                        </a:rPr>
                        <a:t>7</a:t>
                      </a:r>
                    </a:p>
                  </a:txBody>
                  <a:tcPr>
                    <a:solidFill>
                      <a:srgbClr val="FFFFFF"/>
                    </a:solidFill>
                  </a:tcPr>
                </a:tc>
                <a:tc>
                  <a:txBody>
                    <a:bodyPr wrap="square"/>
                    <a:lstStyle/>
                    <a:p>
                      <a:pPr algn="l"/>
                      <a:r>
                        <a:rPr sz="950" b="0" i="0">
                          <a:solidFill>
                            <a:srgbClr val="475569"/>
                          </a:solidFill>
                          <a:latin typeface="Calibri"/>
                        </a:rPr>
                        <a:t>Model Signals</a:t>
                      </a:r>
                    </a:p>
                  </a:txBody>
                  <a:tcPr>
                    <a:solidFill>
                      <a:srgbClr val="FFFFFF"/>
                    </a:solidFill>
                  </a:tcPr>
                </a:tc>
                <a:tc>
                  <a:txBody>
                    <a:bodyPr wrap="square"/>
                    <a:lstStyle/>
                    <a:p>
                      <a:pPr algn="l"/>
                      <a:r>
                        <a:rPr sz="950" b="0" i="0">
                          <a:solidFill>
                            <a:srgbClr val="475569"/>
                          </a:solidFill>
                          <a:latin typeface="Calibri"/>
                        </a:rPr>
                        <a:t>Persisted regression and classification outputs</a:t>
                      </a:r>
                    </a:p>
                  </a:txBody>
                  <a:tcPr>
                    <a:solidFill>
                      <a:srgbClr val="FFFFFF"/>
                    </a:solidFill>
                  </a:tcPr>
                </a:tc>
              </a:tr>
              <a:tr h="324196">
                <a:tc>
                  <a:txBody>
                    <a:bodyPr wrap="square"/>
                    <a:lstStyle/>
                    <a:p>
                      <a:pPr algn="l"/>
                      <a:r>
                        <a:rPr sz="950" b="1" i="0">
                          <a:solidFill>
                            <a:srgbClr val="1E293B"/>
                          </a:solidFill>
                          <a:latin typeface="Calibri"/>
                        </a:rPr>
                        <a:t>8</a:t>
                      </a:r>
                    </a:p>
                  </a:txBody>
                  <a:tcPr>
                    <a:solidFill>
                      <a:srgbClr val="F1F5F9"/>
                    </a:solidFill>
                  </a:tcPr>
                </a:tc>
                <a:tc>
                  <a:txBody>
                    <a:bodyPr wrap="square"/>
                    <a:lstStyle/>
                    <a:p>
                      <a:pPr algn="l"/>
                      <a:r>
                        <a:rPr sz="950" b="0" i="0">
                          <a:solidFill>
                            <a:srgbClr val="475569"/>
                          </a:solidFill>
                          <a:latin typeface="Calibri"/>
                        </a:rPr>
                        <a:t>Semantic / BI View</a:t>
                      </a:r>
                    </a:p>
                  </a:txBody>
                  <a:tcPr>
                    <a:solidFill>
                      <a:srgbClr val="F1F5F9"/>
                    </a:solidFill>
                  </a:tcPr>
                </a:tc>
                <a:tc>
                  <a:txBody>
                    <a:bodyPr wrap="square"/>
                    <a:lstStyle/>
                    <a:p>
                      <a:pPr algn="l"/>
                      <a:r>
                        <a:rPr sz="950" b="0" i="0">
                          <a:solidFill>
                            <a:srgbClr val="475569"/>
                          </a:solidFill>
                          <a:latin typeface="Calibri"/>
                        </a:rPr>
                        <a:t>Decision-ready combined view</a:t>
                      </a:r>
                    </a:p>
                  </a:txBody>
                  <a:tcPr>
                    <a:solidFill>
                      <a:srgbClr val="F1F5F9"/>
                    </a:solidFill>
                  </a:tcPr>
                </a:tc>
              </a:tr>
              <a:tr h="324196">
                <a:tc>
                  <a:txBody>
                    <a:bodyPr wrap="square"/>
                    <a:lstStyle/>
                    <a:p>
                      <a:pPr algn="l"/>
                      <a:r>
                        <a:rPr sz="950" b="1" i="0">
                          <a:solidFill>
                            <a:srgbClr val="1E293B"/>
                          </a:solidFill>
                          <a:latin typeface="Calibri"/>
                        </a:rPr>
                        <a:t>9</a:t>
                      </a:r>
                    </a:p>
                  </a:txBody>
                  <a:tcPr>
                    <a:solidFill>
                      <a:srgbClr val="FFFFFF"/>
                    </a:solidFill>
                  </a:tcPr>
                </a:tc>
                <a:tc>
                  <a:txBody>
                    <a:bodyPr wrap="square"/>
                    <a:lstStyle/>
                    <a:p>
                      <a:pPr algn="l"/>
                      <a:r>
                        <a:rPr sz="950" b="0" i="0">
                          <a:solidFill>
                            <a:srgbClr val="475569"/>
                          </a:solidFill>
                          <a:latin typeface="Calibri"/>
                        </a:rPr>
                        <a:t>Decision Application</a:t>
                      </a:r>
                    </a:p>
                  </a:txBody>
                  <a:tcPr>
                    <a:solidFill>
                      <a:srgbClr val="FFFFFF"/>
                    </a:solidFill>
                  </a:tcPr>
                </a:tc>
                <a:tc>
                  <a:txBody>
                    <a:bodyPr wrap="square"/>
                    <a:lstStyle/>
                    <a:p>
                      <a:pPr algn="l"/>
                      <a:r>
                        <a:rPr sz="950" b="0" i="0">
                          <a:solidFill>
                            <a:srgbClr val="475569"/>
                          </a:solidFill>
                          <a:latin typeface="Calibri"/>
                        </a:rPr>
                        <a:t>Streamlit interface for committee use</a:t>
                      </a:r>
                    </a:p>
                  </a:txBody>
                  <a:tcPr>
                    <a:solidFill>
                      <a:srgbClr val="FFFFFF"/>
                    </a:solidFill>
                  </a:tcPr>
                </a:tc>
              </a:tr>
              <a:tr h="324200">
                <a:tc>
                  <a:txBody>
                    <a:bodyPr wrap="square"/>
                    <a:lstStyle/>
                    <a:p>
                      <a:pPr algn="l"/>
                      <a:r>
                        <a:rPr sz="950" b="1" i="0">
                          <a:solidFill>
                            <a:srgbClr val="1E293B"/>
                          </a:solidFill>
                          <a:latin typeface="Calibri"/>
                        </a:rPr>
                        <a:t>10</a:t>
                      </a:r>
                    </a:p>
                  </a:txBody>
                  <a:tcPr>
                    <a:solidFill>
                      <a:srgbClr val="F1F5F9"/>
                    </a:solidFill>
                  </a:tcPr>
                </a:tc>
                <a:tc>
                  <a:txBody>
                    <a:bodyPr wrap="square"/>
                    <a:lstStyle/>
                    <a:p>
                      <a:pPr algn="l"/>
                      <a:r>
                        <a:rPr sz="950" b="0" i="0">
                          <a:solidFill>
                            <a:srgbClr val="475569"/>
                          </a:solidFill>
                          <a:latin typeface="Calibri"/>
                        </a:rPr>
                        <a:t>Human Decision</a:t>
                      </a:r>
                    </a:p>
                  </a:txBody>
                  <a:tcPr>
                    <a:solidFill>
                      <a:srgbClr val="F1F5F9"/>
                    </a:solidFill>
                  </a:tcPr>
                </a:tc>
                <a:tc>
                  <a:txBody>
                    <a:bodyPr wrap="square"/>
                    <a:lstStyle/>
                    <a:p>
                      <a:pPr algn="l"/>
                      <a:r>
                        <a:rPr sz="950" b="0" i="0">
                          <a:solidFill>
                            <a:srgbClr val="475569"/>
                          </a:solidFill>
                          <a:latin typeface="Calibri"/>
                        </a:rPr>
                        <a:t>The committee acts on governed evidence</a:t>
                      </a:r>
                    </a:p>
                  </a:txBody>
                  <a:tcPr>
                    <a:solidFill>
                      <a:srgbClr val="F1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architecture is a chain of contracts</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Professional data products fail when implicit assumptions cross layer boundaries.</a:t>
            </a:r>
          </a:p>
        </p:txBody>
      </p:sp>
      <p:sp>
        <p:nvSpPr>
          <p:cNvPr id="8" name="Rectangle 7"/>
          <p:cNvSpPr/>
          <p:nvPr/>
        </p:nvSpPr>
        <p:spPr>
          <a:xfrm>
            <a:off x="429768"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Raw contract</a:t>
            </a:r>
          </a:p>
        </p:txBody>
      </p:sp>
      <p:sp>
        <p:nvSpPr>
          <p:cNvPr id="10" name="Rectangle 9"/>
          <p:cNvSpPr/>
          <p:nvPr/>
        </p:nvSpPr>
        <p:spPr>
          <a:xfrm>
            <a:off x="1472184"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36776"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36776"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Cleaned dataset
contract</a:t>
            </a:r>
          </a:p>
        </p:txBody>
      </p:sp>
      <p:sp>
        <p:nvSpPr>
          <p:cNvPr id="13" name="Rectangle 12"/>
          <p:cNvSpPr/>
          <p:nvPr/>
        </p:nvSpPr>
        <p:spPr>
          <a:xfrm>
            <a:off x="2679192"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43784"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43784"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Warehouse
contract</a:t>
            </a:r>
          </a:p>
        </p:txBody>
      </p:sp>
      <p:sp>
        <p:nvSpPr>
          <p:cNvPr id="16" name="Rectangle 15"/>
          <p:cNvSpPr/>
          <p:nvPr/>
        </p:nvSpPr>
        <p:spPr>
          <a:xfrm>
            <a:off x="3886200"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50792"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50792"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SQL contract</a:t>
            </a:r>
          </a:p>
        </p:txBody>
      </p:sp>
      <p:sp>
        <p:nvSpPr>
          <p:cNvPr id="19" name="Rectangle 18"/>
          <p:cNvSpPr/>
          <p:nvPr/>
        </p:nvSpPr>
        <p:spPr>
          <a:xfrm>
            <a:off x="5093208"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57800"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Model output
contract</a:t>
            </a:r>
          </a:p>
        </p:txBody>
      </p:sp>
      <p:sp>
        <p:nvSpPr>
          <p:cNvPr id="22" name="Rectangle 21"/>
          <p:cNvSpPr/>
          <p:nvPr/>
        </p:nvSpPr>
        <p:spPr>
          <a:xfrm>
            <a:off x="6300216"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64808"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4808"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Semantic
contract</a:t>
            </a:r>
          </a:p>
        </p:txBody>
      </p:sp>
      <p:sp>
        <p:nvSpPr>
          <p:cNvPr id="25" name="Rectangle 24"/>
          <p:cNvSpPr/>
          <p:nvPr/>
        </p:nvSpPr>
        <p:spPr>
          <a:xfrm>
            <a:off x="7507224" y="126187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71816" y="969264"/>
            <a:ext cx="1042416"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71816" y="969264"/>
            <a:ext cx="1042416" cy="640080"/>
          </a:xfrm>
          <a:prstGeom prst="rect">
            <a:avLst/>
          </a:prstGeom>
          <a:noFill/>
          <a:ln>
            <a:noFill/>
          </a:ln>
        </p:spPr>
        <p:txBody>
          <a:bodyPr wrap="square">
            <a:spAutoFit/>
          </a:bodyPr>
          <a:lstStyle/>
          <a:p>
            <a:pPr algn="ctr">
              <a:spcBef>
                <a:spcPts val="400"/>
              </a:spcBef>
            </a:pPr>
            <a:r>
              <a:rPr sz="850" b="1" i="0">
                <a:solidFill>
                  <a:srgbClr val="FFFFFF"/>
                </a:solidFill>
                <a:latin typeface="Calibri"/>
              </a:rPr>
              <a:t>Decision interface
contract</a:t>
            </a:r>
          </a:p>
        </p:txBody>
      </p:sp>
      <p:sp>
        <p:nvSpPr>
          <p:cNvPr id="28" name="Rectangle 27"/>
          <p:cNvSpPr/>
          <p:nvPr/>
        </p:nvSpPr>
        <p:spPr>
          <a:xfrm>
            <a:off x="429768" y="1837944"/>
            <a:ext cx="8284464" cy="384048"/>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1837944"/>
            <a:ext cx="8101584" cy="384048"/>
          </a:xfrm>
          <a:prstGeom prst="rect">
            <a:avLst/>
          </a:prstGeom>
          <a:noFill/>
          <a:ln>
            <a:noFill/>
          </a:ln>
        </p:spPr>
        <p:txBody>
          <a:bodyPr wrap="square">
            <a:spAutoFit/>
          </a:bodyPr>
          <a:lstStyle/>
          <a:p>
            <a:pPr algn="l"/>
            <a:r>
              <a:rPr sz="1050" b="0" i="0">
                <a:solidFill>
                  <a:srgbClr val="1E293B"/>
                </a:solidFill>
                <a:latin typeface="Calibri"/>
              </a:rPr>
              <a:t>A contract is not legal documentation. It is a stable promise about meaning, structure, ownership, and acceptable use.</a:t>
            </a:r>
          </a:p>
        </p:txBody>
      </p:sp>
      <p:sp>
        <p:nvSpPr>
          <p:cNvPr id="30" name="TextBox 29"/>
          <p:cNvSpPr txBox="1"/>
          <p:nvPr/>
        </p:nvSpPr>
        <p:spPr>
          <a:xfrm>
            <a:off x="429768" y="2313432"/>
            <a:ext cx="8284464" cy="1280160"/>
          </a:xfrm>
          <a:prstGeom prst="rect">
            <a:avLst/>
          </a:prstGeom>
          <a:noFill/>
          <a:ln>
            <a:noFill/>
          </a:ln>
        </p:spPr>
        <p:txBody>
          <a:bodyPr wrap="square">
            <a:spAutoFit/>
          </a:bodyPr>
          <a:lstStyle/>
          <a:p>
            <a:pPr algn="l"/>
            <a:r>
              <a:rPr sz="1050" b="0" i="0">
                <a:solidFill>
                  <a:srgbClr val="475569"/>
                </a:solidFill>
                <a:latin typeface="Calibri"/>
              </a:rPr>
              <a:t>When a contract is implicit — when a team assumes rather than specifies what a dataset means — the assumption travels silently through every downstream layer until it produces a wrong decision.
A data contract defines: schema, grain, types, documented assumptions, quality flags, and ownership.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1 — Acquisition captures evidence</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scraper does not capture the market; it captures a scoped view of the market.</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950" b="1" i="0">
                <a:solidFill>
                  <a:srgbClr val="FFFFFF"/>
                </a:solidFill>
                <a:latin typeface="Calibri"/>
              </a:rPr>
              <a:t>Acquisition scope (config/project_config.yaml)</a:t>
            </a:r>
          </a:p>
        </p:txBody>
      </p:sp>
      <p:sp>
        <p:nvSpPr>
          <p:cNvPr id="10" name="Rectangle 9"/>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07008"/>
            <a:ext cx="1005840" cy="384048"/>
          </a:xfrm>
          <a:prstGeom prst="rect">
            <a:avLst/>
          </a:prstGeom>
          <a:noFill/>
          <a:ln>
            <a:noFill/>
          </a:ln>
        </p:spPr>
        <p:txBody>
          <a:bodyPr wrap="square">
            <a:spAutoFit/>
          </a:bodyPr>
          <a:lstStyle/>
          <a:p>
            <a:pPr algn="l"/>
            <a:r>
              <a:rPr sz="1000" b="1" i="0">
                <a:solidFill>
                  <a:srgbClr val="1E293B"/>
                </a:solidFill>
                <a:latin typeface="Calibri"/>
              </a:rPr>
              <a:t>make</a:t>
            </a:r>
          </a:p>
        </p:txBody>
      </p:sp>
      <p:sp>
        <p:nvSpPr>
          <p:cNvPr id="12" name="TextBox 11"/>
          <p:cNvSpPr txBox="1"/>
          <p:nvPr/>
        </p:nvSpPr>
        <p:spPr>
          <a:xfrm>
            <a:off x="1527048" y="1207008"/>
            <a:ext cx="2788920" cy="384048"/>
          </a:xfrm>
          <a:prstGeom prst="rect">
            <a:avLst/>
          </a:prstGeom>
          <a:noFill/>
          <a:ln>
            <a:noFill/>
          </a:ln>
        </p:spPr>
        <p:txBody>
          <a:bodyPr wrap="square">
            <a:spAutoFit/>
          </a:bodyPr>
          <a:lstStyle/>
          <a:p>
            <a:pPr algn="l"/>
            <a:r>
              <a:rPr sz="1000" b="0" i="0">
                <a:solidFill>
                  <a:srgbClr val="475569"/>
                </a:solidFill>
                <a:latin typeface="Calibri"/>
              </a:rPr>
              <a:t>Audi</a:t>
            </a:r>
          </a:p>
        </p:txBody>
      </p:sp>
      <p:sp>
        <p:nvSpPr>
          <p:cNvPr id="13" name="Rectangle 12"/>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91056"/>
            <a:ext cx="1005840" cy="384048"/>
          </a:xfrm>
          <a:prstGeom prst="rect">
            <a:avLst/>
          </a:prstGeom>
          <a:noFill/>
          <a:ln>
            <a:noFill/>
          </a:ln>
        </p:spPr>
        <p:txBody>
          <a:bodyPr wrap="square">
            <a:spAutoFit/>
          </a:bodyPr>
          <a:lstStyle/>
          <a:p>
            <a:pPr algn="l"/>
            <a:r>
              <a:rPr sz="1000" b="1" i="0">
                <a:solidFill>
                  <a:srgbClr val="1E293B"/>
                </a:solidFill>
                <a:latin typeface="Calibri"/>
              </a:rPr>
              <a:t>model</a:t>
            </a:r>
          </a:p>
        </p:txBody>
      </p:sp>
      <p:sp>
        <p:nvSpPr>
          <p:cNvPr id="15" name="TextBox 14"/>
          <p:cNvSpPr txBox="1"/>
          <p:nvPr/>
        </p:nvSpPr>
        <p:spPr>
          <a:xfrm>
            <a:off x="1527048" y="1591056"/>
            <a:ext cx="2788920" cy="384048"/>
          </a:xfrm>
          <a:prstGeom prst="rect">
            <a:avLst/>
          </a:prstGeom>
          <a:noFill/>
          <a:ln>
            <a:noFill/>
          </a:ln>
        </p:spPr>
        <p:txBody>
          <a:bodyPr wrap="square">
            <a:spAutoFit/>
          </a:bodyPr>
          <a:lstStyle/>
          <a:p>
            <a:pPr algn="l"/>
            <a:r>
              <a:rPr sz="1000" b="0" i="0">
                <a:solidFill>
                  <a:srgbClr val="475569"/>
                </a:solidFill>
                <a:latin typeface="Calibri"/>
              </a:rPr>
              <a:t>A3</a:t>
            </a:r>
          </a:p>
        </p:txBody>
      </p:sp>
      <p:sp>
        <p:nvSpPr>
          <p:cNvPr id="16" name="Rectangle 15"/>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75104"/>
            <a:ext cx="1005840" cy="384048"/>
          </a:xfrm>
          <a:prstGeom prst="rect">
            <a:avLst/>
          </a:prstGeom>
          <a:noFill/>
          <a:ln>
            <a:noFill/>
          </a:ln>
        </p:spPr>
        <p:txBody>
          <a:bodyPr wrap="square">
            <a:spAutoFit/>
          </a:bodyPr>
          <a:lstStyle/>
          <a:p>
            <a:pPr algn="l"/>
            <a:r>
              <a:rPr sz="1000" b="1" i="0">
                <a:solidFill>
                  <a:srgbClr val="1E293B"/>
                </a:solidFill>
                <a:latin typeface="Calibri"/>
              </a:rPr>
              <a:t>country</a:t>
            </a:r>
          </a:p>
        </p:txBody>
      </p:sp>
      <p:sp>
        <p:nvSpPr>
          <p:cNvPr id="18" name="TextBox 17"/>
          <p:cNvSpPr txBox="1"/>
          <p:nvPr/>
        </p:nvSpPr>
        <p:spPr>
          <a:xfrm>
            <a:off x="1527048" y="1975104"/>
            <a:ext cx="2788920" cy="384048"/>
          </a:xfrm>
          <a:prstGeom prst="rect">
            <a:avLst/>
          </a:prstGeom>
          <a:noFill/>
          <a:ln>
            <a:noFill/>
          </a:ln>
        </p:spPr>
        <p:txBody>
          <a:bodyPr wrap="square">
            <a:spAutoFit/>
          </a:bodyPr>
          <a:lstStyle/>
          <a:p>
            <a:pPr algn="l"/>
            <a:r>
              <a:rPr sz="1000" b="0" i="0">
                <a:solidFill>
                  <a:srgbClr val="475569"/>
                </a:solidFill>
                <a:latin typeface="Calibri"/>
              </a:rPr>
              <a:t>Germany</a:t>
            </a:r>
          </a:p>
        </p:txBody>
      </p:sp>
      <p:sp>
        <p:nvSpPr>
          <p:cNvPr id="19" name="Rectangle 18"/>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59152"/>
            <a:ext cx="1005840" cy="384048"/>
          </a:xfrm>
          <a:prstGeom prst="rect">
            <a:avLst/>
          </a:prstGeom>
          <a:noFill/>
          <a:ln>
            <a:noFill/>
          </a:ln>
        </p:spPr>
        <p:txBody>
          <a:bodyPr wrap="square">
            <a:spAutoFit/>
          </a:bodyPr>
          <a:lstStyle/>
          <a:p>
            <a:pPr algn="l"/>
            <a:r>
              <a:rPr sz="1000" b="1" i="0">
                <a:solidFill>
                  <a:srgbClr val="1E293B"/>
                </a:solidFill>
                <a:latin typeface="Calibri"/>
              </a:rPr>
              <a:t>source</a:t>
            </a:r>
          </a:p>
        </p:txBody>
      </p:sp>
      <p:sp>
        <p:nvSpPr>
          <p:cNvPr id="21" name="TextBox 20"/>
          <p:cNvSpPr txBox="1"/>
          <p:nvPr/>
        </p:nvSpPr>
        <p:spPr>
          <a:xfrm>
            <a:off x="1527048" y="2359152"/>
            <a:ext cx="2788920" cy="384048"/>
          </a:xfrm>
          <a:prstGeom prst="rect">
            <a:avLst/>
          </a:prstGeom>
          <a:noFill/>
          <a:ln>
            <a:noFill/>
          </a:ln>
        </p:spPr>
        <p:txBody>
          <a:bodyPr wrap="square">
            <a:spAutoFit/>
          </a:bodyPr>
          <a:lstStyle/>
          <a:p>
            <a:pPr algn="l"/>
            <a:r>
              <a:rPr sz="1000" b="0" i="0">
                <a:solidFill>
                  <a:srgbClr val="475569"/>
                </a:solidFill>
                <a:latin typeface="Calibri"/>
              </a:rPr>
              <a:t>AutoScout24</a:t>
            </a:r>
          </a:p>
        </p:txBody>
      </p:sp>
      <p:sp>
        <p:nvSpPr>
          <p:cNvPr id="22" name="Rectangle 21"/>
          <p:cNvSpPr/>
          <p:nvPr/>
        </p:nvSpPr>
        <p:spPr>
          <a:xfrm>
            <a:off x="429768" y="2743200"/>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743200"/>
            <a:ext cx="1005840" cy="384048"/>
          </a:xfrm>
          <a:prstGeom prst="rect">
            <a:avLst/>
          </a:prstGeom>
          <a:noFill/>
          <a:ln>
            <a:noFill/>
          </a:ln>
        </p:spPr>
        <p:txBody>
          <a:bodyPr wrap="square">
            <a:spAutoFit/>
          </a:bodyPr>
          <a:lstStyle/>
          <a:p>
            <a:pPr algn="l"/>
            <a:r>
              <a:rPr sz="1000" b="1" i="0">
                <a:solidFill>
                  <a:srgbClr val="1E293B"/>
                </a:solidFill>
                <a:latin typeface="Calibri"/>
              </a:rPr>
              <a:t>notebook</a:t>
            </a:r>
          </a:p>
        </p:txBody>
      </p:sp>
      <p:sp>
        <p:nvSpPr>
          <p:cNvPr id="24" name="TextBox 23"/>
          <p:cNvSpPr txBox="1"/>
          <p:nvPr/>
        </p:nvSpPr>
        <p:spPr>
          <a:xfrm>
            <a:off x="1527048" y="2743200"/>
            <a:ext cx="2788920" cy="384048"/>
          </a:xfrm>
          <a:prstGeom prst="rect">
            <a:avLst/>
          </a:prstGeom>
          <a:noFill/>
          <a:ln>
            <a:noFill/>
          </a:ln>
        </p:spPr>
        <p:txBody>
          <a:bodyPr wrap="square">
            <a:spAutoFit/>
          </a:bodyPr>
          <a:lstStyle/>
          <a:p>
            <a:pPr algn="l"/>
            <a:r>
              <a:rPr sz="1000" b="0" i="0">
                <a:solidFill>
                  <a:srgbClr val="475569"/>
                </a:solidFill>
                <a:latin typeface="Calibri"/>
              </a:rPr>
              <a:t>01_scraping_audi_a3_germany.ipynb</a:t>
            </a:r>
          </a:p>
        </p:txBody>
      </p:sp>
      <p:sp>
        <p:nvSpPr>
          <p:cNvPr id="25" name="TextBox 24"/>
          <p:cNvSpPr txBox="1"/>
          <p:nvPr/>
        </p:nvSpPr>
        <p:spPr>
          <a:xfrm>
            <a:off x="429768" y="3127248"/>
            <a:ext cx="3931920" cy="502920"/>
          </a:xfrm>
          <a:prstGeom prst="rect">
            <a:avLst/>
          </a:prstGeom>
          <a:noFill/>
          <a:ln>
            <a:noFill/>
          </a:ln>
        </p:spPr>
        <p:txBody>
          <a:bodyPr wrap="square">
            <a:spAutoFit/>
          </a:bodyPr>
          <a:lstStyle/>
          <a:p>
            <a:pPr algn="l"/>
            <a:r>
              <a:rPr sz="1000" b="0" i="1">
                <a:solidFill>
                  <a:srgbClr val="475569"/>
                </a:solidFill>
                <a:latin typeface="Calibri"/>
              </a:rPr>
              <a:t>Every scope decision defines what the final product can and cannot see.</a:t>
            </a:r>
          </a:p>
        </p:txBody>
      </p:sp>
      <p:sp>
        <p:nvSpPr>
          <p:cNvPr id="26" name="Rectangle 25"/>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Acquisition risks</a:t>
            </a:r>
          </a:p>
        </p:txBody>
      </p:sp>
      <p:sp>
        <p:nvSpPr>
          <p:cNvPr id="28" name="Rectangle 27"/>
          <p:cNvSpPr/>
          <p:nvPr/>
        </p:nvSpPr>
        <p:spPr>
          <a:xfrm>
            <a:off x="4544568" y="1207008"/>
            <a:ext cx="39319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1207008"/>
            <a:ext cx="3840480" cy="256032"/>
          </a:xfrm>
          <a:prstGeom prst="rect">
            <a:avLst/>
          </a:prstGeom>
          <a:noFill/>
          <a:ln>
            <a:noFill/>
          </a:ln>
        </p:spPr>
        <p:txBody>
          <a:bodyPr wrap="square">
            <a:spAutoFit/>
          </a:bodyPr>
          <a:lstStyle/>
          <a:p>
            <a:pPr algn="l"/>
            <a:r>
              <a:rPr sz="1000" b="1" i="0">
                <a:solidFill>
                  <a:srgbClr val="1E293B"/>
                </a:solidFill>
                <a:latin typeface="Calibri"/>
              </a:rPr>
              <a:t>Source fragility</a:t>
            </a:r>
          </a:p>
        </p:txBody>
      </p:sp>
      <p:sp>
        <p:nvSpPr>
          <p:cNvPr id="30" name="TextBox 29"/>
          <p:cNvSpPr txBox="1"/>
          <p:nvPr/>
        </p:nvSpPr>
        <p:spPr>
          <a:xfrm>
            <a:off x="4617720" y="1444752"/>
            <a:ext cx="3840480" cy="292608"/>
          </a:xfrm>
          <a:prstGeom prst="rect">
            <a:avLst/>
          </a:prstGeom>
          <a:noFill/>
          <a:ln>
            <a:noFill/>
          </a:ln>
        </p:spPr>
        <p:txBody>
          <a:bodyPr wrap="square">
            <a:spAutoFit/>
          </a:bodyPr>
          <a:lstStyle/>
          <a:p>
            <a:pPr algn="l"/>
            <a:r>
              <a:rPr sz="950" b="0" i="0">
                <a:solidFill>
                  <a:srgbClr val="475569"/>
                </a:solidFill>
                <a:latin typeface="Calibri"/>
              </a:rPr>
              <a:t>Scraper breaks when the source changes structure</a:t>
            </a:r>
          </a:p>
        </p:txBody>
      </p:sp>
      <p:sp>
        <p:nvSpPr>
          <p:cNvPr id="31" name="Rectangle 30"/>
          <p:cNvSpPr/>
          <p:nvPr/>
        </p:nvSpPr>
        <p:spPr>
          <a:xfrm>
            <a:off x="4544568" y="1755648"/>
            <a:ext cx="3931920" cy="5486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1755648"/>
            <a:ext cx="3840480" cy="256032"/>
          </a:xfrm>
          <a:prstGeom prst="rect">
            <a:avLst/>
          </a:prstGeom>
          <a:noFill/>
          <a:ln>
            <a:noFill/>
          </a:ln>
        </p:spPr>
        <p:txBody>
          <a:bodyPr wrap="square">
            <a:spAutoFit/>
          </a:bodyPr>
          <a:lstStyle/>
          <a:p>
            <a:pPr algn="l"/>
            <a:r>
              <a:rPr sz="1000" b="1" i="0">
                <a:solidFill>
                  <a:srgbClr val="1E293B"/>
                </a:solidFill>
                <a:latin typeface="Calibri"/>
              </a:rPr>
              <a:t>Pagination bias</a:t>
            </a:r>
          </a:p>
        </p:txBody>
      </p:sp>
      <p:sp>
        <p:nvSpPr>
          <p:cNvPr id="33" name="TextBox 32"/>
          <p:cNvSpPr txBox="1"/>
          <p:nvPr/>
        </p:nvSpPr>
        <p:spPr>
          <a:xfrm>
            <a:off x="4617720" y="1993392"/>
            <a:ext cx="3840480" cy="292608"/>
          </a:xfrm>
          <a:prstGeom prst="rect">
            <a:avLst/>
          </a:prstGeom>
          <a:noFill/>
          <a:ln>
            <a:noFill/>
          </a:ln>
        </p:spPr>
        <p:txBody>
          <a:bodyPr wrap="square">
            <a:spAutoFit/>
          </a:bodyPr>
          <a:lstStyle/>
          <a:p>
            <a:pPr algn="l"/>
            <a:r>
              <a:rPr sz="950" b="0" i="0">
                <a:solidFill>
                  <a:srgbClr val="475569"/>
                </a:solidFill>
                <a:latin typeface="Calibri"/>
              </a:rPr>
              <a:t>Early pages over-represent recent or promoted listings</a:t>
            </a:r>
          </a:p>
        </p:txBody>
      </p:sp>
      <p:sp>
        <p:nvSpPr>
          <p:cNvPr id="34" name="Rectangle 33"/>
          <p:cNvSpPr/>
          <p:nvPr/>
        </p:nvSpPr>
        <p:spPr>
          <a:xfrm>
            <a:off x="4544568" y="2304288"/>
            <a:ext cx="393192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17720" y="2304288"/>
            <a:ext cx="3840480" cy="256032"/>
          </a:xfrm>
          <a:prstGeom prst="rect">
            <a:avLst/>
          </a:prstGeom>
          <a:noFill/>
          <a:ln>
            <a:noFill/>
          </a:ln>
        </p:spPr>
        <p:txBody>
          <a:bodyPr wrap="square">
            <a:spAutoFit/>
          </a:bodyPr>
          <a:lstStyle/>
          <a:p>
            <a:pPr algn="l"/>
            <a:r>
              <a:rPr sz="1000" b="1" i="0">
                <a:solidFill>
                  <a:srgbClr val="1E293B"/>
                </a:solidFill>
                <a:latin typeface="Calibri"/>
              </a:rPr>
              <a:t>Visibility bias</a:t>
            </a:r>
          </a:p>
        </p:txBody>
      </p:sp>
      <p:sp>
        <p:nvSpPr>
          <p:cNvPr id="36" name="TextBox 35"/>
          <p:cNvSpPr txBox="1"/>
          <p:nvPr/>
        </p:nvSpPr>
        <p:spPr>
          <a:xfrm>
            <a:off x="4617720" y="2542032"/>
            <a:ext cx="3840480" cy="292608"/>
          </a:xfrm>
          <a:prstGeom prst="rect">
            <a:avLst/>
          </a:prstGeom>
          <a:noFill/>
          <a:ln>
            <a:noFill/>
          </a:ln>
        </p:spPr>
        <p:txBody>
          <a:bodyPr wrap="square">
            <a:spAutoFit/>
          </a:bodyPr>
          <a:lstStyle/>
          <a:p>
            <a:pPr algn="l"/>
            <a:r>
              <a:rPr sz="950" b="0" i="0">
                <a:solidFill>
                  <a:srgbClr val="475569"/>
                </a:solidFill>
                <a:latin typeface="Calibri"/>
              </a:rPr>
              <a:t>Only listed vehicles are visible; sold inventory is not</a:t>
            </a:r>
          </a:p>
        </p:txBody>
      </p:sp>
      <p:sp>
        <p:nvSpPr>
          <p:cNvPr id="37" name="Rectangle 36"/>
          <p:cNvSpPr/>
          <p:nvPr/>
        </p:nvSpPr>
        <p:spPr>
          <a:xfrm>
            <a:off x="4544568" y="2852928"/>
            <a:ext cx="3931920" cy="5486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17720" y="2852928"/>
            <a:ext cx="3840480" cy="256032"/>
          </a:xfrm>
          <a:prstGeom prst="rect">
            <a:avLst/>
          </a:prstGeom>
          <a:noFill/>
          <a:ln>
            <a:noFill/>
          </a:ln>
        </p:spPr>
        <p:txBody>
          <a:bodyPr wrap="square">
            <a:spAutoFit/>
          </a:bodyPr>
          <a:lstStyle/>
          <a:p>
            <a:pPr algn="l"/>
            <a:r>
              <a:rPr sz="1000" b="1" i="0">
                <a:solidFill>
                  <a:srgbClr val="1E293B"/>
                </a:solidFill>
                <a:latin typeface="Calibri"/>
              </a:rPr>
              <a:t>Silent coverage drift</a:t>
            </a:r>
          </a:p>
        </p:txBody>
      </p:sp>
      <p:sp>
        <p:nvSpPr>
          <p:cNvPr id="39" name="TextBox 38"/>
          <p:cNvSpPr txBox="1"/>
          <p:nvPr/>
        </p:nvSpPr>
        <p:spPr>
          <a:xfrm>
            <a:off x="4617720" y="3090672"/>
            <a:ext cx="3840480" cy="292608"/>
          </a:xfrm>
          <a:prstGeom prst="rect">
            <a:avLst/>
          </a:prstGeom>
          <a:noFill/>
          <a:ln>
            <a:noFill/>
          </a:ln>
        </p:spPr>
        <p:txBody>
          <a:bodyPr wrap="square">
            <a:spAutoFit/>
          </a:bodyPr>
          <a:lstStyle/>
          <a:p>
            <a:pPr algn="l"/>
            <a:r>
              <a:rPr sz="950" b="0" i="0">
                <a:solidFill>
                  <a:srgbClr val="475569"/>
                </a:solidFill>
                <a:latin typeface="Calibri"/>
              </a:rPr>
              <a:t>Source coverage changes without notification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raw layer — immutable historical record</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If raw data is modified, every downstream result becomes harder to defend.</a:t>
            </a:r>
          </a:p>
        </p:txBody>
      </p:sp>
      <p:sp>
        <p:nvSpPr>
          <p:cNvPr id="8" name="Rectangle 7"/>
          <p:cNvSpPr/>
          <p:nvPr/>
        </p:nvSpPr>
        <p:spPr>
          <a:xfrm>
            <a:off x="3291840" y="802386"/>
            <a:ext cx="2560320" cy="64008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4992" y="802386"/>
            <a:ext cx="2414016" cy="640080"/>
          </a:xfrm>
          <a:prstGeom prst="rect">
            <a:avLst/>
          </a:prstGeom>
          <a:noFill/>
          <a:ln>
            <a:noFill/>
          </a:ln>
        </p:spPr>
        <p:txBody>
          <a:bodyPr wrap="square">
            <a:spAutoFit/>
          </a:bodyPr>
          <a:lstStyle/>
          <a:p>
            <a:pPr algn="ctr"/>
            <a:r>
              <a:rPr sz="900" b="1" i="0">
                <a:solidFill>
                  <a:srgbClr val="FFFFFF"/>
                </a:solidFill>
                <a:latin typeface="Calibri"/>
              </a:rPr>
              <a:t>data/raw/...</a:t>
            </a:r>
          </a:p>
        </p:txBody>
      </p:sp>
      <p:sp>
        <p:nvSpPr>
          <p:cNvPr id="10" name="TextBox 9"/>
          <p:cNvSpPr txBox="1"/>
          <p:nvPr/>
        </p:nvSpPr>
        <p:spPr>
          <a:xfrm>
            <a:off x="5989320" y="802386"/>
            <a:ext cx="3108960" cy="640080"/>
          </a:xfrm>
          <a:prstGeom prst="rect">
            <a:avLst/>
          </a:prstGeom>
          <a:noFill/>
          <a:ln>
            <a:noFill/>
          </a:ln>
        </p:spPr>
        <p:txBody>
          <a:bodyPr wrap="square">
            <a:spAutoFit/>
          </a:bodyPr>
          <a:lstStyle/>
          <a:p>
            <a:pPr algn="l"/>
            <a:r>
              <a:rPr sz="950" b="0" i="0">
                <a:solidFill>
                  <a:srgbClr val="475569"/>
                </a:solidFill>
                <a:latin typeface="Calibri"/>
              </a:rPr>
              <a:t>Exactly what was collected. Never modified.</a:t>
            </a:r>
          </a:p>
        </p:txBody>
      </p:sp>
      <p:sp>
        <p:nvSpPr>
          <p:cNvPr id="11" name="Rectangle 10"/>
          <p:cNvSpPr/>
          <p:nvPr/>
        </p:nvSpPr>
        <p:spPr>
          <a:xfrm>
            <a:off x="4517136" y="1442466"/>
            <a:ext cx="109728" cy="2011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1643634"/>
            <a:ext cx="2560320" cy="64008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1643634"/>
            <a:ext cx="2414016" cy="640080"/>
          </a:xfrm>
          <a:prstGeom prst="rect">
            <a:avLst/>
          </a:prstGeom>
          <a:noFill/>
          <a:ln>
            <a:noFill/>
          </a:ln>
        </p:spPr>
        <p:txBody>
          <a:bodyPr wrap="square">
            <a:spAutoFit/>
          </a:bodyPr>
          <a:lstStyle/>
          <a:p>
            <a:pPr algn="ctr"/>
            <a:r>
              <a:rPr sz="900" b="1" i="0">
                <a:solidFill>
                  <a:srgbClr val="FFFFFF"/>
                </a:solidFill>
                <a:latin typeface="Calibri"/>
              </a:rPr>
              <a:t>data/processed/...</a:t>
            </a:r>
          </a:p>
        </p:txBody>
      </p:sp>
      <p:sp>
        <p:nvSpPr>
          <p:cNvPr id="14" name="TextBox 13"/>
          <p:cNvSpPr txBox="1"/>
          <p:nvPr/>
        </p:nvSpPr>
        <p:spPr>
          <a:xfrm>
            <a:off x="5989320" y="1643634"/>
            <a:ext cx="3108960" cy="640080"/>
          </a:xfrm>
          <a:prstGeom prst="rect">
            <a:avLst/>
          </a:prstGeom>
          <a:noFill/>
          <a:ln>
            <a:noFill/>
          </a:ln>
        </p:spPr>
        <p:txBody>
          <a:bodyPr wrap="square">
            <a:spAutoFit/>
          </a:bodyPr>
          <a:lstStyle/>
          <a:p>
            <a:pPr algn="l"/>
            <a:r>
              <a:rPr sz="950" b="0" i="0">
                <a:solidFill>
                  <a:srgbClr val="475569"/>
                </a:solidFill>
                <a:latin typeface="Calibri"/>
              </a:rPr>
              <a:t>Reproducible transformation output from Notebook 02.</a:t>
            </a:r>
          </a:p>
        </p:txBody>
      </p:sp>
      <p:sp>
        <p:nvSpPr>
          <p:cNvPr id="15" name="Rectangle 14"/>
          <p:cNvSpPr/>
          <p:nvPr/>
        </p:nvSpPr>
        <p:spPr>
          <a:xfrm>
            <a:off x="4517136" y="2283714"/>
            <a:ext cx="109728" cy="2011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0" y="2484882"/>
            <a:ext cx="2560320" cy="6400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2" y="2484882"/>
            <a:ext cx="2414016" cy="640080"/>
          </a:xfrm>
          <a:prstGeom prst="rect">
            <a:avLst/>
          </a:prstGeom>
          <a:noFill/>
          <a:ln>
            <a:noFill/>
          </a:ln>
        </p:spPr>
        <p:txBody>
          <a:bodyPr wrap="square">
            <a:spAutoFit/>
          </a:bodyPr>
          <a:lstStyle/>
          <a:p>
            <a:pPr algn="ctr"/>
            <a:r>
              <a:rPr sz="900" b="1" i="0">
                <a:solidFill>
                  <a:srgbClr val="FFFFFF"/>
                </a:solidFill>
                <a:latin typeface="Calibri"/>
              </a:rPr>
              <a:t>BigQuery
(albertheadofdata101.autoscout_audi_a3_germany)</a:t>
            </a:r>
          </a:p>
        </p:txBody>
      </p:sp>
      <p:sp>
        <p:nvSpPr>
          <p:cNvPr id="18" name="TextBox 17"/>
          <p:cNvSpPr txBox="1"/>
          <p:nvPr/>
        </p:nvSpPr>
        <p:spPr>
          <a:xfrm>
            <a:off x="5989320" y="2484882"/>
            <a:ext cx="3108960" cy="640080"/>
          </a:xfrm>
          <a:prstGeom prst="rect">
            <a:avLst/>
          </a:prstGeom>
          <a:noFill/>
          <a:ln>
            <a:noFill/>
          </a:ln>
        </p:spPr>
        <p:txBody>
          <a:bodyPr wrap="square">
            <a:spAutoFit/>
          </a:bodyPr>
          <a:lstStyle/>
          <a:p>
            <a:pPr algn="l"/>
            <a:r>
              <a:rPr sz="950" b="0" i="0">
                <a:solidFill>
                  <a:srgbClr val="475569"/>
                </a:solidFill>
                <a:latin typeface="Calibri"/>
              </a:rPr>
              <a:t>Governed analytical system. Source of truth.</a:t>
            </a:r>
          </a:p>
        </p:txBody>
      </p:sp>
      <p:sp>
        <p:nvSpPr>
          <p:cNvPr id="19" name="Rectangle 18"/>
          <p:cNvSpPr/>
          <p:nvPr/>
        </p:nvSpPr>
        <p:spPr>
          <a:xfrm>
            <a:off x="4517136" y="3124962"/>
            <a:ext cx="109728" cy="2011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91840" y="3326130"/>
            <a:ext cx="2560320" cy="64008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4992" y="3326130"/>
            <a:ext cx="2414016" cy="640080"/>
          </a:xfrm>
          <a:prstGeom prst="rect">
            <a:avLst/>
          </a:prstGeom>
          <a:noFill/>
          <a:ln>
            <a:noFill/>
          </a:ln>
        </p:spPr>
        <p:txBody>
          <a:bodyPr wrap="square">
            <a:spAutoFit/>
          </a:bodyPr>
          <a:lstStyle/>
          <a:p>
            <a:pPr algn="ctr"/>
            <a:r>
              <a:rPr sz="900" b="1" i="0">
                <a:solidFill>
                  <a:srgbClr val="FFFFFF"/>
                </a:solidFill>
                <a:latin typeface="Calibri"/>
              </a:rPr>
              <a:t>ML outputs
(fact_expected_price_predictions,
fact_top_price_predictions)</a:t>
            </a:r>
          </a:p>
        </p:txBody>
      </p:sp>
      <p:sp>
        <p:nvSpPr>
          <p:cNvPr id="22" name="TextBox 21"/>
          <p:cNvSpPr txBox="1"/>
          <p:nvPr/>
        </p:nvSpPr>
        <p:spPr>
          <a:xfrm>
            <a:off x="5989320" y="3326130"/>
            <a:ext cx="3108960" cy="640080"/>
          </a:xfrm>
          <a:prstGeom prst="rect">
            <a:avLst/>
          </a:prstGeom>
          <a:noFill/>
          <a:ln>
            <a:noFill/>
          </a:ln>
        </p:spPr>
        <p:txBody>
          <a:bodyPr wrap="square">
            <a:spAutoFit/>
          </a:bodyPr>
          <a:lstStyle/>
          <a:p>
            <a:pPr algn="l"/>
            <a:r>
              <a:rPr sz="950" b="0" i="0">
                <a:solidFill>
                  <a:srgbClr val="475569"/>
                </a:solidFill>
                <a:latin typeface="Calibri"/>
              </a:rPr>
              <a:t>Persisted model signals. Queryable by BI.</a:t>
            </a:r>
          </a:p>
        </p:txBody>
      </p:sp>
      <p:sp>
        <p:nvSpPr>
          <p:cNvPr id="23" name="Rectangle 22"/>
          <p:cNvSpPr/>
          <p:nvPr/>
        </p:nvSpPr>
        <p:spPr>
          <a:xfrm>
            <a:off x="4517136" y="3966210"/>
            <a:ext cx="109728" cy="20116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91840" y="4167378"/>
            <a:ext cx="2560320" cy="640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64992" y="4167378"/>
            <a:ext cx="2414016" cy="640080"/>
          </a:xfrm>
          <a:prstGeom prst="rect">
            <a:avLst/>
          </a:prstGeom>
          <a:noFill/>
          <a:ln>
            <a:noFill/>
          </a:ln>
        </p:spPr>
        <p:txBody>
          <a:bodyPr wrap="square">
            <a:spAutoFit/>
          </a:bodyPr>
          <a:lstStyle/>
          <a:p>
            <a:pPr algn="ctr"/>
            <a:r>
              <a:rPr sz="900" b="1" i="0">
                <a:solidFill>
                  <a:srgbClr val="FFFFFF"/>
                </a:solidFill>
                <a:latin typeface="Calibri"/>
              </a:rPr>
              <a:t>Streamlit
(vw_bi_dashboard)</a:t>
            </a:r>
          </a:p>
        </p:txBody>
      </p:sp>
      <p:sp>
        <p:nvSpPr>
          <p:cNvPr id="26" name="TextBox 25"/>
          <p:cNvSpPr txBox="1"/>
          <p:nvPr/>
        </p:nvSpPr>
        <p:spPr>
          <a:xfrm>
            <a:off x="5989320" y="4167378"/>
            <a:ext cx="3108960" cy="640080"/>
          </a:xfrm>
          <a:prstGeom prst="rect">
            <a:avLst/>
          </a:prstGeom>
          <a:noFill/>
          <a:ln>
            <a:noFill/>
          </a:ln>
        </p:spPr>
        <p:txBody>
          <a:bodyPr wrap="square">
            <a:spAutoFit/>
          </a:bodyPr>
          <a:lstStyle/>
          <a:p>
            <a:pPr algn="l"/>
            <a:r>
              <a:rPr sz="950" b="0" i="0">
                <a:solidFill>
                  <a:srgbClr val="475569"/>
                </a:solidFill>
                <a:latin typeface="Calibri"/>
              </a:rPr>
              <a:t>Decision surface. Reads from BigQuery only.</a:t>
            </a:r>
          </a:p>
        </p:txBody>
      </p:sp>
      <p:sp>
        <p:nvSpPr>
          <p:cNvPr id="27" name="TextBox 26"/>
          <p:cNvSpPr txBox="1"/>
          <p:nvPr/>
        </p:nvSpPr>
        <p:spPr>
          <a:xfrm>
            <a:off x="429768" y="4430268"/>
            <a:ext cx="8284464" cy="320040"/>
          </a:xfrm>
          <a:prstGeom prst="rect">
            <a:avLst/>
          </a:prstGeom>
          <a:noFill/>
          <a:ln>
            <a:noFill/>
          </a:ln>
        </p:spPr>
        <p:txBody>
          <a:bodyPr wrap="square">
            <a:spAutoFit/>
          </a:bodyPr>
          <a:lstStyle/>
          <a:p>
            <a:pPr algn="l"/>
            <a:r>
              <a:rPr sz="1000" b="0" i="1">
                <a:solidFill>
                  <a:srgbClr val="475569"/>
                </a:solidFill>
                <a:latin typeface="Calibri"/>
              </a:rPr>
              <a:t>Immutability is not a storage policy. It is an audit guarantee.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2 — Preprocessing turns evidence into an analytical asset</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Cleaning is not hygiene. It is product design.</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Preprocessing decisions</a:t>
            </a:r>
          </a:p>
        </p:txBody>
      </p:sp>
      <p:sp>
        <p:nvSpPr>
          <p:cNvPr id="10" name="Rectangle 9"/>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07008"/>
            <a:ext cx="1737360" cy="384048"/>
          </a:xfrm>
          <a:prstGeom prst="rect">
            <a:avLst/>
          </a:prstGeom>
          <a:noFill/>
          <a:ln>
            <a:noFill/>
          </a:ln>
        </p:spPr>
        <p:txBody>
          <a:bodyPr wrap="square">
            <a:spAutoFit/>
          </a:bodyPr>
          <a:lstStyle/>
          <a:p>
            <a:pPr algn="l"/>
            <a:r>
              <a:rPr sz="950" b="1" i="0">
                <a:solidFill>
                  <a:srgbClr val="1E293B"/>
                </a:solidFill>
                <a:latin typeface="Calibri"/>
              </a:rPr>
              <a:t>Missingness handling</a:t>
            </a:r>
          </a:p>
        </p:txBody>
      </p:sp>
      <p:sp>
        <p:nvSpPr>
          <p:cNvPr id="12" name="TextBox 11"/>
          <p:cNvSpPr txBox="1"/>
          <p:nvPr/>
        </p:nvSpPr>
        <p:spPr>
          <a:xfrm>
            <a:off x="2258568" y="1207008"/>
            <a:ext cx="2057401" cy="384048"/>
          </a:xfrm>
          <a:prstGeom prst="rect">
            <a:avLst/>
          </a:prstGeom>
          <a:noFill/>
          <a:ln>
            <a:noFill/>
          </a:ln>
        </p:spPr>
        <p:txBody>
          <a:bodyPr wrap="square">
            <a:spAutoFit/>
          </a:bodyPr>
          <a:lstStyle/>
          <a:p>
            <a:pPr algn="l"/>
            <a:r>
              <a:rPr sz="950" b="0" i="0">
                <a:solidFill>
                  <a:srgbClr val="475569"/>
                </a:solidFill>
                <a:latin typeface="Calibri"/>
              </a:rPr>
              <a:t>Signal completeness</a:t>
            </a:r>
          </a:p>
        </p:txBody>
      </p:sp>
      <p:sp>
        <p:nvSpPr>
          <p:cNvPr id="13" name="Rectangle 12"/>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91056"/>
            <a:ext cx="1737360" cy="384048"/>
          </a:xfrm>
          <a:prstGeom prst="rect">
            <a:avLst/>
          </a:prstGeom>
          <a:noFill/>
          <a:ln>
            <a:noFill/>
          </a:ln>
        </p:spPr>
        <p:txBody>
          <a:bodyPr wrap="square">
            <a:spAutoFit/>
          </a:bodyPr>
          <a:lstStyle/>
          <a:p>
            <a:pPr algn="l"/>
            <a:r>
              <a:rPr sz="950" b="1" i="0">
                <a:solidFill>
                  <a:srgbClr val="1E293B"/>
                </a:solidFill>
                <a:latin typeface="Calibri"/>
              </a:rPr>
              <a:t>Outlier flagging</a:t>
            </a:r>
          </a:p>
        </p:txBody>
      </p:sp>
      <p:sp>
        <p:nvSpPr>
          <p:cNvPr id="15" name="TextBox 14"/>
          <p:cNvSpPr txBox="1"/>
          <p:nvPr/>
        </p:nvSpPr>
        <p:spPr>
          <a:xfrm>
            <a:off x="2258568" y="1591056"/>
            <a:ext cx="2057401" cy="384048"/>
          </a:xfrm>
          <a:prstGeom prst="rect">
            <a:avLst/>
          </a:prstGeom>
          <a:noFill/>
          <a:ln>
            <a:noFill/>
          </a:ln>
        </p:spPr>
        <p:txBody>
          <a:bodyPr wrap="square">
            <a:spAutoFit/>
          </a:bodyPr>
          <a:lstStyle/>
          <a:p>
            <a:pPr algn="l"/>
            <a:r>
              <a:rPr sz="950" b="0" i="0">
                <a:solidFill>
                  <a:srgbClr val="475569"/>
                </a:solidFill>
                <a:latin typeface="Calibri"/>
              </a:rPr>
              <a:t>Opportunity vs. noise distinction</a:t>
            </a:r>
          </a:p>
        </p:txBody>
      </p:sp>
      <p:sp>
        <p:nvSpPr>
          <p:cNvPr id="16" name="Rectangle 15"/>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75104"/>
            <a:ext cx="1737360" cy="384048"/>
          </a:xfrm>
          <a:prstGeom prst="rect">
            <a:avLst/>
          </a:prstGeom>
          <a:noFill/>
          <a:ln>
            <a:noFill/>
          </a:ln>
        </p:spPr>
        <p:txBody>
          <a:bodyPr wrap="square">
            <a:spAutoFit/>
          </a:bodyPr>
          <a:lstStyle/>
          <a:p>
            <a:pPr algn="l"/>
            <a:r>
              <a:rPr sz="950" b="1" i="0">
                <a:solidFill>
                  <a:srgbClr val="1E293B"/>
                </a:solidFill>
                <a:latin typeface="Calibri"/>
              </a:rPr>
              <a:t>Duplicate removal</a:t>
            </a:r>
          </a:p>
        </p:txBody>
      </p:sp>
      <p:sp>
        <p:nvSpPr>
          <p:cNvPr id="18" name="TextBox 17"/>
          <p:cNvSpPr txBox="1"/>
          <p:nvPr/>
        </p:nvSpPr>
        <p:spPr>
          <a:xfrm>
            <a:off x="2258568" y="1975104"/>
            <a:ext cx="2057401" cy="384048"/>
          </a:xfrm>
          <a:prstGeom prst="rect">
            <a:avLst/>
          </a:prstGeom>
          <a:noFill/>
          <a:ln>
            <a:noFill/>
          </a:ln>
        </p:spPr>
        <p:txBody>
          <a:bodyPr wrap="square">
            <a:spAutoFit/>
          </a:bodyPr>
          <a:lstStyle/>
          <a:p>
            <a:pPr algn="l"/>
            <a:r>
              <a:rPr sz="950" b="0" i="0">
                <a:solidFill>
                  <a:srgbClr val="475569"/>
                </a:solidFill>
                <a:latin typeface="Calibri"/>
              </a:rPr>
              <a:t>Grain integrity</a:t>
            </a:r>
          </a:p>
        </p:txBody>
      </p:sp>
      <p:sp>
        <p:nvSpPr>
          <p:cNvPr id="19" name="Rectangle 18"/>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59152"/>
            <a:ext cx="1737360" cy="384048"/>
          </a:xfrm>
          <a:prstGeom prst="rect">
            <a:avLst/>
          </a:prstGeom>
          <a:noFill/>
          <a:ln>
            <a:noFill/>
          </a:ln>
        </p:spPr>
        <p:txBody>
          <a:bodyPr wrap="square">
            <a:spAutoFit/>
          </a:bodyPr>
          <a:lstStyle/>
          <a:p>
            <a:pPr algn="l"/>
            <a:r>
              <a:rPr sz="950" b="1" i="0">
                <a:solidFill>
                  <a:srgbClr val="1E293B"/>
                </a:solidFill>
                <a:latin typeface="Calibri"/>
              </a:rPr>
              <a:t>Type casting</a:t>
            </a:r>
          </a:p>
        </p:txBody>
      </p:sp>
      <p:sp>
        <p:nvSpPr>
          <p:cNvPr id="21" name="TextBox 20"/>
          <p:cNvSpPr txBox="1"/>
          <p:nvPr/>
        </p:nvSpPr>
        <p:spPr>
          <a:xfrm>
            <a:off x="2258568" y="2359152"/>
            <a:ext cx="2057401" cy="384048"/>
          </a:xfrm>
          <a:prstGeom prst="rect">
            <a:avLst/>
          </a:prstGeom>
          <a:noFill/>
          <a:ln>
            <a:noFill/>
          </a:ln>
        </p:spPr>
        <p:txBody>
          <a:bodyPr wrap="square">
            <a:spAutoFit/>
          </a:bodyPr>
          <a:lstStyle/>
          <a:p>
            <a:pPr algn="l"/>
            <a:r>
              <a:rPr sz="950" b="0" i="0">
                <a:solidFill>
                  <a:srgbClr val="475569"/>
                </a:solidFill>
                <a:latin typeface="Calibri"/>
              </a:rPr>
              <a:t>Downstream compatibility</a:t>
            </a:r>
          </a:p>
        </p:txBody>
      </p:sp>
      <p:sp>
        <p:nvSpPr>
          <p:cNvPr id="22" name="Rectangle 21"/>
          <p:cNvSpPr/>
          <p:nvPr/>
        </p:nvSpPr>
        <p:spPr>
          <a:xfrm>
            <a:off x="429768" y="2743200"/>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743200"/>
            <a:ext cx="1737360" cy="384048"/>
          </a:xfrm>
          <a:prstGeom prst="rect">
            <a:avLst/>
          </a:prstGeom>
          <a:noFill/>
          <a:ln>
            <a:noFill/>
          </a:ln>
        </p:spPr>
        <p:txBody>
          <a:bodyPr wrap="square">
            <a:spAutoFit/>
          </a:bodyPr>
          <a:lstStyle/>
          <a:p>
            <a:pPr algn="l"/>
            <a:r>
              <a:rPr sz="950" b="1" i="0">
                <a:solidFill>
                  <a:srgbClr val="1E293B"/>
                </a:solidFill>
                <a:latin typeface="Calibri"/>
              </a:rPr>
              <a:t>Category normalization</a:t>
            </a:r>
          </a:p>
        </p:txBody>
      </p:sp>
      <p:sp>
        <p:nvSpPr>
          <p:cNvPr id="24" name="TextBox 23"/>
          <p:cNvSpPr txBox="1"/>
          <p:nvPr/>
        </p:nvSpPr>
        <p:spPr>
          <a:xfrm>
            <a:off x="2258568" y="2743200"/>
            <a:ext cx="2057401" cy="384048"/>
          </a:xfrm>
          <a:prstGeom prst="rect">
            <a:avLst/>
          </a:prstGeom>
          <a:noFill/>
          <a:ln>
            <a:noFill/>
          </a:ln>
        </p:spPr>
        <p:txBody>
          <a:bodyPr wrap="square">
            <a:spAutoFit/>
          </a:bodyPr>
          <a:lstStyle/>
          <a:p>
            <a:pPr algn="l"/>
            <a:r>
              <a:rPr sz="950" b="0" i="0">
                <a:solidFill>
                  <a:srgbClr val="475569"/>
                </a:solidFill>
                <a:latin typeface="Calibri"/>
              </a:rPr>
              <a:t>Consistent dimension keys</a:t>
            </a:r>
          </a:p>
        </p:txBody>
      </p:sp>
      <p:sp>
        <p:nvSpPr>
          <p:cNvPr id="25" name="Rectangle 24"/>
          <p:cNvSpPr/>
          <p:nvPr/>
        </p:nvSpPr>
        <p:spPr>
          <a:xfrm>
            <a:off x="429768" y="3127248"/>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127248"/>
            <a:ext cx="1737360" cy="384048"/>
          </a:xfrm>
          <a:prstGeom prst="rect">
            <a:avLst/>
          </a:prstGeom>
          <a:noFill/>
          <a:ln>
            <a:noFill/>
          </a:ln>
        </p:spPr>
        <p:txBody>
          <a:bodyPr wrap="square">
            <a:spAutoFit/>
          </a:bodyPr>
          <a:lstStyle/>
          <a:p>
            <a:pPr algn="l"/>
            <a:r>
              <a:rPr sz="950" b="1" i="0">
                <a:solidFill>
                  <a:srgbClr val="1E293B"/>
                </a:solidFill>
                <a:latin typeface="Calibri"/>
              </a:rPr>
              <a:t>Schema validation</a:t>
            </a:r>
          </a:p>
        </p:txBody>
      </p:sp>
      <p:sp>
        <p:nvSpPr>
          <p:cNvPr id="27" name="TextBox 26"/>
          <p:cNvSpPr txBox="1"/>
          <p:nvPr/>
        </p:nvSpPr>
        <p:spPr>
          <a:xfrm>
            <a:off x="2258568" y="3127248"/>
            <a:ext cx="2057401" cy="384048"/>
          </a:xfrm>
          <a:prstGeom prst="rect">
            <a:avLst/>
          </a:prstGeom>
          <a:noFill/>
          <a:ln>
            <a:noFill/>
          </a:ln>
        </p:spPr>
        <p:txBody>
          <a:bodyPr wrap="square">
            <a:spAutoFit/>
          </a:bodyPr>
          <a:lstStyle/>
          <a:p>
            <a:pPr algn="l"/>
            <a:r>
              <a:rPr sz="950" b="0" i="0">
                <a:solidFill>
                  <a:srgbClr val="475569"/>
                </a:solidFill>
                <a:latin typeface="Calibri"/>
              </a:rPr>
              <a:t>Contract stability</a:t>
            </a:r>
          </a:p>
        </p:txBody>
      </p:sp>
      <p:sp>
        <p:nvSpPr>
          <p:cNvPr id="28" name="Rectangle 27"/>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Case example — Audi A3 price outliers</a:t>
            </a:r>
          </a:p>
        </p:txBody>
      </p:sp>
      <p:sp>
        <p:nvSpPr>
          <p:cNvPr id="30" name="TextBox 29"/>
          <p:cNvSpPr txBox="1"/>
          <p:nvPr/>
        </p:nvSpPr>
        <p:spPr>
          <a:xfrm>
            <a:off x="4544568" y="1261872"/>
            <a:ext cx="3931920" cy="2560320"/>
          </a:xfrm>
          <a:prstGeom prst="rect">
            <a:avLst/>
          </a:prstGeom>
          <a:noFill/>
          <a:ln>
            <a:noFill/>
          </a:ln>
        </p:spPr>
        <p:txBody>
          <a:bodyPr wrap="square">
            <a:spAutoFit/>
          </a:bodyPr>
          <a:lstStyle/>
          <a:p>
            <a:pPr algn="l"/>
            <a:r>
              <a:rPr sz="1000" b="0" i="0">
                <a:solidFill>
                  <a:srgbClr val="475569"/>
                </a:solidFill>
                <a:latin typeface="Calibri"/>
              </a:rPr>
              <a:t>In the Audi A3 dataset, price outliers are not automatically removed. They are flagged with price_outlier_iqr.
Why? A listing priced 30% below market could be:
  A data error  —  remove it
  A genuine opportunity  —  keep it for the committee
The preprocessing contract preserves the signal and lets the BI layer decide.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cleaned dataset contract</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A clean dataset is one another team can consume without guessing what it means.</a:t>
            </a:r>
          </a:p>
        </p:txBody>
      </p:sp>
      <p:sp>
        <p:nvSpPr>
          <p:cNvPr id="8" name="TextBox 7"/>
          <p:cNvSpPr txBox="1"/>
          <p:nvPr/>
        </p:nvSpPr>
        <p:spPr>
          <a:xfrm>
            <a:off x="429768" y="877824"/>
            <a:ext cx="8284464" cy="411480"/>
          </a:xfrm>
          <a:prstGeom prst="rect">
            <a:avLst/>
          </a:prstGeom>
          <a:noFill/>
          <a:ln>
            <a:noFill/>
          </a:ln>
        </p:spPr>
        <p:txBody>
          <a:bodyPr wrap="square">
            <a:spAutoFit/>
          </a:bodyPr>
          <a:lstStyle/>
          <a:p>
            <a:pPr algn="l"/>
            <a:r>
              <a:rPr sz="1050" b="0" i="0">
                <a:solidFill>
                  <a:srgbClr val="475569"/>
                </a:solidFill>
                <a:latin typeface="Calibri"/>
              </a:rPr>
              <a:t>The processed CSV output of Notebook 02 must satisfy a stable schema contract before it enters the warehouse. The contract is defined in sql/01_create_staging.sql.</a:t>
            </a:r>
          </a:p>
        </p:txBody>
      </p:sp>
      <p:graphicFrame>
        <p:nvGraphicFramePr>
          <p:cNvPr id="9" name="Table 8"/>
          <p:cNvGraphicFramePr>
            <a:graphicFrameLocks noGrp="1"/>
          </p:cNvGraphicFramePr>
          <p:nvPr/>
        </p:nvGraphicFramePr>
        <p:xfrm>
          <a:off x="429768" y="1335024"/>
          <a:ext cx="8046720" cy="2926080"/>
        </p:xfrm>
        <a:graphic>
          <a:graphicData uri="http://schemas.openxmlformats.org/drawingml/2006/table">
            <a:tbl>
              <a:tblPr firstRow="1" bandRow="1">
                <a:tableStyleId>{5C22544A-7EE6-4342-B048-85BDC9FD1C3A}</a:tableStyleId>
              </a:tblPr>
              <a:tblGrid>
                <a:gridCol w="2103120"/>
                <a:gridCol w="1005840"/>
                <a:gridCol w="4937760"/>
              </a:tblGrid>
              <a:tr h="325120">
                <a:tc>
                  <a:txBody>
                    <a:bodyPr wrap="square"/>
                    <a:lstStyle/>
                    <a:p>
                      <a:pPr algn="l"/>
                      <a:r>
                        <a:rPr sz="1000" b="1" i="0">
                          <a:solidFill>
                            <a:srgbClr val="FFFFFF"/>
                          </a:solidFill>
                          <a:latin typeface="Calibri"/>
                        </a:rPr>
                        <a:t>Field</a:t>
                      </a:r>
                    </a:p>
                  </a:txBody>
                  <a:tcPr>
                    <a:solidFill>
                      <a:srgbClr val="1E293B"/>
                    </a:solidFill>
                  </a:tcPr>
                </a:tc>
                <a:tc>
                  <a:txBody>
                    <a:bodyPr wrap="square"/>
                    <a:lstStyle/>
                    <a:p>
                      <a:pPr algn="l"/>
                      <a:r>
                        <a:rPr sz="1000" b="1" i="0">
                          <a:solidFill>
                            <a:srgbClr val="FFFFFF"/>
                          </a:solidFill>
                          <a:latin typeface="Calibri"/>
                        </a:rPr>
                        <a:t>Type</a:t>
                      </a:r>
                    </a:p>
                  </a:txBody>
                  <a:tcPr>
                    <a:solidFill>
                      <a:srgbClr val="1E293B"/>
                    </a:solidFill>
                  </a:tcPr>
                </a:tc>
                <a:tc>
                  <a:txBody>
                    <a:bodyPr wrap="square"/>
                    <a:lstStyle/>
                    <a:p>
                      <a:pPr algn="l"/>
                      <a:r>
                        <a:rPr sz="1000" b="1" i="0">
                          <a:solidFill>
                            <a:srgbClr val="FFFFFF"/>
                          </a:solidFill>
                          <a:latin typeface="Calibri"/>
                        </a:rPr>
                        <a:t>Contract meaning</a:t>
                      </a:r>
                    </a:p>
                  </a:txBody>
                  <a:tcPr>
                    <a:solidFill>
                      <a:srgbClr val="1E293B"/>
                    </a:solidFill>
                  </a:tcPr>
                </a:tc>
              </a:tr>
              <a:tr h="325120">
                <a:tc>
                  <a:txBody>
                    <a:bodyPr wrap="square"/>
                    <a:lstStyle/>
                    <a:p>
                      <a:pPr algn="l"/>
                      <a:r>
                        <a:rPr sz="1000" b="1" i="0">
                          <a:solidFill>
                            <a:srgbClr val="1E293B"/>
                          </a:solidFill>
                          <a:latin typeface="Calibri"/>
                        </a:rPr>
                        <a:t>price_eur</a:t>
                      </a:r>
                    </a:p>
                  </a:txBody>
                  <a:tcPr>
                    <a:solidFill>
                      <a:srgbClr val="FFFFFF"/>
                    </a:solidFill>
                  </a:tcPr>
                </a:tc>
                <a:tc>
                  <a:txBody>
                    <a:bodyPr wrap="square"/>
                    <a:lstStyle/>
                    <a:p>
                      <a:pPr algn="l"/>
                      <a:r>
                        <a:rPr sz="1000" b="0" i="0">
                          <a:solidFill>
                            <a:srgbClr val="475569"/>
                          </a:solidFill>
                          <a:latin typeface="Calibri"/>
                        </a:rPr>
                        <a:t>INTEGER</a:t>
                      </a:r>
                    </a:p>
                  </a:txBody>
                  <a:tcPr>
                    <a:solidFill>
                      <a:srgbClr val="FFFFFF"/>
                    </a:solidFill>
                  </a:tcPr>
                </a:tc>
                <a:tc>
                  <a:txBody>
                    <a:bodyPr wrap="square"/>
                    <a:lstStyle/>
                    <a:p>
                      <a:pPr algn="l"/>
                      <a:r>
                        <a:rPr sz="1000" b="0" i="0">
                          <a:solidFill>
                            <a:srgbClr val="475569"/>
                          </a:solidFill>
                          <a:latin typeface="Calibri"/>
                        </a:rPr>
                        <a:t>Actual listing price in euros</a:t>
                      </a:r>
                    </a:p>
                  </a:txBody>
                  <a:tcPr>
                    <a:solidFill>
                      <a:srgbClr val="FFFFFF"/>
                    </a:solidFill>
                  </a:tcPr>
                </a:tc>
              </a:tr>
              <a:tr h="325120">
                <a:tc>
                  <a:txBody>
                    <a:bodyPr wrap="square"/>
                    <a:lstStyle/>
                    <a:p>
                      <a:pPr algn="l"/>
                      <a:r>
                        <a:rPr sz="1000" b="1" i="0">
                          <a:solidFill>
                            <a:srgbClr val="1E293B"/>
                          </a:solidFill>
                          <a:latin typeface="Calibri"/>
                        </a:rPr>
                        <a:t>mileage_km</a:t>
                      </a:r>
                    </a:p>
                  </a:txBody>
                  <a:tcPr>
                    <a:solidFill>
                      <a:srgbClr val="F1F5F9"/>
                    </a:solidFill>
                  </a:tcPr>
                </a:tc>
                <a:tc>
                  <a:txBody>
                    <a:bodyPr wrap="square"/>
                    <a:lstStyle/>
                    <a:p>
                      <a:pPr algn="l"/>
                      <a:r>
                        <a:rPr sz="1000" b="0" i="0">
                          <a:solidFill>
                            <a:srgbClr val="475569"/>
                          </a:solidFill>
                          <a:latin typeface="Calibri"/>
                        </a:rPr>
                        <a:t>INTEGER</a:t>
                      </a:r>
                    </a:p>
                  </a:txBody>
                  <a:tcPr>
                    <a:solidFill>
                      <a:srgbClr val="F1F5F9"/>
                    </a:solidFill>
                  </a:tcPr>
                </a:tc>
                <a:tc>
                  <a:txBody>
                    <a:bodyPr wrap="square"/>
                    <a:lstStyle/>
                    <a:p>
                      <a:pPr algn="l"/>
                      <a:r>
                        <a:rPr sz="1000" b="0" i="0">
                          <a:solidFill>
                            <a:srgbClr val="475569"/>
                          </a:solidFill>
                          <a:latin typeface="Calibri"/>
                        </a:rPr>
                        <a:t>Odometer reading in kilometres</a:t>
                      </a:r>
                    </a:p>
                  </a:txBody>
                  <a:tcPr>
                    <a:solidFill>
                      <a:srgbClr val="F1F5F9"/>
                    </a:solidFill>
                  </a:tcPr>
                </a:tc>
              </a:tr>
              <a:tr h="325120">
                <a:tc>
                  <a:txBody>
                    <a:bodyPr wrap="square"/>
                    <a:lstStyle/>
                    <a:p>
                      <a:pPr algn="l"/>
                      <a:r>
                        <a:rPr sz="1000" b="1" i="0">
                          <a:solidFill>
                            <a:srgbClr val="1E293B"/>
                          </a:solidFill>
                          <a:latin typeface="Calibri"/>
                        </a:rPr>
                        <a:t>fuel_type</a:t>
                      </a:r>
                    </a:p>
                  </a:txBody>
                  <a:tcPr>
                    <a:solidFill>
                      <a:srgbClr val="FFFFFF"/>
                    </a:solidFill>
                  </a:tcPr>
                </a:tc>
                <a:tc>
                  <a:txBody>
                    <a:bodyPr wrap="square"/>
                    <a:lstStyle/>
                    <a:p>
                      <a:pPr algn="l"/>
                      <a:r>
                        <a:rPr sz="1000" b="0" i="0">
                          <a:solidFill>
                            <a:srgbClr val="475569"/>
                          </a:solidFill>
                          <a:latin typeface="Calibri"/>
                        </a:rPr>
                        <a:t>STRING</a:t>
                      </a:r>
                    </a:p>
                  </a:txBody>
                  <a:tcPr>
                    <a:solidFill>
                      <a:srgbClr val="FFFFFF"/>
                    </a:solidFill>
                  </a:tcPr>
                </a:tc>
                <a:tc>
                  <a:txBody>
                    <a:bodyPr wrap="square"/>
                    <a:lstStyle/>
                    <a:p>
                      <a:pPr algn="l"/>
                      <a:r>
                        <a:rPr sz="1000" b="0" i="0">
                          <a:solidFill>
                            <a:srgbClr val="475569"/>
                          </a:solidFill>
                          <a:latin typeface="Calibri"/>
                        </a:rPr>
                        <a:t>Normalized fuel category</a:t>
                      </a:r>
                    </a:p>
                  </a:txBody>
                  <a:tcPr>
                    <a:solidFill>
                      <a:srgbClr val="FFFFFF"/>
                    </a:solidFill>
                  </a:tcPr>
                </a:tc>
              </a:tr>
              <a:tr h="325120">
                <a:tc>
                  <a:txBody>
                    <a:bodyPr wrap="square"/>
                    <a:lstStyle/>
                    <a:p>
                      <a:pPr algn="l"/>
                      <a:r>
                        <a:rPr sz="1000" b="1" i="0">
                          <a:solidFill>
                            <a:srgbClr val="1E293B"/>
                          </a:solidFill>
                          <a:latin typeface="Calibri"/>
                        </a:rPr>
                        <a:t>age_years</a:t>
                      </a:r>
                    </a:p>
                  </a:txBody>
                  <a:tcPr>
                    <a:solidFill>
                      <a:srgbClr val="F1F5F9"/>
                    </a:solidFill>
                  </a:tcPr>
                </a:tc>
                <a:tc>
                  <a:txBody>
                    <a:bodyPr wrap="square"/>
                    <a:lstStyle/>
                    <a:p>
                      <a:pPr algn="l"/>
                      <a:r>
                        <a:rPr sz="1000" b="0" i="0">
                          <a:solidFill>
                            <a:srgbClr val="475569"/>
                          </a:solidFill>
                          <a:latin typeface="Calibri"/>
                        </a:rPr>
                        <a:t>FLOAT</a:t>
                      </a:r>
                    </a:p>
                  </a:txBody>
                  <a:tcPr>
                    <a:solidFill>
                      <a:srgbClr val="F1F5F9"/>
                    </a:solidFill>
                  </a:tcPr>
                </a:tc>
                <a:tc>
                  <a:txBody>
                    <a:bodyPr wrap="square"/>
                    <a:lstStyle/>
                    <a:p>
                      <a:pPr algn="l"/>
                      <a:r>
                        <a:rPr sz="1000" b="0" i="0">
                          <a:solidFill>
                            <a:srgbClr val="475569"/>
                          </a:solidFill>
                          <a:latin typeface="Calibri"/>
                        </a:rPr>
                        <a:t>Vehicle age at capture time</a:t>
                      </a:r>
                    </a:p>
                  </a:txBody>
                  <a:tcPr>
                    <a:solidFill>
                      <a:srgbClr val="F1F5F9"/>
                    </a:solidFill>
                  </a:tcPr>
                </a:tc>
              </a:tr>
              <a:tr h="325120">
                <a:tc>
                  <a:txBody>
                    <a:bodyPr wrap="square"/>
                    <a:lstStyle/>
                    <a:p>
                      <a:pPr algn="l"/>
                      <a:r>
                        <a:rPr sz="1000" b="1" i="0">
                          <a:solidFill>
                            <a:srgbClr val="1E293B"/>
                          </a:solidFill>
                          <a:latin typeface="Calibri"/>
                        </a:rPr>
                        <a:t>price_outlier_iqr</a:t>
                      </a:r>
                    </a:p>
                  </a:txBody>
                  <a:tcPr>
                    <a:solidFill>
                      <a:srgbClr val="FFFFFF"/>
                    </a:solidFill>
                  </a:tcPr>
                </a:tc>
                <a:tc>
                  <a:txBody>
                    <a:bodyPr wrap="square"/>
                    <a:lstStyle/>
                    <a:p>
                      <a:pPr algn="l"/>
                      <a:r>
                        <a:rPr sz="1000" b="0" i="0">
                          <a:solidFill>
                            <a:srgbClr val="475569"/>
                          </a:solidFill>
                          <a:latin typeface="Calibri"/>
                        </a:rPr>
                        <a:t>BOOLEAN</a:t>
                      </a:r>
                    </a:p>
                  </a:txBody>
                  <a:tcPr>
                    <a:solidFill>
                      <a:srgbClr val="FFFFFF"/>
                    </a:solidFill>
                  </a:tcPr>
                </a:tc>
                <a:tc>
                  <a:txBody>
                    <a:bodyPr wrap="square"/>
                    <a:lstStyle/>
                    <a:p>
                      <a:pPr algn="l"/>
                      <a:r>
                        <a:rPr sz="1000" b="0" i="0">
                          <a:solidFill>
                            <a:srgbClr val="475569"/>
                          </a:solidFill>
                          <a:latin typeface="Calibri"/>
                        </a:rPr>
                        <a:t>True if price is outside IQR bounds</a:t>
                      </a:r>
                    </a:p>
                  </a:txBody>
                  <a:tcPr>
                    <a:solidFill>
                      <a:srgbClr val="FFFFFF"/>
                    </a:solidFill>
                  </a:tcPr>
                </a:tc>
              </a:tr>
              <a:tr h="325120">
                <a:tc>
                  <a:txBody>
                    <a:bodyPr wrap="square"/>
                    <a:lstStyle/>
                    <a:p>
                      <a:pPr algn="l"/>
                      <a:r>
                        <a:rPr sz="1000" b="1" i="0">
                          <a:solidFill>
                            <a:srgbClr val="1E293B"/>
                          </a:solidFill>
                          <a:latin typeface="Calibri"/>
                        </a:rPr>
                        <a:t>mileage_outlier_iqr</a:t>
                      </a:r>
                    </a:p>
                  </a:txBody>
                  <a:tcPr>
                    <a:solidFill>
                      <a:srgbClr val="F1F5F9"/>
                    </a:solidFill>
                  </a:tcPr>
                </a:tc>
                <a:tc>
                  <a:txBody>
                    <a:bodyPr wrap="square"/>
                    <a:lstStyle/>
                    <a:p>
                      <a:pPr algn="l"/>
                      <a:r>
                        <a:rPr sz="1000" b="0" i="0">
                          <a:solidFill>
                            <a:srgbClr val="475569"/>
                          </a:solidFill>
                          <a:latin typeface="Calibri"/>
                        </a:rPr>
                        <a:t>BOOLEAN</a:t>
                      </a:r>
                    </a:p>
                  </a:txBody>
                  <a:tcPr>
                    <a:solidFill>
                      <a:srgbClr val="F1F5F9"/>
                    </a:solidFill>
                  </a:tcPr>
                </a:tc>
                <a:tc>
                  <a:txBody>
                    <a:bodyPr wrap="square"/>
                    <a:lstStyle/>
                    <a:p>
                      <a:pPr algn="l"/>
                      <a:r>
                        <a:rPr sz="1000" b="0" i="0">
                          <a:solidFill>
                            <a:srgbClr val="475569"/>
                          </a:solidFill>
                          <a:latin typeface="Calibri"/>
                        </a:rPr>
                        <a:t>True if mileage is outside IQR bounds</a:t>
                      </a:r>
                    </a:p>
                  </a:txBody>
                  <a:tcPr>
                    <a:solidFill>
                      <a:srgbClr val="F1F5F9"/>
                    </a:solidFill>
                  </a:tcPr>
                </a:tc>
              </a:tr>
              <a:tr h="325120">
                <a:tc>
                  <a:txBody>
                    <a:bodyPr wrap="square"/>
                    <a:lstStyle/>
                    <a:p>
                      <a:pPr algn="l"/>
                      <a:r>
                        <a:rPr sz="1000" b="1" i="0">
                          <a:solidFill>
                            <a:srgbClr val="1E293B"/>
                          </a:solidFill>
                          <a:latin typeface="Calibri"/>
                        </a:rPr>
                        <a:t>logical_issue</a:t>
                      </a:r>
                    </a:p>
                  </a:txBody>
                  <a:tcPr>
                    <a:solidFill>
                      <a:srgbClr val="FFFFFF"/>
                    </a:solidFill>
                  </a:tcPr>
                </a:tc>
                <a:tc>
                  <a:txBody>
                    <a:bodyPr wrap="square"/>
                    <a:lstStyle/>
                    <a:p>
                      <a:pPr algn="l"/>
                      <a:r>
                        <a:rPr sz="1000" b="0" i="0">
                          <a:solidFill>
                            <a:srgbClr val="475569"/>
                          </a:solidFill>
                          <a:latin typeface="Calibri"/>
                        </a:rPr>
                        <a:t>BOOLEAN</a:t>
                      </a:r>
                    </a:p>
                  </a:txBody>
                  <a:tcPr>
                    <a:solidFill>
                      <a:srgbClr val="FFFFFF"/>
                    </a:solidFill>
                  </a:tcPr>
                </a:tc>
                <a:tc>
                  <a:txBody>
                    <a:bodyPr wrap="square"/>
                    <a:lstStyle/>
                    <a:p>
                      <a:pPr algn="l"/>
                      <a:r>
                        <a:rPr sz="1000" b="0" i="0">
                          <a:solidFill>
                            <a:srgbClr val="475569"/>
                          </a:solidFill>
                          <a:latin typeface="Calibri"/>
                        </a:rPr>
                        <a:t>True if price/mileage combination is implausible</a:t>
                      </a:r>
                    </a:p>
                  </a:txBody>
                  <a:tcPr>
                    <a:solidFill>
                      <a:srgbClr val="FFFFFF"/>
                    </a:solidFill>
                  </a:tcPr>
                </a:tc>
              </a:tr>
              <a:tr h="325120">
                <a:tc>
                  <a:txBody>
                    <a:bodyPr wrap="square"/>
                    <a:lstStyle/>
                    <a:p>
                      <a:pPr algn="l"/>
                      <a:r>
                        <a:rPr sz="1000" b="1" i="0">
                          <a:solidFill>
                            <a:srgbClr val="1E293B"/>
                          </a:solidFill>
                          <a:latin typeface="Calibri"/>
                        </a:rPr>
                        <a:t>price_label</a:t>
                      </a:r>
                    </a:p>
                  </a:txBody>
                  <a:tcPr>
                    <a:solidFill>
                      <a:srgbClr val="F1F5F9"/>
                    </a:solidFill>
                  </a:tcPr>
                </a:tc>
                <a:tc>
                  <a:txBody>
                    <a:bodyPr wrap="square"/>
                    <a:lstStyle/>
                    <a:p>
                      <a:pPr algn="l"/>
                      <a:r>
                        <a:rPr sz="1000" b="0" i="0">
                          <a:solidFill>
                            <a:srgbClr val="475569"/>
                          </a:solidFill>
                          <a:latin typeface="Calibri"/>
                        </a:rPr>
                        <a:t>STRING</a:t>
                      </a:r>
                    </a:p>
                  </a:txBody>
                  <a:tcPr>
                    <a:solidFill>
                      <a:srgbClr val="F1F5F9"/>
                    </a:solidFill>
                  </a:tcPr>
                </a:tc>
                <a:tc>
                  <a:txBody>
                    <a:bodyPr wrap="square"/>
                    <a:lstStyle/>
                    <a:p>
                      <a:pPr algn="l"/>
                      <a:r>
                        <a:rPr sz="1000" b="0" i="0">
                          <a:solidFill>
                            <a:srgbClr val="475569"/>
                          </a:solidFill>
                          <a:latin typeface="Calibri"/>
                        </a:rPr>
                        <a:t>Source platform price tier label</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3 — Warehouse as source of truth</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warehouse is not storage. It is the trust system of the product.</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Notebook vs. Warehouse</a:t>
            </a:r>
          </a:p>
        </p:txBody>
      </p:sp>
      <p:sp>
        <p:nvSpPr>
          <p:cNvPr id="10" name="Rectangle 9"/>
          <p:cNvSpPr/>
          <p:nvPr/>
        </p:nvSpPr>
        <p:spPr>
          <a:xfrm>
            <a:off x="429768" y="1207008"/>
            <a:ext cx="1920240" cy="2743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207008"/>
            <a:ext cx="1920240" cy="274320"/>
          </a:xfrm>
          <a:prstGeom prst="rect">
            <a:avLst/>
          </a:prstGeom>
          <a:noFill/>
          <a:ln>
            <a:noFill/>
          </a:ln>
        </p:spPr>
        <p:txBody>
          <a:bodyPr wrap="square">
            <a:spAutoFit/>
          </a:bodyPr>
          <a:lstStyle/>
          <a:p>
            <a:pPr algn="ctr"/>
            <a:r>
              <a:rPr sz="950" b="1" i="0">
                <a:solidFill>
                  <a:srgbClr val="FFFFFF"/>
                </a:solidFill>
                <a:latin typeface="Calibri"/>
              </a:rPr>
              <a:t>Notebook</a:t>
            </a:r>
          </a:p>
        </p:txBody>
      </p:sp>
      <p:sp>
        <p:nvSpPr>
          <p:cNvPr id="12" name="Rectangle 11"/>
          <p:cNvSpPr/>
          <p:nvPr/>
        </p:nvSpPr>
        <p:spPr>
          <a:xfrm>
            <a:off x="2350008" y="1207008"/>
            <a:ext cx="2011680" cy="2743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50008" y="1207008"/>
            <a:ext cx="2011680" cy="274320"/>
          </a:xfrm>
          <a:prstGeom prst="rect">
            <a:avLst/>
          </a:prstGeom>
          <a:noFill/>
          <a:ln>
            <a:noFill/>
          </a:ln>
        </p:spPr>
        <p:txBody>
          <a:bodyPr wrap="square">
            <a:spAutoFit/>
          </a:bodyPr>
          <a:lstStyle/>
          <a:p>
            <a:pPr algn="ctr"/>
            <a:r>
              <a:rPr sz="950" b="1" i="0">
                <a:solidFill>
                  <a:srgbClr val="FFFFFF"/>
                </a:solidFill>
                <a:latin typeface="Calibri"/>
              </a:rPr>
              <a:t>Warehouse</a:t>
            </a:r>
          </a:p>
        </p:txBody>
      </p:sp>
      <p:sp>
        <p:nvSpPr>
          <p:cNvPr id="14" name="Rectangle 13"/>
          <p:cNvSpPr/>
          <p:nvPr/>
        </p:nvSpPr>
        <p:spPr>
          <a:xfrm>
            <a:off x="429768" y="1481328"/>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 y="1481328"/>
            <a:ext cx="1828800" cy="365760"/>
          </a:xfrm>
          <a:prstGeom prst="rect">
            <a:avLst/>
          </a:prstGeom>
          <a:noFill/>
          <a:ln>
            <a:noFill/>
          </a:ln>
        </p:spPr>
        <p:txBody>
          <a:bodyPr wrap="square">
            <a:spAutoFit/>
          </a:bodyPr>
          <a:lstStyle/>
          <a:p>
            <a:pPr algn="l"/>
            <a:r>
              <a:rPr sz="950" b="0" i="0">
                <a:solidFill>
                  <a:srgbClr val="475569"/>
                </a:solidFill>
                <a:latin typeface="Calibri"/>
              </a:rPr>
              <a:t>Local CSV files</a:t>
            </a:r>
          </a:p>
        </p:txBody>
      </p:sp>
      <p:sp>
        <p:nvSpPr>
          <p:cNvPr id="16" name="Rectangle 15"/>
          <p:cNvSpPr/>
          <p:nvPr/>
        </p:nvSpPr>
        <p:spPr>
          <a:xfrm>
            <a:off x="2350008" y="1481328"/>
            <a:ext cx="20116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04872" y="1481328"/>
            <a:ext cx="1920240" cy="365760"/>
          </a:xfrm>
          <a:prstGeom prst="rect">
            <a:avLst/>
          </a:prstGeom>
          <a:noFill/>
          <a:ln>
            <a:noFill/>
          </a:ln>
        </p:spPr>
        <p:txBody>
          <a:bodyPr wrap="square">
            <a:spAutoFit/>
          </a:bodyPr>
          <a:lstStyle/>
          <a:p>
            <a:pPr algn="l"/>
            <a:r>
              <a:rPr sz="950" b="1" i="0">
                <a:solidFill>
                  <a:srgbClr val="1E293B"/>
                </a:solidFill>
                <a:latin typeface="Calibri"/>
              </a:rPr>
              <a:t>BigQuery tables</a:t>
            </a:r>
          </a:p>
        </p:txBody>
      </p:sp>
      <p:sp>
        <p:nvSpPr>
          <p:cNvPr id="18" name="Rectangle 17"/>
          <p:cNvSpPr/>
          <p:nvPr/>
        </p:nvSpPr>
        <p:spPr>
          <a:xfrm>
            <a:off x="429768" y="1847088"/>
            <a:ext cx="192024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1847088"/>
            <a:ext cx="1828800" cy="365760"/>
          </a:xfrm>
          <a:prstGeom prst="rect">
            <a:avLst/>
          </a:prstGeom>
          <a:noFill/>
          <a:ln>
            <a:noFill/>
          </a:ln>
        </p:spPr>
        <p:txBody>
          <a:bodyPr wrap="square">
            <a:spAutoFit/>
          </a:bodyPr>
          <a:lstStyle/>
          <a:p>
            <a:pPr algn="l"/>
            <a:r>
              <a:rPr sz="950" b="0" i="0">
                <a:solidFill>
                  <a:srgbClr val="475569"/>
                </a:solidFill>
                <a:latin typeface="Calibri"/>
              </a:rPr>
              <a:t>Implicit schema</a:t>
            </a:r>
          </a:p>
        </p:txBody>
      </p:sp>
      <p:sp>
        <p:nvSpPr>
          <p:cNvPr id="20" name="Rectangle 19"/>
          <p:cNvSpPr/>
          <p:nvPr/>
        </p:nvSpPr>
        <p:spPr>
          <a:xfrm>
            <a:off x="2350008" y="1847088"/>
            <a:ext cx="201168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04872" y="1847088"/>
            <a:ext cx="1920240" cy="365760"/>
          </a:xfrm>
          <a:prstGeom prst="rect">
            <a:avLst/>
          </a:prstGeom>
          <a:noFill/>
          <a:ln>
            <a:noFill/>
          </a:ln>
        </p:spPr>
        <p:txBody>
          <a:bodyPr wrap="square">
            <a:spAutoFit/>
          </a:bodyPr>
          <a:lstStyle/>
          <a:p>
            <a:pPr algn="l"/>
            <a:r>
              <a:rPr sz="950" b="1" i="0">
                <a:solidFill>
                  <a:srgbClr val="1E293B"/>
                </a:solidFill>
                <a:latin typeface="Calibri"/>
              </a:rPr>
              <a:t>Declared DDL</a:t>
            </a:r>
          </a:p>
        </p:txBody>
      </p:sp>
      <p:sp>
        <p:nvSpPr>
          <p:cNvPr id="22" name="Rectangle 21"/>
          <p:cNvSpPr/>
          <p:nvPr/>
        </p:nvSpPr>
        <p:spPr>
          <a:xfrm>
            <a:off x="429768" y="2212848"/>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 y="2212848"/>
            <a:ext cx="1828800" cy="365760"/>
          </a:xfrm>
          <a:prstGeom prst="rect">
            <a:avLst/>
          </a:prstGeom>
          <a:noFill/>
          <a:ln>
            <a:noFill/>
          </a:ln>
        </p:spPr>
        <p:txBody>
          <a:bodyPr wrap="square">
            <a:spAutoFit/>
          </a:bodyPr>
          <a:lstStyle/>
          <a:p>
            <a:pPr algn="l"/>
            <a:r>
              <a:rPr sz="950" b="0" i="0">
                <a:solidFill>
                  <a:srgbClr val="475569"/>
                </a:solidFill>
                <a:latin typeface="Calibri"/>
              </a:rPr>
              <a:t>Manual execution</a:t>
            </a:r>
          </a:p>
        </p:txBody>
      </p:sp>
      <p:sp>
        <p:nvSpPr>
          <p:cNvPr id="24" name="Rectangle 23"/>
          <p:cNvSpPr/>
          <p:nvPr/>
        </p:nvSpPr>
        <p:spPr>
          <a:xfrm>
            <a:off x="2350008" y="2212848"/>
            <a:ext cx="20116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04872" y="2212848"/>
            <a:ext cx="1920240" cy="365760"/>
          </a:xfrm>
          <a:prstGeom prst="rect">
            <a:avLst/>
          </a:prstGeom>
          <a:noFill/>
          <a:ln>
            <a:noFill/>
          </a:ln>
        </p:spPr>
        <p:txBody>
          <a:bodyPr wrap="square">
            <a:spAutoFit/>
          </a:bodyPr>
          <a:lstStyle/>
          <a:p>
            <a:pPr algn="l"/>
            <a:r>
              <a:rPr sz="950" b="1" i="0">
                <a:solidFill>
                  <a:srgbClr val="1E293B"/>
                </a:solidFill>
                <a:latin typeface="Calibri"/>
              </a:rPr>
              <a:t>Ordered SQL assets</a:t>
            </a:r>
          </a:p>
        </p:txBody>
      </p:sp>
      <p:sp>
        <p:nvSpPr>
          <p:cNvPr id="26" name="Rectangle 25"/>
          <p:cNvSpPr/>
          <p:nvPr/>
        </p:nvSpPr>
        <p:spPr>
          <a:xfrm>
            <a:off x="429768" y="2578608"/>
            <a:ext cx="192024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 y="2578608"/>
            <a:ext cx="1828800" cy="365760"/>
          </a:xfrm>
          <a:prstGeom prst="rect">
            <a:avLst/>
          </a:prstGeom>
          <a:noFill/>
          <a:ln>
            <a:noFill/>
          </a:ln>
        </p:spPr>
        <p:txBody>
          <a:bodyPr wrap="square">
            <a:spAutoFit/>
          </a:bodyPr>
          <a:lstStyle/>
          <a:p>
            <a:pPr algn="l"/>
            <a:r>
              <a:rPr sz="950" b="0" i="0">
                <a:solidFill>
                  <a:srgbClr val="475569"/>
                </a:solidFill>
                <a:latin typeface="Calibri"/>
              </a:rPr>
              <a:t>No version control on data</a:t>
            </a:r>
          </a:p>
        </p:txBody>
      </p:sp>
      <p:sp>
        <p:nvSpPr>
          <p:cNvPr id="28" name="Rectangle 27"/>
          <p:cNvSpPr/>
          <p:nvPr/>
        </p:nvSpPr>
        <p:spPr>
          <a:xfrm>
            <a:off x="2350008" y="2578608"/>
            <a:ext cx="201168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404872" y="2578608"/>
            <a:ext cx="1920240" cy="365760"/>
          </a:xfrm>
          <a:prstGeom prst="rect">
            <a:avLst/>
          </a:prstGeom>
          <a:noFill/>
          <a:ln>
            <a:noFill/>
          </a:ln>
        </p:spPr>
        <p:txBody>
          <a:bodyPr wrap="square">
            <a:spAutoFit/>
          </a:bodyPr>
          <a:lstStyle/>
          <a:p>
            <a:pPr algn="l"/>
            <a:r>
              <a:rPr sz="950" b="1" i="0">
                <a:solidFill>
                  <a:srgbClr val="1E293B"/>
                </a:solidFill>
                <a:latin typeface="Calibri"/>
              </a:rPr>
              <a:t>Stable, queryable history</a:t>
            </a:r>
          </a:p>
        </p:txBody>
      </p:sp>
      <p:sp>
        <p:nvSpPr>
          <p:cNvPr id="30" name="Rectangle 29"/>
          <p:cNvSpPr/>
          <p:nvPr/>
        </p:nvSpPr>
        <p:spPr>
          <a:xfrm>
            <a:off x="429768" y="2944368"/>
            <a:ext cx="19202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 y="2944368"/>
            <a:ext cx="1828800" cy="365760"/>
          </a:xfrm>
          <a:prstGeom prst="rect">
            <a:avLst/>
          </a:prstGeom>
          <a:noFill/>
          <a:ln>
            <a:noFill/>
          </a:ln>
        </p:spPr>
        <p:txBody>
          <a:bodyPr wrap="square">
            <a:spAutoFit/>
          </a:bodyPr>
          <a:lstStyle/>
          <a:p>
            <a:pPr algn="l"/>
            <a:r>
              <a:rPr sz="950" b="0" i="0">
                <a:solidFill>
                  <a:srgbClr val="475569"/>
                </a:solidFill>
                <a:latin typeface="Calibri"/>
              </a:rPr>
              <a:t>Team-specific</a:t>
            </a:r>
          </a:p>
        </p:txBody>
      </p:sp>
      <p:sp>
        <p:nvSpPr>
          <p:cNvPr id="32" name="Rectangle 31"/>
          <p:cNvSpPr/>
          <p:nvPr/>
        </p:nvSpPr>
        <p:spPr>
          <a:xfrm>
            <a:off x="2350008" y="2944368"/>
            <a:ext cx="20116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04872" y="2944368"/>
            <a:ext cx="1920240" cy="365760"/>
          </a:xfrm>
          <a:prstGeom prst="rect">
            <a:avLst/>
          </a:prstGeom>
          <a:noFill/>
          <a:ln>
            <a:noFill/>
          </a:ln>
        </p:spPr>
        <p:txBody>
          <a:bodyPr wrap="square">
            <a:spAutoFit/>
          </a:bodyPr>
          <a:lstStyle/>
          <a:p>
            <a:pPr algn="l"/>
            <a:r>
              <a:rPr sz="950" b="1" i="0">
                <a:solidFill>
                  <a:srgbClr val="1E293B"/>
                </a:solidFill>
                <a:latin typeface="Calibri"/>
              </a:rPr>
              <a:t>Organization-wide</a:t>
            </a:r>
          </a:p>
        </p:txBody>
      </p:sp>
      <p:sp>
        <p:nvSpPr>
          <p:cNvPr id="34" name="Rectangle 33"/>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Warehouse build sequence</a:t>
            </a:r>
          </a:p>
        </p:txBody>
      </p:sp>
      <p:sp>
        <p:nvSpPr>
          <p:cNvPr id="36" name="Rectangle 35"/>
          <p:cNvSpPr/>
          <p:nvPr/>
        </p:nvSpPr>
        <p:spPr>
          <a:xfrm>
            <a:off x="4544568" y="120700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1207008"/>
            <a:ext cx="640080" cy="365760"/>
          </a:xfrm>
          <a:prstGeom prst="rect">
            <a:avLst/>
          </a:prstGeom>
          <a:noFill/>
          <a:ln>
            <a:noFill/>
          </a:ln>
        </p:spPr>
        <p:txBody>
          <a:bodyPr wrap="square">
            <a:spAutoFit/>
          </a:bodyPr>
          <a:lstStyle/>
          <a:p>
            <a:pPr algn="l"/>
            <a:r>
              <a:rPr sz="950" b="1" i="0">
                <a:solidFill>
                  <a:srgbClr val="4F46E5"/>
                </a:solidFill>
                <a:latin typeface="Calibri"/>
              </a:rPr>
              <a:t>sql/00</a:t>
            </a:r>
          </a:p>
        </p:txBody>
      </p:sp>
      <p:sp>
        <p:nvSpPr>
          <p:cNvPr id="38" name="TextBox 37"/>
          <p:cNvSpPr txBox="1"/>
          <p:nvPr/>
        </p:nvSpPr>
        <p:spPr>
          <a:xfrm>
            <a:off x="5276088" y="1207008"/>
            <a:ext cx="3154680" cy="365760"/>
          </a:xfrm>
          <a:prstGeom prst="rect">
            <a:avLst/>
          </a:prstGeom>
          <a:noFill/>
          <a:ln>
            <a:noFill/>
          </a:ln>
        </p:spPr>
        <p:txBody>
          <a:bodyPr wrap="square">
            <a:spAutoFit/>
          </a:bodyPr>
          <a:lstStyle/>
          <a:p>
            <a:pPr algn="l"/>
            <a:r>
              <a:rPr sz="950" b="0" i="0">
                <a:solidFill>
                  <a:srgbClr val="475569"/>
                </a:solidFill>
                <a:latin typeface="Calibri"/>
              </a:rPr>
              <a:t>Dataset creation</a:t>
            </a:r>
          </a:p>
        </p:txBody>
      </p:sp>
      <p:sp>
        <p:nvSpPr>
          <p:cNvPr id="39" name="Rectangle 38"/>
          <p:cNvSpPr/>
          <p:nvPr/>
        </p:nvSpPr>
        <p:spPr>
          <a:xfrm>
            <a:off x="4544568" y="157276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1572768"/>
            <a:ext cx="640080" cy="365760"/>
          </a:xfrm>
          <a:prstGeom prst="rect">
            <a:avLst/>
          </a:prstGeom>
          <a:noFill/>
          <a:ln>
            <a:noFill/>
          </a:ln>
        </p:spPr>
        <p:txBody>
          <a:bodyPr wrap="square">
            <a:spAutoFit/>
          </a:bodyPr>
          <a:lstStyle/>
          <a:p>
            <a:pPr algn="l"/>
            <a:r>
              <a:rPr sz="950" b="1" i="0">
                <a:solidFill>
                  <a:srgbClr val="4F46E5"/>
                </a:solidFill>
                <a:latin typeface="Calibri"/>
              </a:rPr>
              <a:t>sql/01</a:t>
            </a:r>
          </a:p>
        </p:txBody>
      </p:sp>
      <p:sp>
        <p:nvSpPr>
          <p:cNvPr id="41" name="TextBox 40"/>
          <p:cNvSpPr txBox="1"/>
          <p:nvPr/>
        </p:nvSpPr>
        <p:spPr>
          <a:xfrm>
            <a:off x="5276088" y="1572768"/>
            <a:ext cx="3154680" cy="365760"/>
          </a:xfrm>
          <a:prstGeom prst="rect">
            <a:avLst/>
          </a:prstGeom>
          <a:noFill/>
          <a:ln>
            <a:noFill/>
          </a:ln>
        </p:spPr>
        <p:txBody>
          <a:bodyPr wrap="square">
            <a:spAutoFit/>
          </a:bodyPr>
          <a:lstStyle/>
          <a:p>
            <a:pPr algn="l"/>
            <a:r>
              <a:rPr sz="950" b="0" i="0">
                <a:solidFill>
                  <a:srgbClr val="475569"/>
                </a:solidFill>
                <a:latin typeface="Calibri"/>
              </a:rPr>
              <a:t>Staging  (stg_listings_clean)</a:t>
            </a:r>
          </a:p>
        </p:txBody>
      </p:sp>
      <p:sp>
        <p:nvSpPr>
          <p:cNvPr id="42" name="Rectangle 41"/>
          <p:cNvSpPr/>
          <p:nvPr/>
        </p:nvSpPr>
        <p:spPr>
          <a:xfrm>
            <a:off x="4544568" y="193852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17720" y="1938528"/>
            <a:ext cx="640080" cy="365760"/>
          </a:xfrm>
          <a:prstGeom prst="rect">
            <a:avLst/>
          </a:prstGeom>
          <a:noFill/>
          <a:ln>
            <a:noFill/>
          </a:ln>
        </p:spPr>
        <p:txBody>
          <a:bodyPr wrap="square">
            <a:spAutoFit/>
          </a:bodyPr>
          <a:lstStyle/>
          <a:p>
            <a:pPr algn="l"/>
            <a:r>
              <a:rPr sz="950" b="1" i="0">
                <a:solidFill>
                  <a:srgbClr val="4F46E5"/>
                </a:solidFill>
                <a:latin typeface="Calibri"/>
              </a:rPr>
              <a:t>sql/02</a:t>
            </a:r>
          </a:p>
        </p:txBody>
      </p:sp>
      <p:sp>
        <p:nvSpPr>
          <p:cNvPr id="44" name="TextBox 43"/>
          <p:cNvSpPr txBox="1"/>
          <p:nvPr/>
        </p:nvSpPr>
        <p:spPr>
          <a:xfrm>
            <a:off x="5276088" y="1938528"/>
            <a:ext cx="3154680" cy="365760"/>
          </a:xfrm>
          <a:prstGeom prst="rect">
            <a:avLst/>
          </a:prstGeom>
          <a:noFill/>
          <a:ln>
            <a:noFill/>
          </a:ln>
        </p:spPr>
        <p:txBody>
          <a:bodyPr wrap="square">
            <a:spAutoFit/>
          </a:bodyPr>
          <a:lstStyle/>
          <a:p>
            <a:pPr algn="l"/>
            <a:r>
              <a:rPr sz="950" b="0" i="0">
                <a:solidFill>
                  <a:srgbClr val="475569"/>
                </a:solidFill>
                <a:latin typeface="Calibri"/>
              </a:rPr>
              <a:t>Dimensions  (dim_model, dim_fuel, dim_country, dim_price_label)</a:t>
            </a:r>
          </a:p>
        </p:txBody>
      </p:sp>
      <p:sp>
        <p:nvSpPr>
          <p:cNvPr id="45" name="Rectangle 44"/>
          <p:cNvSpPr/>
          <p:nvPr/>
        </p:nvSpPr>
        <p:spPr>
          <a:xfrm>
            <a:off x="4544568" y="230428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2304288"/>
            <a:ext cx="640080" cy="365760"/>
          </a:xfrm>
          <a:prstGeom prst="rect">
            <a:avLst/>
          </a:prstGeom>
          <a:noFill/>
          <a:ln>
            <a:noFill/>
          </a:ln>
        </p:spPr>
        <p:txBody>
          <a:bodyPr wrap="square">
            <a:spAutoFit/>
          </a:bodyPr>
          <a:lstStyle/>
          <a:p>
            <a:pPr algn="l"/>
            <a:r>
              <a:rPr sz="950" b="1" i="0">
                <a:solidFill>
                  <a:srgbClr val="4F46E5"/>
                </a:solidFill>
                <a:latin typeface="Calibri"/>
              </a:rPr>
              <a:t>sql/03</a:t>
            </a:r>
          </a:p>
        </p:txBody>
      </p:sp>
      <p:sp>
        <p:nvSpPr>
          <p:cNvPr id="47" name="TextBox 46"/>
          <p:cNvSpPr txBox="1"/>
          <p:nvPr/>
        </p:nvSpPr>
        <p:spPr>
          <a:xfrm>
            <a:off x="5276088" y="2304288"/>
            <a:ext cx="3154680" cy="365760"/>
          </a:xfrm>
          <a:prstGeom prst="rect">
            <a:avLst/>
          </a:prstGeom>
          <a:noFill/>
          <a:ln>
            <a:noFill/>
          </a:ln>
        </p:spPr>
        <p:txBody>
          <a:bodyPr wrap="square">
            <a:spAutoFit/>
          </a:bodyPr>
          <a:lstStyle/>
          <a:p>
            <a:pPr algn="l"/>
            <a:r>
              <a:rPr sz="950" b="0" i="0">
                <a:solidFill>
                  <a:srgbClr val="475569"/>
                </a:solidFill>
                <a:latin typeface="Calibri"/>
              </a:rPr>
              <a:t>Fact  (fact_listings)</a:t>
            </a:r>
          </a:p>
        </p:txBody>
      </p:sp>
      <p:sp>
        <p:nvSpPr>
          <p:cNvPr id="48" name="Rectangle 47"/>
          <p:cNvSpPr/>
          <p:nvPr/>
        </p:nvSpPr>
        <p:spPr>
          <a:xfrm>
            <a:off x="4544568" y="267004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2670048"/>
            <a:ext cx="640080" cy="365760"/>
          </a:xfrm>
          <a:prstGeom prst="rect">
            <a:avLst/>
          </a:prstGeom>
          <a:noFill/>
          <a:ln>
            <a:noFill/>
          </a:ln>
        </p:spPr>
        <p:txBody>
          <a:bodyPr wrap="square">
            <a:spAutoFit/>
          </a:bodyPr>
          <a:lstStyle/>
          <a:p>
            <a:pPr algn="l"/>
            <a:r>
              <a:rPr sz="950" b="1" i="0">
                <a:solidFill>
                  <a:srgbClr val="4F46E5"/>
                </a:solidFill>
                <a:latin typeface="Calibri"/>
              </a:rPr>
              <a:t>sql/04</a:t>
            </a:r>
          </a:p>
        </p:txBody>
      </p:sp>
      <p:sp>
        <p:nvSpPr>
          <p:cNvPr id="50" name="TextBox 49"/>
          <p:cNvSpPr txBox="1"/>
          <p:nvPr/>
        </p:nvSpPr>
        <p:spPr>
          <a:xfrm>
            <a:off x="5276088" y="2670048"/>
            <a:ext cx="3154680" cy="365760"/>
          </a:xfrm>
          <a:prstGeom prst="rect">
            <a:avLst/>
          </a:prstGeom>
          <a:noFill/>
          <a:ln>
            <a:noFill/>
          </a:ln>
        </p:spPr>
        <p:txBody>
          <a:bodyPr wrap="square">
            <a:spAutoFit/>
          </a:bodyPr>
          <a:lstStyle/>
          <a:p>
            <a:pPr algn="l"/>
            <a:r>
              <a:rPr sz="950" b="0" i="0">
                <a:solidFill>
                  <a:srgbClr val="475569"/>
                </a:solidFill>
                <a:latin typeface="Calibri"/>
              </a:rPr>
              <a:t>Regression view  (vw_regression_dataset)</a:t>
            </a:r>
          </a:p>
        </p:txBody>
      </p:sp>
      <p:sp>
        <p:nvSpPr>
          <p:cNvPr id="51" name="Rectangle 50"/>
          <p:cNvSpPr/>
          <p:nvPr/>
        </p:nvSpPr>
        <p:spPr>
          <a:xfrm>
            <a:off x="4544568" y="303580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3035808"/>
            <a:ext cx="640080" cy="365760"/>
          </a:xfrm>
          <a:prstGeom prst="rect">
            <a:avLst/>
          </a:prstGeom>
          <a:noFill/>
          <a:ln>
            <a:noFill/>
          </a:ln>
        </p:spPr>
        <p:txBody>
          <a:bodyPr wrap="square">
            <a:spAutoFit/>
          </a:bodyPr>
          <a:lstStyle/>
          <a:p>
            <a:pPr algn="l"/>
            <a:r>
              <a:rPr sz="950" b="1" i="0">
                <a:solidFill>
                  <a:srgbClr val="4F46E5"/>
                </a:solidFill>
                <a:latin typeface="Calibri"/>
              </a:rPr>
              <a:t>sql/05</a:t>
            </a:r>
          </a:p>
        </p:txBody>
      </p:sp>
      <p:sp>
        <p:nvSpPr>
          <p:cNvPr id="53" name="TextBox 52"/>
          <p:cNvSpPr txBox="1"/>
          <p:nvPr/>
        </p:nvSpPr>
        <p:spPr>
          <a:xfrm>
            <a:off x="5276088" y="3035808"/>
            <a:ext cx="3154680" cy="365760"/>
          </a:xfrm>
          <a:prstGeom prst="rect">
            <a:avLst/>
          </a:prstGeom>
          <a:noFill/>
          <a:ln>
            <a:noFill/>
          </a:ln>
        </p:spPr>
        <p:txBody>
          <a:bodyPr wrap="square">
            <a:spAutoFit/>
          </a:bodyPr>
          <a:lstStyle/>
          <a:p>
            <a:pPr algn="l"/>
            <a:r>
              <a:rPr sz="950" b="0" i="0">
                <a:solidFill>
                  <a:srgbClr val="475569"/>
                </a:solidFill>
                <a:latin typeface="Calibri"/>
              </a:rPr>
              <a:t>Classification view  (vw_classification_dataset)</a:t>
            </a:r>
          </a:p>
        </p:txBody>
      </p:sp>
      <p:sp>
        <p:nvSpPr>
          <p:cNvPr id="54" name="Rectangle 53"/>
          <p:cNvSpPr/>
          <p:nvPr/>
        </p:nvSpPr>
        <p:spPr>
          <a:xfrm>
            <a:off x="4544568" y="340156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7720" y="3401568"/>
            <a:ext cx="640080" cy="365760"/>
          </a:xfrm>
          <a:prstGeom prst="rect">
            <a:avLst/>
          </a:prstGeom>
          <a:noFill/>
          <a:ln>
            <a:noFill/>
          </a:ln>
        </p:spPr>
        <p:txBody>
          <a:bodyPr wrap="square">
            <a:spAutoFit/>
          </a:bodyPr>
          <a:lstStyle/>
          <a:p>
            <a:pPr algn="l"/>
            <a:r>
              <a:rPr sz="950" b="1" i="0">
                <a:solidFill>
                  <a:srgbClr val="4F46E5"/>
                </a:solidFill>
                <a:latin typeface="Calibri"/>
              </a:rPr>
              <a:t>sql/06</a:t>
            </a:r>
          </a:p>
        </p:txBody>
      </p:sp>
      <p:sp>
        <p:nvSpPr>
          <p:cNvPr id="56" name="TextBox 55"/>
          <p:cNvSpPr txBox="1"/>
          <p:nvPr/>
        </p:nvSpPr>
        <p:spPr>
          <a:xfrm>
            <a:off x="5276088" y="3401568"/>
            <a:ext cx="3154680" cy="365760"/>
          </a:xfrm>
          <a:prstGeom prst="rect">
            <a:avLst/>
          </a:prstGeom>
          <a:noFill/>
          <a:ln>
            <a:noFill/>
          </a:ln>
        </p:spPr>
        <p:txBody>
          <a:bodyPr wrap="square">
            <a:spAutoFit/>
          </a:bodyPr>
          <a:lstStyle/>
          <a:p>
            <a:pPr algn="l"/>
            <a:r>
              <a:rPr sz="950" b="0" i="0">
                <a:solidFill>
                  <a:srgbClr val="475569"/>
                </a:solidFill>
                <a:latin typeface="Calibri"/>
              </a:rPr>
              <a:t>BI view  (vw_bi_dashboard)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Grain, dimensions, and facts</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Most analytical errors begin before the first SQL query — at the grain decision.</a:t>
            </a:r>
          </a:p>
        </p:txBody>
      </p:sp>
      <p:sp>
        <p:nvSpPr>
          <p:cNvPr id="8" name="TextBox 7"/>
          <p:cNvSpPr txBox="1"/>
          <p:nvPr/>
        </p:nvSpPr>
        <p:spPr>
          <a:xfrm>
            <a:off x="429768" y="877824"/>
            <a:ext cx="8284464" cy="347472"/>
          </a:xfrm>
          <a:prstGeom prst="rect">
            <a:avLst/>
          </a:prstGeom>
          <a:noFill/>
          <a:ln>
            <a:noFill/>
          </a:ln>
        </p:spPr>
        <p:txBody>
          <a:bodyPr wrap="square">
            <a:spAutoFit/>
          </a:bodyPr>
          <a:lstStyle/>
          <a:p>
            <a:pPr algn="l"/>
            <a:r>
              <a:rPr sz="1050" b="0" i="0">
                <a:solidFill>
                  <a:srgbClr val="475569"/>
                </a:solidFill>
                <a:latin typeface="Calibri"/>
              </a:rPr>
              <a:t>The grain decision is the most consequential architectural choice in the warehouse. In this product, the grain is: one row per listing at capture time.</a:t>
            </a:r>
          </a:p>
        </p:txBody>
      </p:sp>
      <p:sp>
        <p:nvSpPr>
          <p:cNvPr id="9" name="Rectangle 8"/>
          <p:cNvSpPr/>
          <p:nvPr/>
        </p:nvSpPr>
        <p:spPr>
          <a:xfrm>
            <a:off x="3291840" y="1929384"/>
            <a:ext cx="2560320" cy="10972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929384"/>
            <a:ext cx="2560320" cy="274320"/>
          </a:xfrm>
          <a:prstGeom prst="rect">
            <a:avLst/>
          </a:prstGeom>
          <a:noFill/>
          <a:ln>
            <a:noFill/>
          </a:ln>
        </p:spPr>
        <p:txBody>
          <a:bodyPr wrap="square">
            <a:spAutoFit/>
          </a:bodyPr>
          <a:lstStyle/>
          <a:p>
            <a:pPr algn="ctr"/>
            <a:r>
              <a:rPr sz="1000" b="1" i="0">
                <a:solidFill>
                  <a:srgbClr val="FFFFFF"/>
                </a:solidFill>
                <a:latin typeface="Calibri"/>
              </a:rPr>
              <a:t>fact_listings</a:t>
            </a:r>
          </a:p>
        </p:txBody>
      </p:sp>
      <p:sp>
        <p:nvSpPr>
          <p:cNvPr id="11" name="TextBox 10"/>
          <p:cNvSpPr txBox="1"/>
          <p:nvPr/>
        </p:nvSpPr>
        <p:spPr>
          <a:xfrm>
            <a:off x="3364992" y="2203704"/>
            <a:ext cx="2414016" cy="777240"/>
          </a:xfrm>
          <a:prstGeom prst="rect">
            <a:avLst/>
          </a:prstGeom>
          <a:noFill/>
          <a:ln>
            <a:noFill/>
          </a:ln>
        </p:spPr>
        <p:txBody>
          <a:bodyPr wrap="square">
            <a:spAutoFit/>
          </a:bodyPr>
          <a:lstStyle/>
          <a:p>
            <a:pPr algn="ctr"/>
            <a:r>
              <a:rPr sz="850" b="0" i="0">
                <a:solidFill>
                  <a:srgbClr val="CBD5E1"/>
                </a:solidFill>
                <a:latin typeface="Calibri"/>
              </a:rPr>
              <a:t>listing_id  |  price_eur  |  mileage_km
power_hp  |  age_years  |  registration_date
price_outlier_iqr  |  logical_issue</a:t>
            </a:r>
          </a:p>
        </p:txBody>
      </p:sp>
      <p:sp>
        <p:nvSpPr>
          <p:cNvPr id="12" name="Rectangle 11"/>
          <p:cNvSpPr/>
          <p:nvPr/>
        </p:nvSpPr>
        <p:spPr>
          <a:xfrm>
            <a:off x="960120" y="2203704"/>
            <a:ext cx="182880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203704"/>
            <a:ext cx="1828800" cy="548640"/>
          </a:xfrm>
          <a:prstGeom prst="rect">
            <a:avLst/>
          </a:prstGeom>
          <a:noFill/>
          <a:ln>
            <a:noFill/>
          </a:ln>
        </p:spPr>
        <p:txBody>
          <a:bodyPr wrap="square">
            <a:spAutoFit/>
          </a:bodyPr>
          <a:lstStyle/>
          <a:p>
            <a:pPr algn="ctr"/>
            <a:r>
              <a:rPr sz="900" b="1" i="0">
                <a:solidFill>
                  <a:srgbClr val="FFFFFF"/>
                </a:solidFill>
                <a:latin typeface="Calibri"/>
              </a:rPr>
              <a:t>dim_model
(brand, make, model)</a:t>
            </a:r>
          </a:p>
        </p:txBody>
      </p:sp>
      <p:sp>
        <p:nvSpPr>
          <p:cNvPr id="14" name="Rectangle 13"/>
          <p:cNvSpPr/>
          <p:nvPr/>
        </p:nvSpPr>
        <p:spPr>
          <a:xfrm>
            <a:off x="1874520" y="2459736"/>
            <a:ext cx="269748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877824"/>
            <a:ext cx="182880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877824"/>
            <a:ext cx="1828800" cy="548640"/>
          </a:xfrm>
          <a:prstGeom prst="rect">
            <a:avLst/>
          </a:prstGeom>
          <a:noFill/>
          <a:ln>
            <a:noFill/>
          </a:ln>
        </p:spPr>
        <p:txBody>
          <a:bodyPr wrap="square">
            <a:spAutoFit/>
          </a:bodyPr>
          <a:lstStyle/>
          <a:p>
            <a:pPr algn="ctr"/>
            <a:r>
              <a:rPr sz="900" b="1" i="0">
                <a:solidFill>
                  <a:srgbClr val="FFFFFF"/>
                </a:solidFill>
                <a:latin typeface="Calibri"/>
              </a:rPr>
              <a:t>dim_fuel
(fuel_type)</a:t>
            </a:r>
          </a:p>
        </p:txBody>
      </p:sp>
      <p:sp>
        <p:nvSpPr>
          <p:cNvPr id="17" name="Rectangle 16"/>
          <p:cNvSpPr/>
          <p:nvPr/>
        </p:nvSpPr>
        <p:spPr>
          <a:xfrm>
            <a:off x="4553712" y="1152144"/>
            <a:ext cx="36576" cy="132588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2203704"/>
            <a:ext cx="182880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203704"/>
            <a:ext cx="1828800" cy="548640"/>
          </a:xfrm>
          <a:prstGeom prst="rect">
            <a:avLst/>
          </a:prstGeom>
          <a:noFill/>
          <a:ln>
            <a:noFill/>
          </a:ln>
        </p:spPr>
        <p:txBody>
          <a:bodyPr wrap="square">
            <a:spAutoFit/>
          </a:bodyPr>
          <a:lstStyle/>
          <a:p>
            <a:pPr algn="ctr"/>
            <a:r>
              <a:rPr sz="900" b="1" i="0">
                <a:solidFill>
                  <a:srgbClr val="FFFFFF"/>
                </a:solidFill>
                <a:latin typeface="Calibri"/>
              </a:rPr>
              <a:t>dim_country
(listing_country)</a:t>
            </a:r>
          </a:p>
        </p:txBody>
      </p:sp>
      <p:sp>
        <p:nvSpPr>
          <p:cNvPr id="20" name="Rectangle 19"/>
          <p:cNvSpPr/>
          <p:nvPr/>
        </p:nvSpPr>
        <p:spPr>
          <a:xfrm>
            <a:off x="4572000" y="2459736"/>
            <a:ext cx="269748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0" y="3529584"/>
            <a:ext cx="1828800" cy="5486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3529584"/>
            <a:ext cx="1828800" cy="548640"/>
          </a:xfrm>
          <a:prstGeom prst="rect">
            <a:avLst/>
          </a:prstGeom>
          <a:noFill/>
          <a:ln>
            <a:noFill/>
          </a:ln>
        </p:spPr>
        <p:txBody>
          <a:bodyPr wrap="square">
            <a:spAutoFit/>
          </a:bodyPr>
          <a:lstStyle/>
          <a:p>
            <a:pPr algn="ctr"/>
            <a:r>
              <a:rPr sz="900" b="1" i="0">
                <a:solidFill>
                  <a:srgbClr val="FFFFFF"/>
                </a:solidFill>
                <a:latin typeface="Calibri"/>
              </a:rPr>
              <a:t>dim_price_label
(price_label)</a:t>
            </a:r>
          </a:p>
        </p:txBody>
      </p:sp>
      <p:sp>
        <p:nvSpPr>
          <p:cNvPr id="23" name="Rectangle 22"/>
          <p:cNvSpPr/>
          <p:nvPr/>
        </p:nvSpPr>
        <p:spPr>
          <a:xfrm>
            <a:off x="4553712" y="2478024"/>
            <a:ext cx="36576" cy="132588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 y="4393692"/>
            <a:ext cx="8284464" cy="347472"/>
          </a:xfrm>
          <a:prstGeom prst="rect">
            <a:avLst/>
          </a:prstGeom>
          <a:noFill/>
          <a:ln>
            <a:noFill/>
          </a:ln>
        </p:spPr>
        <p:txBody>
          <a:bodyPr wrap="square">
            <a:spAutoFit/>
          </a:bodyPr>
          <a:lstStyle/>
          <a:p>
            <a:pPr algn="l"/>
            <a:r>
              <a:rPr sz="1000" b="0" i="1">
                <a:solidFill>
                  <a:srgbClr val="475569"/>
                </a:solidFill>
                <a:latin typeface="Calibri"/>
              </a:rPr>
              <a:t>Facts protect measurement. Dimensions protect meaning. A wrong grain produces metrics that look correct but measure the wrong 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4 — SQL as analytical contract</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SQL decides the analytical reality consumed by downstream layers.</a:t>
            </a:r>
          </a:p>
        </p:txBody>
      </p:sp>
      <p:sp>
        <p:nvSpPr>
          <p:cNvPr id="8" name="TextBox 7"/>
          <p:cNvSpPr txBox="1"/>
          <p:nvPr/>
        </p:nvSpPr>
        <p:spPr>
          <a:xfrm>
            <a:off x="429768" y="877824"/>
            <a:ext cx="8284464" cy="365760"/>
          </a:xfrm>
          <a:prstGeom prst="rect">
            <a:avLst/>
          </a:prstGeom>
          <a:noFill/>
          <a:ln>
            <a:noFill/>
          </a:ln>
        </p:spPr>
        <p:txBody>
          <a:bodyPr wrap="square">
            <a:spAutoFit/>
          </a:bodyPr>
          <a:lstStyle/>
          <a:p>
            <a:pPr algn="l"/>
            <a:r>
              <a:rPr sz="1050" b="0" i="0">
                <a:solidFill>
                  <a:srgbClr val="475569"/>
                </a:solidFill>
                <a:latin typeface="Calibri"/>
              </a:rPr>
              <a:t>SQL is not just a query language. In a governed data product, every view definition is a contract: it specifies what the model or dashboard is allowed to see.</a:t>
            </a:r>
          </a:p>
        </p:txBody>
      </p:sp>
      <p:sp>
        <p:nvSpPr>
          <p:cNvPr id="9" name="Rectangle 8"/>
          <p:cNvSpPr/>
          <p:nvPr/>
        </p:nvSpPr>
        <p:spPr>
          <a:xfrm>
            <a:off x="3017520" y="1335024"/>
            <a:ext cx="31089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335024"/>
            <a:ext cx="3108960" cy="502920"/>
          </a:xfrm>
          <a:prstGeom prst="rect">
            <a:avLst/>
          </a:prstGeom>
          <a:noFill/>
          <a:ln>
            <a:noFill/>
          </a:ln>
        </p:spPr>
        <p:txBody>
          <a:bodyPr wrap="square">
            <a:spAutoFit/>
          </a:bodyPr>
          <a:lstStyle/>
          <a:p>
            <a:pPr algn="ctr"/>
            <a:r>
              <a:rPr sz="900" b="1" i="0">
                <a:solidFill>
                  <a:srgbClr val="FFFFFF"/>
                </a:solidFill>
                <a:latin typeface="Calibri"/>
              </a:rPr>
              <a:t>fact_listings + dim_model + dim_fuel + dim_country</a:t>
            </a:r>
          </a:p>
        </p:txBody>
      </p:sp>
      <p:sp>
        <p:nvSpPr>
          <p:cNvPr id="11" name="Rectangle 10"/>
          <p:cNvSpPr/>
          <p:nvPr/>
        </p:nvSpPr>
        <p:spPr>
          <a:xfrm>
            <a:off x="612648" y="2203704"/>
            <a:ext cx="2560320" cy="457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 y="2203704"/>
            <a:ext cx="2560320" cy="457200"/>
          </a:xfrm>
          <a:prstGeom prst="rect">
            <a:avLst/>
          </a:prstGeom>
          <a:noFill/>
          <a:ln>
            <a:noFill/>
          </a:ln>
        </p:spPr>
        <p:txBody>
          <a:bodyPr wrap="square">
            <a:spAutoFit/>
          </a:bodyPr>
          <a:lstStyle/>
          <a:p>
            <a:pPr algn="ctr"/>
            <a:r>
              <a:rPr sz="900" b="1" i="0">
                <a:solidFill>
                  <a:srgbClr val="FFFFFF"/>
                </a:solidFill>
                <a:latin typeface="Calibri"/>
              </a:rPr>
              <a:t>vw_regression_dataset
(Notebook 04 input)</a:t>
            </a:r>
          </a:p>
        </p:txBody>
      </p:sp>
      <p:sp>
        <p:nvSpPr>
          <p:cNvPr id="13" name="Rectangle 12"/>
          <p:cNvSpPr/>
          <p:nvPr/>
        </p:nvSpPr>
        <p:spPr>
          <a:xfrm>
            <a:off x="1865376" y="183794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71032" y="2203704"/>
            <a:ext cx="2560320" cy="457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71032" y="2203704"/>
            <a:ext cx="2560320" cy="457200"/>
          </a:xfrm>
          <a:prstGeom prst="rect">
            <a:avLst/>
          </a:prstGeom>
          <a:noFill/>
          <a:ln>
            <a:noFill/>
          </a:ln>
        </p:spPr>
        <p:txBody>
          <a:bodyPr wrap="square">
            <a:spAutoFit/>
          </a:bodyPr>
          <a:lstStyle/>
          <a:p>
            <a:pPr algn="ctr"/>
            <a:r>
              <a:rPr sz="900" b="1" i="0">
                <a:solidFill>
                  <a:srgbClr val="FFFFFF"/>
                </a:solidFill>
                <a:latin typeface="Calibri"/>
              </a:rPr>
              <a:t>vw_classification_dataset
(Notebook 05 input)</a:t>
            </a:r>
          </a:p>
        </p:txBody>
      </p:sp>
      <p:sp>
        <p:nvSpPr>
          <p:cNvPr id="16" name="Rectangle 15"/>
          <p:cNvSpPr/>
          <p:nvPr/>
        </p:nvSpPr>
        <p:spPr>
          <a:xfrm>
            <a:off x="7223760" y="183794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3026664"/>
            <a:ext cx="2560320" cy="45720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026664"/>
            <a:ext cx="2560320" cy="457200"/>
          </a:xfrm>
          <a:prstGeom prst="rect">
            <a:avLst/>
          </a:prstGeom>
          <a:noFill/>
          <a:ln>
            <a:noFill/>
          </a:ln>
        </p:spPr>
        <p:txBody>
          <a:bodyPr wrap="square">
            <a:spAutoFit/>
          </a:bodyPr>
          <a:lstStyle/>
          <a:p>
            <a:pPr algn="ctr"/>
            <a:r>
              <a:rPr sz="900" b="1" i="0">
                <a:solidFill>
                  <a:srgbClr val="FFFFFF"/>
                </a:solidFill>
                <a:latin typeface="Calibri"/>
              </a:rPr>
              <a:t>fact_expected_price_predictions</a:t>
            </a:r>
          </a:p>
        </p:txBody>
      </p:sp>
      <p:sp>
        <p:nvSpPr>
          <p:cNvPr id="19" name="Rectangle 18"/>
          <p:cNvSpPr/>
          <p:nvPr/>
        </p:nvSpPr>
        <p:spPr>
          <a:xfrm>
            <a:off x="1865376" y="266090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71032" y="3026664"/>
            <a:ext cx="2560320" cy="45720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71032" y="3026664"/>
            <a:ext cx="2560320" cy="457200"/>
          </a:xfrm>
          <a:prstGeom prst="rect">
            <a:avLst/>
          </a:prstGeom>
          <a:noFill/>
          <a:ln>
            <a:noFill/>
          </a:ln>
        </p:spPr>
        <p:txBody>
          <a:bodyPr wrap="square">
            <a:spAutoFit/>
          </a:bodyPr>
          <a:lstStyle/>
          <a:p>
            <a:pPr algn="ctr"/>
            <a:r>
              <a:rPr sz="900" b="1" i="0">
                <a:solidFill>
                  <a:srgbClr val="FFFFFF"/>
                </a:solidFill>
                <a:latin typeface="Calibri"/>
              </a:rPr>
              <a:t>fact_top_price_predictions</a:t>
            </a:r>
          </a:p>
        </p:txBody>
      </p:sp>
      <p:sp>
        <p:nvSpPr>
          <p:cNvPr id="22" name="Rectangle 21"/>
          <p:cNvSpPr/>
          <p:nvPr/>
        </p:nvSpPr>
        <p:spPr>
          <a:xfrm>
            <a:off x="7223760" y="266090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3849624"/>
            <a:ext cx="292608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3849624"/>
            <a:ext cx="2926080" cy="457200"/>
          </a:xfrm>
          <a:prstGeom prst="rect">
            <a:avLst/>
          </a:prstGeom>
          <a:noFill/>
          <a:ln>
            <a:noFill/>
          </a:ln>
        </p:spPr>
        <p:txBody>
          <a:bodyPr wrap="square">
            <a:spAutoFit/>
          </a:bodyPr>
          <a:lstStyle/>
          <a:p>
            <a:pPr algn="ctr"/>
            <a:r>
              <a:rPr sz="950" b="1" i="0">
                <a:solidFill>
                  <a:srgbClr val="FFFFFF"/>
                </a:solidFill>
                <a:latin typeface="Calibri"/>
              </a:rPr>
              <a:t>vw_bi_dashboard  (Streamlit input)</a:t>
            </a:r>
          </a:p>
        </p:txBody>
      </p:sp>
      <p:sp>
        <p:nvSpPr>
          <p:cNvPr id="25" name="Rectangle 24"/>
          <p:cNvSpPr/>
          <p:nvPr/>
        </p:nvSpPr>
        <p:spPr>
          <a:xfrm>
            <a:off x="1865376" y="348386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23760" y="3483864"/>
            <a:ext cx="54864" cy="3657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5 — Regression creates an expected-price baseline</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purpose of regression here is not only prediction; it creates a reference line for business interpretation.</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Model contract</a:t>
            </a:r>
          </a:p>
        </p:txBody>
      </p:sp>
      <p:sp>
        <p:nvSpPr>
          <p:cNvPr id="10" name="Rectangle 9"/>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07008"/>
            <a:ext cx="1371600" cy="384048"/>
          </a:xfrm>
          <a:prstGeom prst="rect">
            <a:avLst/>
          </a:prstGeom>
          <a:noFill/>
          <a:ln>
            <a:noFill/>
          </a:ln>
        </p:spPr>
        <p:txBody>
          <a:bodyPr wrap="square">
            <a:spAutoFit/>
          </a:bodyPr>
          <a:lstStyle/>
          <a:p>
            <a:pPr algn="l"/>
            <a:r>
              <a:rPr sz="1000" b="1" i="0">
                <a:solidFill>
                  <a:srgbClr val="1E293B"/>
                </a:solidFill>
                <a:latin typeface="Calibri"/>
              </a:rPr>
              <a:t>Input view</a:t>
            </a:r>
          </a:p>
        </p:txBody>
      </p:sp>
      <p:sp>
        <p:nvSpPr>
          <p:cNvPr id="12" name="TextBox 11"/>
          <p:cNvSpPr txBox="1"/>
          <p:nvPr/>
        </p:nvSpPr>
        <p:spPr>
          <a:xfrm>
            <a:off x="1892808" y="1207008"/>
            <a:ext cx="2423160" cy="384048"/>
          </a:xfrm>
          <a:prstGeom prst="rect">
            <a:avLst/>
          </a:prstGeom>
          <a:noFill/>
          <a:ln>
            <a:noFill/>
          </a:ln>
        </p:spPr>
        <p:txBody>
          <a:bodyPr wrap="square">
            <a:spAutoFit/>
          </a:bodyPr>
          <a:lstStyle/>
          <a:p>
            <a:pPr algn="l"/>
            <a:r>
              <a:rPr sz="1000" b="0" i="0">
                <a:solidFill>
                  <a:srgbClr val="475569"/>
                </a:solidFill>
                <a:latin typeface="Calibri"/>
              </a:rPr>
              <a:t>vw_regression_dataset</a:t>
            </a:r>
          </a:p>
        </p:txBody>
      </p:sp>
      <p:sp>
        <p:nvSpPr>
          <p:cNvPr id="13" name="Rectangle 12"/>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91056"/>
            <a:ext cx="1371600" cy="384048"/>
          </a:xfrm>
          <a:prstGeom prst="rect">
            <a:avLst/>
          </a:prstGeom>
          <a:noFill/>
          <a:ln>
            <a:noFill/>
          </a:ln>
        </p:spPr>
        <p:txBody>
          <a:bodyPr wrap="square">
            <a:spAutoFit/>
          </a:bodyPr>
          <a:lstStyle/>
          <a:p>
            <a:pPr algn="l"/>
            <a:r>
              <a:rPr sz="1000" b="1" i="0">
                <a:solidFill>
                  <a:srgbClr val="1E293B"/>
                </a:solidFill>
                <a:latin typeface="Calibri"/>
              </a:rPr>
              <a:t>Target variable</a:t>
            </a:r>
          </a:p>
        </p:txBody>
      </p:sp>
      <p:sp>
        <p:nvSpPr>
          <p:cNvPr id="15" name="TextBox 14"/>
          <p:cNvSpPr txBox="1"/>
          <p:nvPr/>
        </p:nvSpPr>
        <p:spPr>
          <a:xfrm>
            <a:off x="1892808" y="1591056"/>
            <a:ext cx="2423160" cy="384048"/>
          </a:xfrm>
          <a:prstGeom prst="rect">
            <a:avLst/>
          </a:prstGeom>
          <a:noFill/>
          <a:ln>
            <a:noFill/>
          </a:ln>
        </p:spPr>
        <p:txBody>
          <a:bodyPr wrap="square">
            <a:spAutoFit/>
          </a:bodyPr>
          <a:lstStyle/>
          <a:p>
            <a:pPr algn="l"/>
            <a:r>
              <a:rPr sz="1000" b="0" i="0">
                <a:solidFill>
                  <a:srgbClr val="475569"/>
                </a:solidFill>
                <a:latin typeface="Calibri"/>
              </a:rPr>
              <a:t>actual_price_eur  (market price)</a:t>
            </a:r>
          </a:p>
        </p:txBody>
      </p:sp>
      <p:sp>
        <p:nvSpPr>
          <p:cNvPr id="16" name="Rectangle 15"/>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75104"/>
            <a:ext cx="1371600" cy="384048"/>
          </a:xfrm>
          <a:prstGeom prst="rect">
            <a:avLst/>
          </a:prstGeom>
          <a:noFill/>
          <a:ln>
            <a:noFill/>
          </a:ln>
        </p:spPr>
        <p:txBody>
          <a:bodyPr wrap="square">
            <a:spAutoFit/>
          </a:bodyPr>
          <a:lstStyle/>
          <a:p>
            <a:pPr algn="l"/>
            <a:r>
              <a:rPr sz="1000" b="1" i="0">
                <a:solidFill>
                  <a:srgbClr val="1E293B"/>
                </a:solidFill>
                <a:latin typeface="Calibri"/>
              </a:rPr>
              <a:t>Output table</a:t>
            </a:r>
          </a:p>
        </p:txBody>
      </p:sp>
      <p:sp>
        <p:nvSpPr>
          <p:cNvPr id="18" name="TextBox 17"/>
          <p:cNvSpPr txBox="1"/>
          <p:nvPr/>
        </p:nvSpPr>
        <p:spPr>
          <a:xfrm>
            <a:off x="1892808" y="1975104"/>
            <a:ext cx="2423160" cy="384048"/>
          </a:xfrm>
          <a:prstGeom prst="rect">
            <a:avLst/>
          </a:prstGeom>
          <a:noFill/>
          <a:ln>
            <a:noFill/>
          </a:ln>
        </p:spPr>
        <p:txBody>
          <a:bodyPr wrap="square">
            <a:spAutoFit/>
          </a:bodyPr>
          <a:lstStyle/>
          <a:p>
            <a:pPr algn="l"/>
            <a:r>
              <a:rPr sz="1000" b="0" i="0">
                <a:solidFill>
                  <a:srgbClr val="475569"/>
                </a:solidFill>
                <a:latin typeface="Calibri"/>
              </a:rPr>
              <a:t>fact_expected_price_predictions</a:t>
            </a:r>
          </a:p>
        </p:txBody>
      </p:sp>
      <p:sp>
        <p:nvSpPr>
          <p:cNvPr id="19" name="Rectangle 18"/>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59152"/>
            <a:ext cx="1371600" cy="384048"/>
          </a:xfrm>
          <a:prstGeom prst="rect">
            <a:avLst/>
          </a:prstGeom>
          <a:noFill/>
          <a:ln>
            <a:noFill/>
          </a:ln>
        </p:spPr>
        <p:txBody>
          <a:bodyPr wrap="square">
            <a:spAutoFit/>
          </a:bodyPr>
          <a:lstStyle/>
          <a:p>
            <a:pPr algn="l"/>
            <a:r>
              <a:rPr sz="1000" b="1" i="0">
                <a:solidFill>
                  <a:srgbClr val="1E293B"/>
                </a:solidFill>
                <a:latin typeface="Calibri"/>
              </a:rPr>
              <a:t>Key output field</a:t>
            </a:r>
          </a:p>
        </p:txBody>
      </p:sp>
      <p:sp>
        <p:nvSpPr>
          <p:cNvPr id="21" name="TextBox 20"/>
          <p:cNvSpPr txBox="1"/>
          <p:nvPr/>
        </p:nvSpPr>
        <p:spPr>
          <a:xfrm>
            <a:off x="1892808" y="2359152"/>
            <a:ext cx="2423160" cy="384048"/>
          </a:xfrm>
          <a:prstGeom prst="rect">
            <a:avLst/>
          </a:prstGeom>
          <a:noFill/>
          <a:ln>
            <a:noFill/>
          </a:ln>
        </p:spPr>
        <p:txBody>
          <a:bodyPr wrap="square">
            <a:spAutoFit/>
          </a:bodyPr>
          <a:lstStyle/>
          <a:p>
            <a:pPr algn="l"/>
            <a:r>
              <a:rPr sz="1000" b="0" i="0">
                <a:solidFill>
                  <a:srgbClr val="475569"/>
                </a:solidFill>
                <a:latin typeface="Calibri"/>
              </a:rPr>
              <a:t>expected_price_eur</a:t>
            </a:r>
          </a:p>
        </p:txBody>
      </p:sp>
      <p:sp>
        <p:nvSpPr>
          <p:cNvPr id="22" name="Rectangle 21"/>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Business use</a:t>
            </a:r>
          </a:p>
        </p:txBody>
      </p:sp>
      <p:sp>
        <p:nvSpPr>
          <p:cNvPr id="24" name="TextBox 23"/>
          <p:cNvSpPr txBox="1"/>
          <p:nvPr/>
        </p:nvSpPr>
        <p:spPr>
          <a:xfrm>
            <a:off x="4544568" y="1261872"/>
            <a:ext cx="3931920" cy="347472"/>
          </a:xfrm>
          <a:prstGeom prst="rect">
            <a:avLst/>
          </a:prstGeom>
          <a:noFill/>
          <a:ln>
            <a:noFill/>
          </a:ln>
        </p:spPr>
        <p:txBody>
          <a:bodyPr wrap="square">
            <a:spAutoFit/>
          </a:bodyPr>
          <a:lstStyle/>
          <a:p>
            <a:pPr algn="l"/>
            <a:r>
              <a:rPr sz="1000" b="1" i="0">
                <a:solidFill>
                  <a:srgbClr val="1E293B"/>
                </a:solidFill>
                <a:latin typeface="Calibri"/>
              </a:rPr>
              <a:t>The regression output enables:</a:t>
            </a:r>
          </a:p>
        </p:txBody>
      </p:sp>
      <p:sp>
        <p:nvSpPr>
          <p:cNvPr id="25" name="Rectangle 24"/>
          <p:cNvSpPr/>
          <p:nvPr/>
        </p:nvSpPr>
        <p:spPr>
          <a:xfrm>
            <a:off x="4544568" y="1655064"/>
            <a:ext cx="3931920" cy="384048"/>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1655064"/>
            <a:ext cx="3785616" cy="384048"/>
          </a:xfrm>
          <a:prstGeom prst="rect">
            <a:avLst/>
          </a:prstGeom>
          <a:noFill/>
          <a:ln>
            <a:noFill/>
          </a:ln>
        </p:spPr>
        <p:txBody>
          <a:bodyPr wrap="square">
            <a:spAutoFit/>
          </a:bodyPr>
          <a:lstStyle/>
          <a:p>
            <a:pPr algn="l"/>
            <a:r>
              <a:rPr sz="1000" b="1" i="0">
                <a:solidFill>
                  <a:srgbClr val="1E293B"/>
                </a:solidFill>
                <a:latin typeface="Calibri"/>
              </a:rPr>
              <a:t>expected_price_gap_eur  =  actual_price_eur  −  expected_price_eur</a:t>
            </a:r>
          </a:p>
        </p:txBody>
      </p:sp>
      <p:sp>
        <p:nvSpPr>
          <p:cNvPr id="27" name="TextBox 26"/>
          <p:cNvSpPr txBox="1"/>
          <p:nvPr/>
        </p:nvSpPr>
        <p:spPr>
          <a:xfrm>
            <a:off x="4544568" y="2084832"/>
            <a:ext cx="3931920" cy="502920"/>
          </a:xfrm>
          <a:prstGeom prst="rect">
            <a:avLst/>
          </a:prstGeom>
          <a:noFill/>
          <a:ln>
            <a:noFill/>
          </a:ln>
        </p:spPr>
        <p:txBody>
          <a:bodyPr wrap="square">
            <a:spAutoFit/>
          </a:bodyPr>
          <a:lstStyle/>
          <a:p>
            <a:pPr algn="l"/>
            <a:r>
              <a:rPr sz="1000" b="0" i="0">
                <a:solidFill>
                  <a:srgbClr val="475569"/>
                </a:solidFill>
                <a:latin typeface="Calibri"/>
              </a:rPr>
              <a:t>A negative gap means the listing is priced below what comparable vehicles command in the market.</a:t>
            </a:r>
          </a:p>
        </p:txBody>
      </p:sp>
      <p:sp>
        <p:nvSpPr>
          <p:cNvPr id="28" name="TextBox 27"/>
          <p:cNvSpPr txBox="1"/>
          <p:nvPr/>
        </p:nvSpPr>
        <p:spPr>
          <a:xfrm>
            <a:off x="4544568" y="2633472"/>
            <a:ext cx="3931920" cy="347472"/>
          </a:xfrm>
          <a:prstGeom prst="rect">
            <a:avLst/>
          </a:prstGeom>
          <a:noFill/>
          <a:ln>
            <a:noFill/>
          </a:ln>
        </p:spPr>
        <p:txBody>
          <a:bodyPr wrap="square">
            <a:spAutoFit/>
          </a:bodyPr>
          <a:lstStyle/>
          <a:p>
            <a:pPr algn="l"/>
            <a:r>
              <a:rPr sz="1000" b="1" i="0">
                <a:solidFill>
                  <a:srgbClr val="1E293B"/>
                </a:solidFill>
                <a:latin typeface="Calibri"/>
              </a:rPr>
              <a:t>Generic lesson:</a:t>
            </a:r>
          </a:p>
        </p:txBody>
      </p:sp>
      <p:sp>
        <p:nvSpPr>
          <p:cNvPr id="29" name="TextBox 28"/>
          <p:cNvSpPr txBox="1"/>
          <p:nvPr/>
        </p:nvSpPr>
        <p:spPr>
          <a:xfrm>
            <a:off x="4544568" y="2980944"/>
            <a:ext cx="3931920" cy="594360"/>
          </a:xfrm>
          <a:prstGeom prst="rect">
            <a:avLst/>
          </a:prstGeom>
          <a:noFill/>
          <a:ln>
            <a:noFill/>
          </a:ln>
        </p:spPr>
        <p:txBody>
          <a:bodyPr wrap="square">
            <a:spAutoFit/>
          </a:bodyPr>
          <a:lstStyle/>
          <a:p>
            <a:pPr algn="l"/>
            <a:r>
              <a:rPr sz="1000" b="0" i="0">
                <a:solidFill>
                  <a:srgbClr val="475569"/>
                </a:solidFill>
                <a:latin typeface="Calibri"/>
              </a:rPr>
              <a:t>Regression often acts as a baseline of normal behavior. Its value is not the prediction alone — it is the deviation from expectation that becomes analytically useful.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6 — Classification creates a prioritization signal</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Classification becomes valuable when its probability is connected to an action.</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Model contract</a:t>
            </a:r>
          </a:p>
        </p:txBody>
      </p:sp>
      <p:sp>
        <p:nvSpPr>
          <p:cNvPr id="10" name="Rectangle 9"/>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07008"/>
            <a:ext cx="1463040" cy="384048"/>
          </a:xfrm>
          <a:prstGeom prst="rect">
            <a:avLst/>
          </a:prstGeom>
          <a:noFill/>
          <a:ln>
            <a:noFill/>
          </a:ln>
        </p:spPr>
        <p:txBody>
          <a:bodyPr wrap="square">
            <a:spAutoFit/>
          </a:bodyPr>
          <a:lstStyle/>
          <a:p>
            <a:pPr algn="l"/>
            <a:r>
              <a:rPr sz="1000" b="1" i="0">
                <a:solidFill>
                  <a:srgbClr val="1E293B"/>
                </a:solidFill>
                <a:latin typeface="Calibri"/>
              </a:rPr>
              <a:t>Input view</a:t>
            </a:r>
          </a:p>
        </p:txBody>
      </p:sp>
      <p:sp>
        <p:nvSpPr>
          <p:cNvPr id="12" name="TextBox 11"/>
          <p:cNvSpPr txBox="1"/>
          <p:nvPr/>
        </p:nvSpPr>
        <p:spPr>
          <a:xfrm>
            <a:off x="1984248" y="1207008"/>
            <a:ext cx="2331720" cy="384048"/>
          </a:xfrm>
          <a:prstGeom prst="rect">
            <a:avLst/>
          </a:prstGeom>
          <a:noFill/>
          <a:ln>
            <a:noFill/>
          </a:ln>
        </p:spPr>
        <p:txBody>
          <a:bodyPr wrap="square">
            <a:spAutoFit/>
          </a:bodyPr>
          <a:lstStyle/>
          <a:p>
            <a:pPr algn="l"/>
            <a:r>
              <a:rPr sz="1000" b="0" i="0">
                <a:solidFill>
                  <a:srgbClr val="475569"/>
                </a:solidFill>
                <a:latin typeface="Calibri"/>
              </a:rPr>
              <a:t>vw_classification_dataset</a:t>
            </a:r>
          </a:p>
        </p:txBody>
      </p:sp>
      <p:sp>
        <p:nvSpPr>
          <p:cNvPr id="13" name="Rectangle 12"/>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91056"/>
            <a:ext cx="1463040" cy="384048"/>
          </a:xfrm>
          <a:prstGeom prst="rect">
            <a:avLst/>
          </a:prstGeom>
          <a:noFill/>
          <a:ln>
            <a:noFill/>
          </a:ln>
        </p:spPr>
        <p:txBody>
          <a:bodyPr wrap="square">
            <a:spAutoFit/>
          </a:bodyPr>
          <a:lstStyle/>
          <a:p>
            <a:pPr algn="l"/>
            <a:r>
              <a:rPr sz="1000" b="1" i="0">
                <a:solidFill>
                  <a:srgbClr val="1E293B"/>
                </a:solidFill>
                <a:latin typeface="Calibri"/>
              </a:rPr>
              <a:t>Target variable</a:t>
            </a:r>
          </a:p>
        </p:txBody>
      </p:sp>
      <p:sp>
        <p:nvSpPr>
          <p:cNvPr id="15" name="TextBox 14"/>
          <p:cNvSpPr txBox="1"/>
          <p:nvPr/>
        </p:nvSpPr>
        <p:spPr>
          <a:xfrm>
            <a:off x="1984248" y="1591056"/>
            <a:ext cx="2331720" cy="384048"/>
          </a:xfrm>
          <a:prstGeom prst="rect">
            <a:avLst/>
          </a:prstGeom>
          <a:noFill/>
          <a:ln>
            <a:noFill/>
          </a:ln>
        </p:spPr>
        <p:txBody>
          <a:bodyPr wrap="square">
            <a:spAutoFit/>
          </a:bodyPr>
          <a:lstStyle/>
          <a:p>
            <a:pPr algn="l"/>
            <a:r>
              <a:rPr sz="1000" b="0" i="0">
                <a:solidFill>
                  <a:srgbClr val="475569"/>
                </a:solidFill>
                <a:latin typeface="Calibri"/>
              </a:rPr>
              <a:t>top_price  (1 when price_label = 'top-price', else 0)</a:t>
            </a:r>
          </a:p>
        </p:txBody>
      </p:sp>
      <p:sp>
        <p:nvSpPr>
          <p:cNvPr id="16" name="Rectangle 15"/>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75104"/>
            <a:ext cx="1463040" cy="384048"/>
          </a:xfrm>
          <a:prstGeom prst="rect">
            <a:avLst/>
          </a:prstGeom>
          <a:noFill/>
          <a:ln>
            <a:noFill/>
          </a:ln>
        </p:spPr>
        <p:txBody>
          <a:bodyPr wrap="square">
            <a:spAutoFit/>
          </a:bodyPr>
          <a:lstStyle/>
          <a:p>
            <a:pPr algn="l"/>
            <a:r>
              <a:rPr sz="1000" b="1" i="0">
                <a:solidFill>
                  <a:srgbClr val="1E293B"/>
                </a:solidFill>
                <a:latin typeface="Calibri"/>
              </a:rPr>
              <a:t>Output table</a:t>
            </a:r>
          </a:p>
        </p:txBody>
      </p:sp>
      <p:sp>
        <p:nvSpPr>
          <p:cNvPr id="18" name="TextBox 17"/>
          <p:cNvSpPr txBox="1"/>
          <p:nvPr/>
        </p:nvSpPr>
        <p:spPr>
          <a:xfrm>
            <a:off x="1984248" y="1975104"/>
            <a:ext cx="2331720" cy="384048"/>
          </a:xfrm>
          <a:prstGeom prst="rect">
            <a:avLst/>
          </a:prstGeom>
          <a:noFill/>
          <a:ln>
            <a:noFill/>
          </a:ln>
        </p:spPr>
        <p:txBody>
          <a:bodyPr wrap="square">
            <a:spAutoFit/>
          </a:bodyPr>
          <a:lstStyle/>
          <a:p>
            <a:pPr algn="l"/>
            <a:r>
              <a:rPr sz="1000" b="0" i="0">
                <a:solidFill>
                  <a:srgbClr val="475569"/>
                </a:solidFill>
                <a:latin typeface="Calibri"/>
              </a:rPr>
              <a:t>fact_top_price_predictions</a:t>
            </a:r>
          </a:p>
        </p:txBody>
      </p:sp>
      <p:sp>
        <p:nvSpPr>
          <p:cNvPr id="19" name="Rectangle 18"/>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59152"/>
            <a:ext cx="1463040" cy="384048"/>
          </a:xfrm>
          <a:prstGeom prst="rect">
            <a:avLst/>
          </a:prstGeom>
          <a:noFill/>
          <a:ln>
            <a:noFill/>
          </a:ln>
        </p:spPr>
        <p:txBody>
          <a:bodyPr wrap="square">
            <a:spAutoFit/>
          </a:bodyPr>
          <a:lstStyle/>
          <a:p>
            <a:pPr algn="l"/>
            <a:r>
              <a:rPr sz="1000" b="1" i="0">
                <a:solidFill>
                  <a:srgbClr val="1E293B"/>
                </a:solidFill>
                <a:latin typeface="Calibri"/>
              </a:rPr>
              <a:t>Key output fields</a:t>
            </a:r>
          </a:p>
        </p:txBody>
      </p:sp>
      <p:sp>
        <p:nvSpPr>
          <p:cNvPr id="21" name="TextBox 20"/>
          <p:cNvSpPr txBox="1"/>
          <p:nvPr/>
        </p:nvSpPr>
        <p:spPr>
          <a:xfrm>
            <a:off x="1984248" y="2359152"/>
            <a:ext cx="2331720" cy="384048"/>
          </a:xfrm>
          <a:prstGeom prst="rect">
            <a:avLst/>
          </a:prstGeom>
          <a:noFill/>
          <a:ln>
            <a:noFill/>
          </a:ln>
        </p:spPr>
        <p:txBody>
          <a:bodyPr wrap="square">
            <a:spAutoFit/>
          </a:bodyPr>
          <a:lstStyle/>
          <a:p>
            <a:pPr algn="l"/>
            <a:r>
              <a:rPr sz="1000" b="0" i="0">
                <a:solidFill>
                  <a:srgbClr val="475569"/>
                </a:solidFill>
                <a:latin typeface="Calibri"/>
              </a:rPr>
              <a:t>top_price_probability, predicted_top_price</a:t>
            </a:r>
          </a:p>
        </p:txBody>
      </p:sp>
      <p:sp>
        <p:nvSpPr>
          <p:cNvPr id="22" name="Rectangle 21"/>
          <p:cNvSpPr/>
          <p:nvPr/>
        </p:nvSpPr>
        <p:spPr>
          <a:xfrm>
            <a:off x="429768" y="2743200"/>
            <a:ext cx="3931920" cy="502920"/>
          </a:xfrm>
          <a:prstGeom prst="rect">
            <a:avLst/>
          </a:prstGeom>
          <a:solidFill>
            <a:srgbClr val="E0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743200"/>
            <a:ext cx="3785616" cy="502920"/>
          </a:xfrm>
          <a:prstGeom prst="rect">
            <a:avLst/>
          </a:prstGeom>
          <a:noFill/>
          <a:ln>
            <a:noFill/>
          </a:ln>
        </p:spPr>
        <p:txBody>
          <a:bodyPr wrap="square">
            <a:spAutoFit/>
          </a:bodyPr>
          <a:lstStyle/>
          <a:p>
            <a:pPr algn="l"/>
            <a:r>
              <a:rPr sz="950" b="0" i="1">
                <a:solidFill>
                  <a:srgbClr val="1E293B"/>
                </a:solidFill>
                <a:latin typeface="Calibri"/>
              </a:rPr>
              <a:t>The classification target is derived from the external price_label field, not from the regression output.</a:t>
            </a:r>
          </a:p>
        </p:txBody>
      </p:sp>
      <p:sp>
        <p:nvSpPr>
          <p:cNvPr id="24" name="Rectangle 23"/>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Business use</a:t>
            </a:r>
          </a:p>
        </p:txBody>
      </p:sp>
      <p:sp>
        <p:nvSpPr>
          <p:cNvPr id="26" name="TextBox 25"/>
          <p:cNvSpPr txBox="1"/>
          <p:nvPr/>
        </p:nvSpPr>
        <p:spPr>
          <a:xfrm>
            <a:off x="4544568" y="1261872"/>
            <a:ext cx="3931920" cy="731520"/>
          </a:xfrm>
          <a:prstGeom prst="rect">
            <a:avLst/>
          </a:prstGeom>
          <a:noFill/>
          <a:ln>
            <a:noFill/>
          </a:ln>
        </p:spPr>
        <p:txBody>
          <a:bodyPr wrap="square">
            <a:spAutoFit/>
          </a:bodyPr>
          <a:lstStyle/>
          <a:p>
            <a:pPr algn="l"/>
            <a:r>
              <a:rPr sz="1000" b="0" i="0">
                <a:solidFill>
                  <a:srgbClr val="475569"/>
                </a:solidFill>
                <a:latin typeface="Calibri"/>
              </a:rPr>
              <a:t>top_price_probability answers: how likely is this listing to represent a commercially attractive opportunity according to the market's own pricing signal?</a:t>
            </a:r>
          </a:p>
        </p:txBody>
      </p:sp>
      <p:sp>
        <p:nvSpPr>
          <p:cNvPr id="27" name="TextBox 26"/>
          <p:cNvSpPr txBox="1"/>
          <p:nvPr/>
        </p:nvSpPr>
        <p:spPr>
          <a:xfrm>
            <a:off x="4544568" y="2048256"/>
            <a:ext cx="3931920" cy="594360"/>
          </a:xfrm>
          <a:prstGeom prst="rect">
            <a:avLst/>
          </a:prstGeom>
          <a:noFill/>
          <a:ln>
            <a:noFill/>
          </a:ln>
        </p:spPr>
        <p:txBody>
          <a:bodyPr wrap="square">
            <a:spAutoFit/>
          </a:bodyPr>
          <a:lstStyle/>
          <a:p>
            <a:pPr algn="l"/>
            <a:r>
              <a:rPr sz="1000" b="0" i="0">
                <a:solidFill>
                  <a:srgbClr val="475569"/>
                </a:solidFill>
                <a:latin typeface="Calibri"/>
              </a:rPr>
              <a:t>A high-probability listing is not automatically acquired. It enters the committee's review queue as a prioritized candidate.</a:t>
            </a:r>
          </a:p>
        </p:txBody>
      </p:sp>
      <p:sp>
        <p:nvSpPr>
          <p:cNvPr id="28" name="TextBox 27"/>
          <p:cNvSpPr txBox="1"/>
          <p:nvPr/>
        </p:nvSpPr>
        <p:spPr>
          <a:xfrm>
            <a:off x="4544568" y="2706624"/>
            <a:ext cx="3931920" cy="320040"/>
          </a:xfrm>
          <a:prstGeom prst="rect">
            <a:avLst/>
          </a:prstGeom>
          <a:noFill/>
          <a:ln>
            <a:noFill/>
          </a:ln>
        </p:spPr>
        <p:txBody>
          <a:bodyPr wrap="square">
            <a:spAutoFit/>
          </a:bodyPr>
          <a:lstStyle/>
          <a:p>
            <a:pPr algn="l"/>
            <a:r>
              <a:rPr sz="1000" b="1" i="0">
                <a:solidFill>
                  <a:srgbClr val="1E293B"/>
                </a:solidFill>
                <a:latin typeface="Calibri"/>
              </a:rPr>
              <a:t>Generic lesson:</a:t>
            </a:r>
          </a:p>
        </p:txBody>
      </p:sp>
      <p:sp>
        <p:nvSpPr>
          <p:cNvPr id="29" name="TextBox 28"/>
          <p:cNvSpPr txBox="1"/>
          <p:nvPr/>
        </p:nvSpPr>
        <p:spPr>
          <a:xfrm>
            <a:off x="4544568" y="3054096"/>
            <a:ext cx="3931920" cy="594360"/>
          </a:xfrm>
          <a:prstGeom prst="rect">
            <a:avLst/>
          </a:prstGeom>
          <a:noFill/>
          <a:ln>
            <a:noFill/>
          </a:ln>
        </p:spPr>
        <p:txBody>
          <a:bodyPr wrap="square">
            <a:spAutoFit/>
          </a:bodyPr>
          <a:lstStyle/>
          <a:p>
            <a:pPr algn="l"/>
            <a:r>
              <a:rPr sz="1000" b="0" i="0">
                <a:solidFill>
                  <a:srgbClr val="475569"/>
                </a:solidFill>
                <a:latin typeface="Calibri"/>
              </a:rPr>
              <a:t>Classification converts raw observations into operational queues. Its value depends on how the probability threshold connects to a specific business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Layer 7 — The BI-ready semantic view (vw_bi_dashboard)</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BI view is where technical outputs become decision language.</a:t>
            </a:r>
          </a:p>
        </p:txBody>
      </p:sp>
      <p:sp>
        <p:nvSpPr>
          <p:cNvPr id="8" name="TextBox 7"/>
          <p:cNvSpPr txBox="1"/>
          <p:nvPr/>
        </p:nvSpPr>
        <p:spPr>
          <a:xfrm>
            <a:off x="429768" y="877824"/>
            <a:ext cx="8284464" cy="365760"/>
          </a:xfrm>
          <a:prstGeom prst="rect">
            <a:avLst/>
          </a:prstGeom>
          <a:noFill/>
          <a:ln>
            <a:noFill/>
          </a:ln>
        </p:spPr>
        <p:txBody>
          <a:bodyPr wrap="square">
            <a:spAutoFit/>
          </a:bodyPr>
          <a:lstStyle/>
          <a:p>
            <a:pPr algn="l"/>
            <a:r>
              <a:rPr sz="1050" b="0" i="0">
                <a:solidFill>
                  <a:srgbClr val="475569"/>
                </a:solidFill>
                <a:latin typeface="Calibri"/>
              </a:rPr>
              <a:t>sql/06_vw_bi_dashboard.sql combines all upstream outputs into a single governed view. This is the only surface that Streamlit and the Text-to-SQL assistant are allowed to query.</a:t>
            </a:r>
          </a:p>
        </p:txBody>
      </p:sp>
      <p:sp>
        <p:nvSpPr>
          <p:cNvPr id="9" name="TextBox 8"/>
          <p:cNvSpPr txBox="1"/>
          <p:nvPr/>
        </p:nvSpPr>
        <p:spPr>
          <a:xfrm>
            <a:off x="429768" y="1289304"/>
            <a:ext cx="8284464" cy="274320"/>
          </a:xfrm>
          <a:prstGeom prst="rect">
            <a:avLst/>
          </a:prstGeom>
          <a:noFill/>
          <a:ln>
            <a:noFill/>
          </a:ln>
        </p:spPr>
        <p:txBody>
          <a:bodyPr wrap="square">
            <a:spAutoFit/>
          </a:bodyPr>
          <a:lstStyle/>
          <a:p>
            <a:pPr algn="l"/>
            <a:r>
              <a:rPr sz="1000" b="1" i="0">
                <a:solidFill>
                  <a:srgbClr val="1E293B"/>
                </a:solidFill>
                <a:latin typeface="Calibri"/>
              </a:rPr>
              <a:t>Fields combined: fact_listings + dimensions + expected-price predictions + top-price predictions + quality flags  →  decision_flag</a:t>
            </a:r>
          </a:p>
        </p:txBody>
      </p:sp>
      <p:graphicFrame>
        <p:nvGraphicFramePr>
          <p:cNvPr id="10" name="Table 9"/>
          <p:cNvGraphicFramePr>
            <a:graphicFrameLocks noGrp="1"/>
          </p:cNvGraphicFramePr>
          <p:nvPr/>
        </p:nvGraphicFramePr>
        <p:xfrm>
          <a:off x="429768" y="1636776"/>
          <a:ext cx="8046720" cy="2377440"/>
        </p:xfrm>
        <a:graphic>
          <a:graphicData uri="http://schemas.openxmlformats.org/drawingml/2006/table">
            <a:tbl>
              <a:tblPr firstRow="1" bandRow="1">
                <a:tableStyleId>{5C22544A-7EE6-4342-B048-85BDC9FD1C3A}</a:tableStyleId>
              </a:tblPr>
              <a:tblGrid>
                <a:gridCol w="5120640"/>
                <a:gridCol w="2926080"/>
              </a:tblGrid>
              <a:tr h="396240">
                <a:tc>
                  <a:txBody>
                    <a:bodyPr wrap="square"/>
                    <a:lstStyle/>
                    <a:p>
                      <a:pPr algn="l"/>
                      <a:r>
                        <a:rPr sz="1050" b="1" i="0">
                          <a:solidFill>
                            <a:srgbClr val="FFFFFF"/>
                          </a:solidFill>
                          <a:latin typeface="Calibri"/>
                        </a:rPr>
                        <a:t>Condition</a:t>
                      </a:r>
                    </a:p>
                  </a:txBody>
                  <a:tcPr>
                    <a:solidFill>
                      <a:srgbClr val="1E293B"/>
                    </a:solidFill>
                  </a:tcPr>
                </a:tc>
                <a:tc>
                  <a:txBody>
                    <a:bodyPr wrap="square"/>
                    <a:lstStyle/>
                    <a:p>
                      <a:pPr algn="l"/>
                      <a:r>
                        <a:rPr sz="1050" b="1" i="0">
                          <a:solidFill>
                            <a:srgbClr val="FFFFFF"/>
                          </a:solidFill>
                          <a:latin typeface="Calibri"/>
                        </a:rPr>
                        <a:t>decision_flag</a:t>
                      </a:r>
                    </a:p>
                  </a:txBody>
                  <a:tcPr>
                    <a:solidFill>
                      <a:srgbClr val="1E293B"/>
                    </a:solidFill>
                  </a:tcPr>
                </a:tc>
              </a:tr>
              <a:tr h="396240">
                <a:tc>
                  <a:txBody>
                    <a:bodyPr wrap="square"/>
                    <a:lstStyle/>
                    <a:p>
                      <a:pPr algn="l"/>
                      <a:r>
                        <a:rPr sz="1050" b="1" i="0">
                          <a:solidFill>
                            <a:srgbClr val="1E293B"/>
                          </a:solidFill>
                          <a:latin typeface="Calibri"/>
                        </a:rPr>
                        <a:t>Missing model outputs</a:t>
                      </a:r>
                    </a:p>
                  </a:txBody>
                  <a:tcPr>
                    <a:solidFill>
                      <a:srgbClr val="FFFFFF"/>
                    </a:solidFill>
                  </a:tcPr>
                </a:tc>
                <a:tc>
                  <a:txBody>
                    <a:bodyPr wrap="square"/>
                    <a:lstStyle/>
                    <a:p>
                      <a:pPr algn="l"/>
                      <a:r>
                        <a:rPr sz="1050" b="0" i="0">
                          <a:solidFill>
                            <a:srgbClr val="475569"/>
                          </a:solidFill>
                          <a:latin typeface="Calibri"/>
                        </a:rPr>
                        <a:t>review_missing_model_outputs</a:t>
                      </a:r>
                    </a:p>
                  </a:txBody>
                  <a:tcPr>
                    <a:solidFill>
                      <a:srgbClr val="FFFFFF"/>
                    </a:solidFill>
                  </a:tcPr>
                </a:tc>
              </a:tr>
              <a:tr h="396240">
                <a:tc>
                  <a:txBody>
                    <a:bodyPr wrap="square"/>
                    <a:lstStyle/>
                    <a:p>
                      <a:pPr algn="l"/>
                      <a:r>
                        <a:rPr sz="1050" b="1" i="0">
                          <a:solidFill>
                            <a:srgbClr val="1E293B"/>
                          </a:solidFill>
                          <a:latin typeface="Calibri"/>
                        </a:rPr>
                        <a:t>price &lt; expected  AND  probability ≥ 0.5</a:t>
                      </a:r>
                    </a:p>
                  </a:txBody>
                  <a:tcPr>
                    <a:solidFill>
                      <a:srgbClr val="F1F5F9"/>
                    </a:solidFill>
                  </a:tcPr>
                </a:tc>
                <a:tc>
                  <a:txBody>
                    <a:bodyPr wrap="square"/>
                    <a:lstStyle/>
                    <a:p>
                      <a:pPr algn="l"/>
                      <a:r>
                        <a:rPr sz="1050" b="0" i="0">
                          <a:solidFill>
                            <a:srgbClr val="475569"/>
                          </a:solidFill>
                          <a:latin typeface="Calibri"/>
                        </a:rPr>
                        <a:t>high_priority_review</a:t>
                      </a:r>
                    </a:p>
                  </a:txBody>
                  <a:tcPr>
                    <a:solidFill>
                      <a:srgbClr val="F1F5F9"/>
                    </a:solidFill>
                  </a:tcPr>
                </a:tc>
              </a:tr>
              <a:tr h="396240">
                <a:tc>
                  <a:txBody>
                    <a:bodyPr wrap="square"/>
                    <a:lstStyle/>
                    <a:p>
                      <a:pPr algn="l"/>
                      <a:r>
                        <a:rPr sz="1050" b="1" i="0">
                          <a:solidFill>
                            <a:srgbClr val="1E293B"/>
                          </a:solidFill>
                          <a:latin typeface="Calibri"/>
                        </a:rPr>
                        <a:t>price &lt; expected only</a:t>
                      </a:r>
                    </a:p>
                  </a:txBody>
                  <a:tcPr>
                    <a:solidFill>
                      <a:srgbClr val="FFFFFF"/>
                    </a:solidFill>
                  </a:tcPr>
                </a:tc>
                <a:tc>
                  <a:txBody>
                    <a:bodyPr wrap="square"/>
                    <a:lstStyle/>
                    <a:p>
                      <a:pPr algn="l"/>
                      <a:r>
                        <a:rPr sz="1050" b="0" i="0">
                          <a:solidFill>
                            <a:srgbClr val="475569"/>
                          </a:solidFill>
                          <a:latin typeface="Calibri"/>
                        </a:rPr>
                        <a:t>price_opportunity</a:t>
                      </a:r>
                    </a:p>
                  </a:txBody>
                  <a:tcPr>
                    <a:solidFill>
                      <a:srgbClr val="FFFFFF"/>
                    </a:solidFill>
                  </a:tcPr>
                </a:tc>
              </a:tr>
              <a:tr h="396240">
                <a:tc>
                  <a:txBody>
                    <a:bodyPr wrap="square"/>
                    <a:lstStyle/>
                    <a:p>
                      <a:pPr algn="l"/>
                      <a:r>
                        <a:rPr sz="1050" b="1" i="0">
                          <a:solidFill>
                            <a:srgbClr val="1E293B"/>
                          </a:solidFill>
                          <a:latin typeface="Calibri"/>
                        </a:rPr>
                        <a:t>probability ≥ 0.5 only</a:t>
                      </a:r>
                    </a:p>
                  </a:txBody>
                  <a:tcPr>
                    <a:solidFill>
                      <a:srgbClr val="F1F5F9"/>
                    </a:solidFill>
                  </a:tcPr>
                </a:tc>
                <a:tc>
                  <a:txBody>
                    <a:bodyPr wrap="square"/>
                    <a:lstStyle/>
                    <a:p>
                      <a:pPr algn="l"/>
                      <a:r>
                        <a:rPr sz="1050" b="0" i="0">
                          <a:solidFill>
                            <a:srgbClr val="475569"/>
                          </a:solidFill>
                          <a:latin typeface="Calibri"/>
                        </a:rPr>
                        <a:t>top_price_signal</a:t>
                      </a:r>
                    </a:p>
                  </a:txBody>
                  <a:tcPr>
                    <a:solidFill>
                      <a:srgbClr val="F1F5F9"/>
                    </a:solidFill>
                  </a:tcPr>
                </a:tc>
              </a:tr>
              <a:tr h="396240">
                <a:tc>
                  <a:txBody>
                    <a:bodyPr wrap="square"/>
                    <a:lstStyle/>
                    <a:p>
                      <a:pPr algn="l"/>
                      <a:r>
                        <a:rPr sz="1050" b="1" i="0">
                          <a:solidFill>
                            <a:srgbClr val="1E293B"/>
                          </a:solidFill>
                          <a:latin typeface="Calibri"/>
                        </a:rPr>
                        <a:t>None of the above</a:t>
                      </a:r>
                    </a:p>
                  </a:txBody>
                  <a:tcPr>
                    <a:solidFill>
                      <a:srgbClr val="FFFFFF"/>
                    </a:solidFill>
                  </a:tcPr>
                </a:tc>
                <a:tc>
                  <a:txBody>
                    <a:bodyPr wrap="square"/>
                    <a:lstStyle/>
                    <a:p>
                      <a:pPr algn="l"/>
                      <a:r>
                        <a:rPr sz="1050" b="0" i="0">
                          <a:solidFill>
                            <a:srgbClr val="475569"/>
                          </a:solidFill>
                          <a:latin typeface="Calibri"/>
                        </a:rPr>
                        <a:t>standard_review</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Streamlit is not a chart gallery</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Streamlit is the interface of the product, not the source of truth.</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What the app does</a:t>
            </a:r>
          </a:p>
        </p:txBody>
      </p:sp>
      <p:sp>
        <p:nvSpPr>
          <p:cNvPr id="10" name="Rectangle 9"/>
          <p:cNvSpPr/>
          <p:nvPr/>
        </p:nvSpPr>
        <p:spPr>
          <a:xfrm>
            <a:off x="4297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207008"/>
            <a:ext cx="3822192" cy="384048"/>
          </a:xfrm>
          <a:prstGeom prst="rect">
            <a:avLst/>
          </a:prstGeom>
          <a:noFill/>
          <a:ln>
            <a:noFill/>
          </a:ln>
        </p:spPr>
        <p:txBody>
          <a:bodyPr wrap="square">
            <a:spAutoFit/>
          </a:bodyPr>
          <a:lstStyle/>
          <a:p>
            <a:pPr algn="l"/>
            <a:r>
              <a:rPr sz="1000" b="0" i="0">
                <a:solidFill>
                  <a:srgbClr val="475569"/>
                </a:solidFill>
                <a:latin typeface="Calibri"/>
              </a:rPr>
              <a:t>Loads vw_bi_dashboard from BigQuery</a:t>
            </a:r>
          </a:p>
        </p:txBody>
      </p:sp>
      <p:sp>
        <p:nvSpPr>
          <p:cNvPr id="12" name="Rectangle 11"/>
          <p:cNvSpPr/>
          <p:nvPr/>
        </p:nvSpPr>
        <p:spPr>
          <a:xfrm>
            <a:off x="4297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591056"/>
            <a:ext cx="3822192" cy="384048"/>
          </a:xfrm>
          <a:prstGeom prst="rect">
            <a:avLst/>
          </a:prstGeom>
          <a:noFill/>
          <a:ln>
            <a:noFill/>
          </a:ln>
        </p:spPr>
        <p:txBody>
          <a:bodyPr wrap="square">
            <a:spAutoFit/>
          </a:bodyPr>
          <a:lstStyle/>
          <a:p>
            <a:pPr algn="l"/>
            <a:r>
              <a:rPr sz="1000" b="0" i="0">
                <a:solidFill>
                  <a:srgbClr val="475569"/>
                </a:solidFill>
                <a:latin typeface="Calibri"/>
              </a:rPr>
              <a:t>Validates required columns on startup</a:t>
            </a:r>
          </a:p>
        </p:txBody>
      </p:sp>
      <p:sp>
        <p:nvSpPr>
          <p:cNvPr id="14" name="Rectangle 13"/>
          <p:cNvSpPr/>
          <p:nvPr/>
        </p:nvSpPr>
        <p:spPr>
          <a:xfrm>
            <a:off x="4297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975104"/>
            <a:ext cx="3822192" cy="384048"/>
          </a:xfrm>
          <a:prstGeom prst="rect">
            <a:avLst/>
          </a:prstGeom>
          <a:noFill/>
          <a:ln>
            <a:noFill/>
          </a:ln>
        </p:spPr>
        <p:txBody>
          <a:bodyPr wrap="square">
            <a:spAutoFit/>
          </a:bodyPr>
          <a:lstStyle/>
          <a:p>
            <a:pPr algn="l"/>
            <a:r>
              <a:rPr sz="1000" b="0" i="0">
                <a:solidFill>
                  <a:srgbClr val="475569"/>
                </a:solidFill>
                <a:latin typeface="Calibri"/>
              </a:rPr>
              <a:t>Applies business assumptions (resale haircut, costs, financing)</a:t>
            </a:r>
          </a:p>
        </p:txBody>
      </p:sp>
      <p:sp>
        <p:nvSpPr>
          <p:cNvPr id="16" name="Rectangle 15"/>
          <p:cNvSpPr/>
          <p:nvPr/>
        </p:nvSpPr>
        <p:spPr>
          <a:xfrm>
            <a:off x="4297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2359152"/>
            <a:ext cx="3822192" cy="384048"/>
          </a:xfrm>
          <a:prstGeom prst="rect">
            <a:avLst/>
          </a:prstGeom>
          <a:noFill/>
          <a:ln>
            <a:noFill/>
          </a:ln>
        </p:spPr>
        <p:txBody>
          <a:bodyPr wrap="square">
            <a:spAutoFit/>
          </a:bodyPr>
          <a:lstStyle/>
          <a:p>
            <a:pPr algn="l"/>
            <a:r>
              <a:rPr sz="1000" b="0" i="0">
                <a:solidFill>
                  <a:srgbClr val="475569"/>
                </a:solidFill>
                <a:latin typeface="Calibri"/>
              </a:rPr>
              <a:t>Exposes a decision interface to the committee</a:t>
            </a:r>
          </a:p>
        </p:txBody>
      </p:sp>
      <p:sp>
        <p:nvSpPr>
          <p:cNvPr id="18" name="Rectangle 17"/>
          <p:cNvSpPr/>
          <p:nvPr/>
        </p:nvSpPr>
        <p:spPr>
          <a:xfrm>
            <a:off x="429768" y="2743200"/>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 y="2743200"/>
            <a:ext cx="3822192" cy="384048"/>
          </a:xfrm>
          <a:prstGeom prst="rect">
            <a:avLst/>
          </a:prstGeom>
          <a:noFill/>
          <a:ln>
            <a:noFill/>
          </a:ln>
        </p:spPr>
        <p:txBody>
          <a:bodyPr wrap="square">
            <a:spAutoFit/>
          </a:bodyPr>
          <a:lstStyle/>
          <a:p>
            <a:pPr algn="l"/>
            <a:r>
              <a:rPr sz="1000" b="0" i="0">
                <a:solidFill>
                  <a:srgbClr val="475569"/>
                </a:solidFill>
                <a:latin typeface="Calibri"/>
              </a:rPr>
              <a:t>Runs governed Text-to-SQL queries</a:t>
            </a:r>
          </a:p>
        </p:txBody>
      </p:sp>
      <p:sp>
        <p:nvSpPr>
          <p:cNvPr id="20" name="Rectangle 19"/>
          <p:cNvSpPr/>
          <p:nvPr/>
        </p:nvSpPr>
        <p:spPr>
          <a:xfrm>
            <a:off x="4544568" y="877824"/>
            <a:ext cx="3931920" cy="32918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What the app must not do</a:t>
            </a:r>
          </a:p>
        </p:txBody>
      </p:sp>
      <p:sp>
        <p:nvSpPr>
          <p:cNvPr id="22" name="Rectangle 21"/>
          <p:cNvSpPr/>
          <p:nvPr/>
        </p:nvSpPr>
        <p:spPr>
          <a:xfrm>
            <a:off x="4544568" y="1207008"/>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1207008"/>
            <a:ext cx="3822192" cy="384048"/>
          </a:xfrm>
          <a:prstGeom prst="rect">
            <a:avLst/>
          </a:prstGeom>
          <a:noFill/>
          <a:ln>
            <a:noFill/>
          </a:ln>
        </p:spPr>
        <p:txBody>
          <a:bodyPr wrap="square">
            <a:spAutoFit/>
          </a:bodyPr>
          <a:lstStyle/>
          <a:p>
            <a:pPr algn="l"/>
            <a:r>
              <a:rPr sz="1000" b="0" i="0">
                <a:solidFill>
                  <a:srgbClr val="475569"/>
                </a:solidFill>
                <a:latin typeface="Calibri"/>
              </a:rPr>
              <a:t>Redefine upstream truth silently</a:t>
            </a:r>
          </a:p>
        </p:txBody>
      </p:sp>
      <p:sp>
        <p:nvSpPr>
          <p:cNvPr id="24" name="Rectangle 23"/>
          <p:cNvSpPr/>
          <p:nvPr/>
        </p:nvSpPr>
        <p:spPr>
          <a:xfrm>
            <a:off x="4544568" y="1591056"/>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36008" y="1591056"/>
            <a:ext cx="3822192" cy="384048"/>
          </a:xfrm>
          <a:prstGeom prst="rect">
            <a:avLst/>
          </a:prstGeom>
          <a:noFill/>
          <a:ln>
            <a:noFill/>
          </a:ln>
        </p:spPr>
        <p:txBody>
          <a:bodyPr wrap="square">
            <a:spAutoFit/>
          </a:bodyPr>
          <a:lstStyle/>
          <a:p>
            <a:pPr algn="l"/>
            <a:r>
              <a:rPr sz="1000" b="0" i="0">
                <a:solidFill>
                  <a:srgbClr val="475569"/>
                </a:solidFill>
                <a:latin typeface="Calibri"/>
              </a:rPr>
              <a:t>Read from raw CSV files</a:t>
            </a:r>
          </a:p>
        </p:txBody>
      </p:sp>
      <p:sp>
        <p:nvSpPr>
          <p:cNvPr id="26" name="Rectangle 25"/>
          <p:cNvSpPr/>
          <p:nvPr/>
        </p:nvSpPr>
        <p:spPr>
          <a:xfrm>
            <a:off x="4544568" y="1975104"/>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6008" y="1975104"/>
            <a:ext cx="3822192" cy="384048"/>
          </a:xfrm>
          <a:prstGeom prst="rect">
            <a:avLst/>
          </a:prstGeom>
          <a:noFill/>
          <a:ln>
            <a:noFill/>
          </a:ln>
        </p:spPr>
        <p:txBody>
          <a:bodyPr wrap="square">
            <a:spAutoFit/>
          </a:bodyPr>
          <a:lstStyle/>
          <a:p>
            <a:pPr algn="l"/>
            <a:r>
              <a:rPr sz="1000" b="0" i="0">
                <a:solidFill>
                  <a:srgbClr val="475569"/>
                </a:solidFill>
                <a:latin typeface="Calibri"/>
              </a:rPr>
              <a:t>Bypass the governed BI view</a:t>
            </a:r>
          </a:p>
        </p:txBody>
      </p:sp>
      <p:sp>
        <p:nvSpPr>
          <p:cNvPr id="28" name="Rectangle 27"/>
          <p:cNvSpPr/>
          <p:nvPr/>
        </p:nvSpPr>
        <p:spPr>
          <a:xfrm>
            <a:off x="4544568" y="2359152"/>
            <a:ext cx="393192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6008" y="2359152"/>
            <a:ext cx="3822192" cy="384048"/>
          </a:xfrm>
          <a:prstGeom prst="rect">
            <a:avLst/>
          </a:prstGeom>
          <a:noFill/>
          <a:ln>
            <a:noFill/>
          </a:ln>
        </p:spPr>
        <p:txBody>
          <a:bodyPr wrap="square">
            <a:spAutoFit/>
          </a:bodyPr>
          <a:lstStyle/>
          <a:p>
            <a:pPr algn="l"/>
            <a:r>
              <a:rPr sz="1000" b="0" i="0">
                <a:solidFill>
                  <a:srgbClr val="475569"/>
                </a:solidFill>
                <a:latin typeface="Calibri"/>
              </a:rPr>
              <a:t>Compute metrics that should live in BigQuery</a:t>
            </a:r>
          </a:p>
        </p:txBody>
      </p:sp>
      <p:sp>
        <p:nvSpPr>
          <p:cNvPr id="30" name="Rectangle 29"/>
          <p:cNvSpPr/>
          <p:nvPr/>
        </p:nvSpPr>
        <p:spPr>
          <a:xfrm>
            <a:off x="4544568" y="2743200"/>
            <a:ext cx="39319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36008" y="2743200"/>
            <a:ext cx="3822192" cy="384048"/>
          </a:xfrm>
          <a:prstGeom prst="rect">
            <a:avLst/>
          </a:prstGeom>
          <a:noFill/>
          <a:ln>
            <a:noFill/>
          </a:ln>
        </p:spPr>
        <p:txBody>
          <a:bodyPr wrap="square">
            <a:spAutoFit/>
          </a:bodyPr>
          <a:lstStyle/>
          <a:p>
            <a:pPr algn="l"/>
            <a:r>
              <a:rPr sz="1000" b="0" i="0">
                <a:solidFill>
                  <a:srgbClr val="475569"/>
                </a:solidFill>
                <a:latin typeface="Calibri"/>
              </a:rPr>
              <a:t>Allow the LLM to query arbitrary tables</a:t>
            </a:r>
          </a:p>
        </p:txBody>
      </p:sp>
      <p:sp>
        <p:nvSpPr>
          <p:cNvPr id="32" name="TextBox 31"/>
          <p:cNvSpPr txBox="1"/>
          <p:nvPr/>
        </p:nvSpPr>
        <p:spPr>
          <a:xfrm>
            <a:off x="429768" y="3127248"/>
            <a:ext cx="8284464" cy="502920"/>
          </a:xfrm>
          <a:prstGeom prst="rect">
            <a:avLst/>
          </a:prstGeom>
          <a:noFill/>
          <a:ln>
            <a:noFill/>
          </a:ln>
        </p:spPr>
        <p:txBody>
          <a:bodyPr wrap="square">
            <a:spAutoFit/>
          </a:bodyPr>
          <a:lstStyle/>
          <a:p>
            <a:pPr algn="l"/>
            <a:r>
              <a:rPr sz="1000" b="0" i="1">
                <a:solidFill>
                  <a:srgbClr val="475569"/>
                </a:solidFill>
                <a:latin typeface="Calibri"/>
              </a:rPr>
              <a:t>The Streamlit app is the last mile of the product. BigQuery remains the source of truth. Any logic that belongs to the data model must live in SQL, not in Python.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Streamlit decision product — three surfaces</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A professional data app separates executive decision, scenario simulation, and exploratory questioning.</a:t>
            </a:r>
          </a:p>
        </p:txBody>
      </p:sp>
      <p:sp>
        <p:nvSpPr>
          <p:cNvPr id="8" name="Rectangle 7"/>
          <p:cNvSpPr/>
          <p:nvPr/>
        </p:nvSpPr>
        <p:spPr>
          <a:xfrm>
            <a:off x="411480" y="923544"/>
            <a:ext cx="2651760" cy="38404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923544"/>
            <a:ext cx="2651760" cy="384048"/>
          </a:xfrm>
          <a:prstGeom prst="rect">
            <a:avLst/>
          </a:prstGeom>
          <a:noFill/>
          <a:ln>
            <a:noFill/>
          </a:ln>
        </p:spPr>
        <p:txBody>
          <a:bodyPr wrap="square">
            <a:spAutoFit/>
          </a:bodyPr>
          <a:lstStyle/>
          <a:p>
            <a:pPr algn="ctr"/>
            <a:r>
              <a:rPr sz="1050" b="1" i="0">
                <a:solidFill>
                  <a:srgbClr val="FFFFFF"/>
                </a:solidFill>
                <a:latin typeface="Calibri"/>
              </a:rPr>
              <a:t>Committee Dashboard</a:t>
            </a:r>
          </a:p>
        </p:txBody>
      </p:sp>
      <p:sp>
        <p:nvSpPr>
          <p:cNvPr id="10" name="Rectangle 9"/>
          <p:cNvSpPr/>
          <p:nvPr/>
        </p:nvSpPr>
        <p:spPr>
          <a:xfrm>
            <a:off x="411480" y="1307592"/>
            <a:ext cx="2651760" cy="25420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380744"/>
            <a:ext cx="2468880" cy="2423160"/>
          </a:xfrm>
          <a:prstGeom prst="rect">
            <a:avLst/>
          </a:prstGeom>
          <a:noFill/>
          <a:ln>
            <a:noFill/>
          </a:ln>
        </p:spPr>
        <p:txBody>
          <a:bodyPr wrap="square">
            <a:spAutoFit/>
          </a:bodyPr>
          <a:lstStyle/>
          <a:p>
            <a:pPr algn="l"/>
            <a:r>
              <a:rPr sz="950" b="0" i="0">
                <a:solidFill>
                  <a:srgbClr val="475569"/>
                </a:solidFill>
                <a:latin typeface="Calibri"/>
              </a:rPr>
              <a:t>Executive recommendation and KPIs.
Shows the top-priority listings, portfolio summary, expected discount distribution, and a Gemini-generated committee memo.
Designed for a 10-minute committee review.</a:t>
            </a:r>
          </a:p>
        </p:txBody>
      </p:sp>
      <p:sp>
        <p:nvSpPr>
          <p:cNvPr id="12" name="Rectangle 11"/>
          <p:cNvSpPr/>
          <p:nvPr/>
        </p:nvSpPr>
        <p:spPr>
          <a:xfrm>
            <a:off x="3246120" y="923544"/>
            <a:ext cx="2651760" cy="3840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46120" y="923544"/>
            <a:ext cx="2651760" cy="384048"/>
          </a:xfrm>
          <a:prstGeom prst="rect">
            <a:avLst/>
          </a:prstGeom>
          <a:noFill/>
          <a:ln>
            <a:noFill/>
          </a:ln>
        </p:spPr>
        <p:txBody>
          <a:bodyPr wrap="square">
            <a:spAutoFit/>
          </a:bodyPr>
          <a:lstStyle/>
          <a:p>
            <a:pPr algn="ctr"/>
            <a:r>
              <a:rPr sz="1050" b="1" i="0">
                <a:solidFill>
                  <a:srgbClr val="FFFFFF"/>
                </a:solidFill>
                <a:latin typeface="Calibri"/>
              </a:rPr>
              <a:t>Strategy &amp; Portfolio Builder</a:t>
            </a:r>
          </a:p>
        </p:txBody>
      </p:sp>
      <p:sp>
        <p:nvSpPr>
          <p:cNvPr id="14" name="Rectangle 13"/>
          <p:cNvSpPr/>
          <p:nvPr/>
        </p:nvSpPr>
        <p:spPr>
          <a:xfrm>
            <a:off x="3246120" y="1307592"/>
            <a:ext cx="2651760" cy="25420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380744"/>
            <a:ext cx="2468880" cy="2423160"/>
          </a:xfrm>
          <a:prstGeom prst="rect">
            <a:avLst/>
          </a:prstGeom>
          <a:noFill/>
          <a:ln>
            <a:noFill/>
          </a:ln>
        </p:spPr>
        <p:txBody>
          <a:bodyPr wrap="square">
            <a:spAutoFit/>
          </a:bodyPr>
          <a:lstStyle/>
          <a:p>
            <a:pPr algn="l"/>
            <a:r>
              <a:rPr sz="950" b="0" i="0">
                <a:solidFill>
                  <a:srgbClr val="475569"/>
                </a:solidFill>
                <a:latin typeface="Calibri"/>
              </a:rPr>
              <a:t>Filters, business assumptions, and selected portfolio.
The analyst sets resale haircut, reconditioning cost, transaction cost, funding cost, financing take-up, and cross-sell income.
The app computes expected ROI and investment score per listing.</a:t>
            </a:r>
          </a:p>
        </p:txBody>
      </p:sp>
      <p:sp>
        <p:nvSpPr>
          <p:cNvPr id="16" name="Rectangle 15"/>
          <p:cNvSpPr/>
          <p:nvPr/>
        </p:nvSpPr>
        <p:spPr>
          <a:xfrm>
            <a:off x="6080760" y="923544"/>
            <a:ext cx="265176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923544"/>
            <a:ext cx="2651760" cy="384048"/>
          </a:xfrm>
          <a:prstGeom prst="rect">
            <a:avLst/>
          </a:prstGeom>
          <a:noFill/>
          <a:ln>
            <a:noFill/>
          </a:ln>
        </p:spPr>
        <p:txBody>
          <a:bodyPr wrap="square">
            <a:spAutoFit/>
          </a:bodyPr>
          <a:lstStyle/>
          <a:p>
            <a:pPr algn="ctr"/>
            <a:r>
              <a:rPr sz="1050" b="1" i="0">
                <a:solidFill>
                  <a:srgbClr val="FFFFFF"/>
                </a:solidFill>
                <a:latin typeface="Calibri"/>
              </a:rPr>
              <a:t>Ask the Data
GenAI SQL Assistant</a:t>
            </a:r>
          </a:p>
        </p:txBody>
      </p:sp>
      <p:sp>
        <p:nvSpPr>
          <p:cNvPr id="18" name="Rectangle 17"/>
          <p:cNvSpPr/>
          <p:nvPr/>
        </p:nvSpPr>
        <p:spPr>
          <a:xfrm>
            <a:off x="6080760" y="1307592"/>
            <a:ext cx="2651760" cy="254203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1380744"/>
            <a:ext cx="2468880" cy="2423160"/>
          </a:xfrm>
          <a:prstGeom prst="rect">
            <a:avLst/>
          </a:prstGeom>
          <a:noFill/>
          <a:ln>
            <a:noFill/>
          </a:ln>
        </p:spPr>
        <p:txBody>
          <a:bodyPr wrap="square">
            <a:spAutoFit/>
          </a:bodyPr>
          <a:lstStyle/>
          <a:p>
            <a:pPr algn="l"/>
            <a:r>
              <a:rPr sz="950" b="0" i="0">
                <a:solidFill>
                  <a:srgbClr val="475569"/>
                </a:solidFill>
                <a:latin typeface="Calibri"/>
              </a:rPr>
              <a:t>Governed natural-language access to BI data.
The analyst asks a business question in plain English. The app generates SQL constrained to vw_bi_dashboard, validates it, runs a BigQuery dry-run, executes, and returns a table, chart, and executive interpretation.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From model outputs to portfolio economics</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model provides evidence. The product defines the decision.</a:t>
            </a:r>
          </a:p>
        </p:txBody>
      </p:sp>
      <p:sp>
        <p:nvSpPr>
          <p:cNvPr id="8" name="Rectangle 7"/>
          <p:cNvSpPr/>
          <p:nvPr/>
        </p:nvSpPr>
        <p:spPr>
          <a:xfrm>
            <a:off x="429768" y="877824"/>
            <a:ext cx="3931920"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877824"/>
            <a:ext cx="3931920" cy="329184"/>
          </a:xfrm>
          <a:prstGeom prst="rect">
            <a:avLst/>
          </a:prstGeom>
          <a:noFill/>
          <a:ln>
            <a:noFill/>
          </a:ln>
        </p:spPr>
        <p:txBody>
          <a:bodyPr wrap="square">
            <a:spAutoFit/>
          </a:bodyPr>
          <a:lstStyle/>
          <a:p>
            <a:pPr algn="ctr"/>
            <a:r>
              <a:rPr sz="1050" b="1" i="0">
                <a:solidFill>
                  <a:srgbClr val="FFFFFF"/>
                </a:solidFill>
                <a:latin typeface="Calibri"/>
              </a:rPr>
              <a:t>What the models provide</a:t>
            </a:r>
          </a:p>
        </p:txBody>
      </p:sp>
      <p:sp>
        <p:nvSpPr>
          <p:cNvPr id="10" name="Rectangle 9"/>
          <p:cNvSpPr/>
          <p:nvPr/>
        </p:nvSpPr>
        <p:spPr>
          <a:xfrm>
            <a:off x="429768" y="120700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07008"/>
            <a:ext cx="2011680" cy="365760"/>
          </a:xfrm>
          <a:prstGeom prst="rect">
            <a:avLst/>
          </a:prstGeom>
          <a:noFill/>
          <a:ln>
            <a:noFill/>
          </a:ln>
        </p:spPr>
        <p:txBody>
          <a:bodyPr wrap="square">
            <a:spAutoFit/>
          </a:bodyPr>
          <a:lstStyle/>
          <a:p>
            <a:pPr algn="l"/>
            <a:r>
              <a:rPr sz="950" b="1" i="0">
                <a:solidFill>
                  <a:srgbClr val="1E293B"/>
                </a:solidFill>
                <a:latin typeface="Calibri"/>
              </a:rPr>
              <a:t>actual_price_eur</a:t>
            </a:r>
          </a:p>
        </p:txBody>
      </p:sp>
      <p:sp>
        <p:nvSpPr>
          <p:cNvPr id="12" name="TextBox 11"/>
          <p:cNvSpPr txBox="1"/>
          <p:nvPr/>
        </p:nvSpPr>
        <p:spPr>
          <a:xfrm>
            <a:off x="2532888" y="1207008"/>
            <a:ext cx="1783080" cy="365760"/>
          </a:xfrm>
          <a:prstGeom prst="rect">
            <a:avLst/>
          </a:prstGeom>
          <a:noFill/>
          <a:ln>
            <a:noFill/>
          </a:ln>
        </p:spPr>
        <p:txBody>
          <a:bodyPr wrap="square">
            <a:spAutoFit/>
          </a:bodyPr>
          <a:lstStyle/>
          <a:p>
            <a:pPr algn="l"/>
            <a:r>
              <a:rPr sz="950" b="0" i="0">
                <a:solidFill>
                  <a:srgbClr val="475569"/>
                </a:solidFill>
                <a:latin typeface="Calibri"/>
              </a:rPr>
              <a:t>fact_listings</a:t>
            </a:r>
          </a:p>
        </p:txBody>
      </p:sp>
      <p:sp>
        <p:nvSpPr>
          <p:cNvPr id="13" name="Rectangle 12"/>
          <p:cNvSpPr/>
          <p:nvPr/>
        </p:nvSpPr>
        <p:spPr>
          <a:xfrm>
            <a:off x="429768" y="157276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572768"/>
            <a:ext cx="2011680" cy="365760"/>
          </a:xfrm>
          <a:prstGeom prst="rect">
            <a:avLst/>
          </a:prstGeom>
          <a:noFill/>
          <a:ln>
            <a:noFill/>
          </a:ln>
        </p:spPr>
        <p:txBody>
          <a:bodyPr wrap="square">
            <a:spAutoFit/>
          </a:bodyPr>
          <a:lstStyle/>
          <a:p>
            <a:pPr algn="l"/>
            <a:r>
              <a:rPr sz="950" b="1" i="0">
                <a:solidFill>
                  <a:srgbClr val="1E293B"/>
                </a:solidFill>
                <a:latin typeface="Calibri"/>
              </a:rPr>
              <a:t>expected_price_eur</a:t>
            </a:r>
          </a:p>
        </p:txBody>
      </p:sp>
      <p:sp>
        <p:nvSpPr>
          <p:cNvPr id="15" name="TextBox 14"/>
          <p:cNvSpPr txBox="1"/>
          <p:nvPr/>
        </p:nvSpPr>
        <p:spPr>
          <a:xfrm>
            <a:off x="2532888" y="1572768"/>
            <a:ext cx="1783080" cy="365760"/>
          </a:xfrm>
          <a:prstGeom prst="rect">
            <a:avLst/>
          </a:prstGeom>
          <a:noFill/>
          <a:ln>
            <a:noFill/>
          </a:ln>
        </p:spPr>
        <p:txBody>
          <a:bodyPr wrap="square">
            <a:spAutoFit/>
          </a:bodyPr>
          <a:lstStyle/>
          <a:p>
            <a:pPr algn="l"/>
            <a:r>
              <a:rPr sz="950" b="0" i="0">
                <a:solidFill>
                  <a:srgbClr val="475569"/>
                </a:solidFill>
                <a:latin typeface="Calibri"/>
              </a:rPr>
              <a:t>Regression (Notebook 04)</a:t>
            </a:r>
          </a:p>
        </p:txBody>
      </p:sp>
      <p:sp>
        <p:nvSpPr>
          <p:cNvPr id="16" name="Rectangle 15"/>
          <p:cNvSpPr/>
          <p:nvPr/>
        </p:nvSpPr>
        <p:spPr>
          <a:xfrm>
            <a:off x="429768" y="193852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938528"/>
            <a:ext cx="2011680" cy="365760"/>
          </a:xfrm>
          <a:prstGeom prst="rect">
            <a:avLst/>
          </a:prstGeom>
          <a:noFill/>
          <a:ln>
            <a:noFill/>
          </a:ln>
        </p:spPr>
        <p:txBody>
          <a:bodyPr wrap="square">
            <a:spAutoFit/>
          </a:bodyPr>
          <a:lstStyle/>
          <a:p>
            <a:pPr algn="l"/>
            <a:r>
              <a:rPr sz="950" b="1" i="0">
                <a:solidFill>
                  <a:srgbClr val="1E293B"/>
                </a:solidFill>
                <a:latin typeface="Calibri"/>
              </a:rPr>
              <a:t>expected_price_gap_eur</a:t>
            </a:r>
          </a:p>
        </p:txBody>
      </p:sp>
      <p:sp>
        <p:nvSpPr>
          <p:cNvPr id="18" name="TextBox 17"/>
          <p:cNvSpPr txBox="1"/>
          <p:nvPr/>
        </p:nvSpPr>
        <p:spPr>
          <a:xfrm>
            <a:off x="2532888" y="1938528"/>
            <a:ext cx="1783080" cy="365760"/>
          </a:xfrm>
          <a:prstGeom prst="rect">
            <a:avLst/>
          </a:prstGeom>
          <a:noFill/>
          <a:ln>
            <a:noFill/>
          </a:ln>
        </p:spPr>
        <p:txBody>
          <a:bodyPr wrap="square">
            <a:spAutoFit/>
          </a:bodyPr>
          <a:lstStyle/>
          <a:p>
            <a:pPr algn="l"/>
            <a:r>
              <a:rPr sz="950" b="0" i="0">
                <a:solidFill>
                  <a:srgbClr val="475569"/>
                </a:solidFill>
                <a:latin typeface="Calibri"/>
              </a:rPr>
              <a:t>BI view computation</a:t>
            </a:r>
          </a:p>
        </p:txBody>
      </p:sp>
      <p:sp>
        <p:nvSpPr>
          <p:cNvPr id="19" name="Rectangle 18"/>
          <p:cNvSpPr/>
          <p:nvPr/>
        </p:nvSpPr>
        <p:spPr>
          <a:xfrm>
            <a:off x="429768" y="230428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304288"/>
            <a:ext cx="2011680" cy="365760"/>
          </a:xfrm>
          <a:prstGeom prst="rect">
            <a:avLst/>
          </a:prstGeom>
          <a:noFill/>
          <a:ln>
            <a:noFill/>
          </a:ln>
        </p:spPr>
        <p:txBody>
          <a:bodyPr wrap="square">
            <a:spAutoFit/>
          </a:bodyPr>
          <a:lstStyle/>
          <a:p>
            <a:pPr algn="l"/>
            <a:r>
              <a:rPr sz="950" b="1" i="0">
                <a:solidFill>
                  <a:srgbClr val="1E293B"/>
                </a:solidFill>
                <a:latin typeface="Calibri"/>
              </a:rPr>
              <a:t>top_price_probability</a:t>
            </a:r>
          </a:p>
        </p:txBody>
      </p:sp>
      <p:sp>
        <p:nvSpPr>
          <p:cNvPr id="21" name="TextBox 20"/>
          <p:cNvSpPr txBox="1"/>
          <p:nvPr/>
        </p:nvSpPr>
        <p:spPr>
          <a:xfrm>
            <a:off x="2532888" y="2304288"/>
            <a:ext cx="1783080" cy="365760"/>
          </a:xfrm>
          <a:prstGeom prst="rect">
            <a:avLst/>
          </a:prstGeom>
          <a:noFill/>
          <a:ln>
            <a:noFill/>
          </a:ln>
        </p:spPr>
        <p:txBody>
          <a:bodyPr wrap="square">
            <a:spAutoFit/>
          </a:bodyPr>
          <a:lstStyle/>
          <a:p>
            <a:pPr algn="l"/>
            <a:r>
              <a:rPr sz="950" b="0" i="0">
                <a:solidFill>
                  <a:srgbClr val="475569"/>
                </a:solidFill>
                <a:latin typeface="Calibri"/>
              </a:rPr>
              <a:t>Classification (Notebook 05)</a:t>
            </a:r>
          </a:p>
        </p:txBody>
      </p:sp>
      <p:sp>
        <p:nvSpPr>
          <p:cNvPr id="22" name="Rectangle 21"/>
          <p:cNvSpPr/>
          <p:nvPr/>
        </p:nvSpPr>
        <p:spPr>
          <a:xfrm>
            <a:off x="429768" y="2670048"/>
            <a:ext cx="3931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670048"/>
            <a:ext cx="2011680" cy="365760"/>
          </a:xfrm>
          <a:prstGeom prst="rect">
            <a:avLst/>
          </a:prstGeom>
          <a:noFill/>
          <a:ln>
            <a:noFill/>
          </a:ln>
        </p:spPr>
        <p:txBody>
          <a:bodyPr wrap="square">
            <a:spAutoFit/>
          </a:bodyPr>
          <a:lstStyle/>
          <a:p>
            <a:pPr algn="l"/>
            <a:r>
              <a:rPr sz="950" b="1" i="0">
                <a:solidFill>
                  <a:srgbClr val="1E293B"/>
                </a:solidFill>
                <a:latin typeface="Calibri"/>
              </a:rPr>
              <a:t>predicted_top_price</a:t>
            </a:r>
          </a:p>
        </p:txBody>
      </p:sp>
      <p:sp>
        <p:nvSpPr>
          <p:cNvPr id="24" name="TextBox 23"/>
          <p:cNvSpPr txBox="1"/>
          <p:nvPr/>
        </p:nvSpPr>
        <p:spPr>
          <a:xfrm>
            <a:off x="2532888" y="2670048"/>
            <a:ext cx="1783080" cy="365760"/>
          </a:xfrm>
          <a:prstGeom prst="rect">
            <a:avLst/>
          </a:prstGeom>
          <a:noFill/>
          <a:ln>
            <a:noFill/>
          </a:ln>
        </p:spPr>
        <p:txBody>
          <a:bodyPr wrap="square">
            <a:spAutoFit/>
          </a:bodyPr>
          <a:lstStyle/>
          <a:p>
            <a:pPr algn="l"/>
            <a:r>
              <a:rPr sz="950" b="0" i="0">
                <a:solidFill>
                  <a:srgbClr val="475569"/>
                </a:solidFill>
                <a:latin typeface="Calibri"/>
              </a:rPr>
              <a:t>Classification (Notebook 05)</a:t>
            </a:r>
          </a:p>
        </p:txBody>
      </p:sp>
      <p:sp>
        <p:nvSpPr>
          <p:cNvPr id="25" name="Rectangle 24"/>
          <p:cNvSpPr/>
          <p:nvPr/>
        </p:nvSpPr>
        <p:spPr>
          <a:xfrm>
            <a:off x="429768" y="3035808"/>
            <a:ext cx="393192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035808"/>
            <a:ext cx="2011680" cy="365760"/>
          </a:xfrm>
          <a:prstGeom prst="rect">
            <a:avLst/>
          </a:prstGeom>
          <a:noFill/>
          <a:ln>
            <a:noFill/>
          </a:ln>
        </p:spPr>
        <p:txBody>
          <a:bodyPr wrap="square">
            <a:spAutoFit/>
          </a:bodyPr>
          <a:lstStyle/>
          <a:p>
            <a:pPr algn="l"/>
            <a:r>
              <a:rPr sz="950" b="1" i="0">
                <a:solidFill>
                  <a:srgbClr val="1E293B"/>
                </a:solidFill>
                <a:latin typeface="Calibri"/>
              </a:rPr>
              <a:t>decision_flag</a:t>
            </a:r>
          </a:p>
        </p:txBody>
      </p:sp>
      <p:sp>
        <p:nvSpPr>
          <p:cNvPr id="27" name="TextBox 26"/>
          <p:cNvSpPr txBox="1"/>
          <p:nvPr/>
        </p:nvSpPr>
        <p:spPr>
          <a:xfrm>
            <a:off x="2532888" y="3035808"/>
            <a:ext cx="1783080" cy="365760"/>
          </a:xfrm>
          <a:prstGeom prst="rect">
            <a:avLst/>
          </a:prstGeom>
          <a:noFill/>
          <a:ln>
            <a:noFill/>
          </a:ln>
        </p:spPr>
        <p:txBody>
          <a:bodyPr wrap="square">
            <a:spAutoFit/>
          </a:bodyPr>
          <a:lstStyle/>
          <a:p>
            <a:pPr algn="l"/>
            <a:r>
              <a:rPr sz="950" b="0" i="0">
                <a:solidFill>
                  <a:srgbClr val="475569"/>
                </a:solidFill>
                <a:latin typeface="Calibri"/>
              </a:rPr>
              <a:t>BI view logic</a:t>
            </a:r>
          </a:p>
        </p:txBody>
      </p:sp>
      <p:sp>
        <p:nvSpPr>
          <p:cNvPr id="28" name="Rectangle 27"/>
          <p:cNvSpPr/>
          <p:nvPr/>
        </p:nvSpPr>
        <p:spPr>
          <a:xfrm>
            <a:off x="4544568" y="877824"/>
            <a:ext cx="3931920" cy="32918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877824"/>
            <a:ext cx="3931920" cy="329184"/>
          </a:xfrm>
          <a:prstGeom prst="rect">
            <a:avLst/>
          </a:prstGeom>
          <a:noFill/>
          <a:ln>
            <a:noFill/>
          </a:ln>
        </p:spPr>
        <p:txBody>
          <a:bodyPr wrap="square">
            <a:spAutoFit/>
          </a:bodyPr>
          <a:lstStyle/>
          <a:p>
            <a:pPr algn="ctr"/>
            <a:r>
              <a:rPr sz="1050" b="1" i="0">
                <a:solidFill>
                  <a:srgbClr val="FFFFFF"/>
                </a:solidFill>
                <a:latin typeface="Calibri"/>
              </a:rPr>
              <a:t>What the business layer adds (Streamlit)</a:t>
            </a:r>
          </a:p>
        </p:txBody>
      </p:sp>
      <p:sp>
        <p:nvSpPr>
          <p:cNvPr id="30" name="Rectangle 29"/>
          <p:cNvSpPr/>
          <p:nvPr/>
        </p:nvSpPr>
        <p:spPr>
          <a:xfrm>
            <a:off x="4544568" y="1207008"/>
            <a:ext cx="3931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1207008"/>
            <a:ext cx="1920240" cy="274320"/>
          </a:xfrm>
          <a:prstGeom prst="rect">
            <a:avLst/>
          </a:prstGeom>
          <a:noFill/>
          <a:ln>
            <a:noFill/>
          </a:ln>
        </p:spPr>
        <p:txBody>
          <a:bodyPr wrap="square">
            <a:spAutoFit/>
          </a:bodyPr>
          <a:lstStyle/>
          <a:p>
            <a:pPr algn="l"/>
            <a:r>
              <a:rPr sz="900" b="1" i="0">
                <a:solidFill>
                  <a:srgbClr val="1E293B"/>
                </a:solidFill>
                <a:latin typeface="Calibri"/>
              </a:rPr>
              <a:t>Resale haircut (%)</a:t>
            </a:r>
          </a:p>
        </p:txBody>
      </p:sp>
      <p:sp>
        <p:nvSpPr>
          <p:cNvPr id="32" name="TextBox 31"/>
          <p:cNvSpPr txBox="1"/>
          <p:nvPr/>
        </p:nvSpPr>
        <p:spPr>
          <a:xfrm>
            <a:off x="6556248" y="1207008"/>
            <a:ext cx="1874520" cy="274320"/>
          </a:xfrm>
          <a:prstGeom prst="rect">
            <a:avLst/>
          </a:prstGeom>
          <a:noFill/>
          <a:ln>
            <a:noFill/>
          </a:ln>
        </p:spPr>
        <p:txBody>
          <a:bodyPr wrap="square">
            <a:spAutoFit/>
          </a:bodyPr>
          <a:lstStyle/>
          <a:p>
            <a:pPr algn="l"/>
            <a:r>
              <a:rPr sz="900" b="0" i="0">
                <a:solidFill>
                  <a:srgbClr val="475569"/>
                </a:solidFill>
                <a:latin typeface="Calibri"/>
              </a:rPr>
              <a:t>Expected resale discount</a:t>
            </a:r>
          </a:p>
        </p:txBody>
      </p:sp>
      <p:sp>
        <p:nvSpPr>
          <p:cNvPr id="33" name="Rectangle 32"/>
          <p:cNvSpPr/>
          <p:nvPr/>
        </p:nvSpPr>
        <p:spPr>
          <a:xfrm>
            <a:off x="4544568" y="1481328"/>
            <a:ext cx="393192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17720" y="1481328"/>
            <a:ext cx="1920240" cy="274320"/>
          </a:xfrm>
          <a:prstGeom prst="rect">
            <a:avLst/>
          </a:prstGeom>
          <a:noFill/>
          <a:ln>
            <a:noFill/>
          </a:ln>
        </p:spPr>
        <p:txBody>
          <a:bodyPr wrap="square">
            <a:spAutoFit/>
          </a:bodyPr>
          <a:lstStyle/>
          <a:p>
            <a:pPr algn="l"/>
            <a:r>
              <a:rPr sz="900" b="1" i="0">
                <a:solidFill>
                  <a:srgbClr val="1E293B"/>
                </a:solidFill>
                <a:latin typeface="Calibri"/>
              </a:rPr>
              <a:t>Reconditioning cost (€)</a:t>
            </a:r>
          </a:p>
        </p:txBody>
      </p:sp>
      <p:sp>
        <p:nvSpPr>
          <p:cNvPr id="35" name="TextBox 34"/>
          <p:cNvSpPr txBox="1"/>
          <p:nvPr/>
        </p:nvSpPr>
        <p:spPr>
          <a:xfrm>
            <a:off x="6556248" y="1481328"/>
            <a:ext cx="1874520" cy="274320"/>
          </a:xfrm>
          <a:prstGeom prst="rect">
            <a:avLst/>
          </a:prstGeom>
          <a:noFill/>
          <a:ln>
            <a:noFill/>
          </a:ln>
        </p:spPr>
        <p:txBody>
          <a:bodyPr wrap="square">
            <a:spAutoFit/>
          </a:bodyPr>
          <a:lstStyle/>
          <a:p>
            <a:pPr algn="l"/>
            <a:r>
              <a:rPr sz="900" b="0" i="0">
                <a:solidFill>
                  <a:srgbClr val="475569"/>
                </a:solidFill>
                <a:latin typeface="Calibri"/>
              </a:rPr>
              <a:t>Preparation cost per vehicle</a:t>
            </a:r>
          </a:p>
        </p:txBody>
      </p:sp>
      <p:sp>
        <p:nvSpPr>
          <p:cNvPr id="36" name="Rectangle 35"/>
          <p:cNvSpPr/>
          <p:nvPr/>
        </p:nvSpPr>
        <p:spPr>
          <a:xfrm>
            <a:off x="4544568" y="1755648"/>
            <a:ext cx="3931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1755648"/>
            <a:ext cx="1920240" cy="274320"/>
          </a:xfrm>
          <a:prstGeom prst="rect">
            <a:avLst/>
          </a:prstGeom>
          <a:noFill/>
          <a:ln>
            <a:noFill/>
          </a:ln>
        </p:spPr>
        <p:txBody>
          <a:bodyPr wrap="square">
            <a:spAutoFit/>
          </a:bodyPr>
          <a:lstStyle/>
          <a:p>
            <a:pPr algn="l"/>
            <a:r>
              <a:rPr sz="900" b="1" i="0">
                <a:solidFill>
                  <a:srgbClr val="1E293B"/>
                </a:solidFill>
                <a:latin typeface="Calibri"/>
              </a:rPr>
              <a:t>Transaction cost (%)</a:t>
            </a:r>
          </a:p>
        </p:txBody>
      </p:sp>
      <p:sp>
        <p:nvSpPr>
          <p:cNvPr id="38" name="TextBox 37"/>
          <p:cNvSpPr txBox="1"/>
          <p:nvPr/>
        </p:nvSpPr>
        <p:spPr>
          <a:xfrm>
            <a:off x="6556248" y="1755648"/>
            <a:ext cx="1874520" cy="274320"/>
          </a:xfrm>
          <a:prstGeom prst="rect">
            <a:avLst/>
          </a:prstGeom>
          <a:noFill/>
          <a:ln>
            <a:noFill/>
          </a:ln>
        </p:spPr>
        <p:txBody>
          <a:bodyPr wrap="square">
            <a:spAutoFit/>
          </a:bodyPr>
          <a:lstStyle/>
          <a:p>
            <a:pPr algn="l"/>
            <a:r>
              <a:rPr sz="900" b="0" i="0">
                <a:solidFill>
                  <a:srgbClr val="475569"/>
                </a:solidFill>
                <a:latin typeface="Calibri"/>
              </a:rPr>
              <a:t>Acquisition overhead</a:t>
            </a:r>
          </a:p>
        </p:txBody>
      </p:sp>
      <p:sp>
        <p:nvSpPr>
          <p:cNvPr id="39" name="Rectangle 38"/>
          <p:cNvSpPr/>
          <p:nvPr/>
        </p:nvSpPr>
        <p:spPr>
          <a:xfrm>
            <a:off x="4544568" y="2029968"/>
            <a:ext cx="393192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2029968"/>
            <a:ext cx="1920240" cy="274320"/>
          </a:xfrm>
          <a:prstGeom prst="rect">
            <a:avLst/>
          </a:prstGeom>
          <a:noFill/>
          <a:ln>
            <a:noFill/>
          </a:ln>
        </p:spPr>
        <p:txBody>
          <a:bodyPr wrap="square">
            <a:spAutoFit/>
          </a:bodyPr>
          <a:lstStyle/>
          <a:p>
            <a:pPr algn="l"/>
            <a:r>
              <a:rPr sz="900" b="1" i="0">
                <a:solidFill>
                  <a:srgbClr val="1E293B"/>
                </a:solidFill>
                <a:latin typeface="Calibri"/>
              </a:rPr>
              <a:t>Funding cost (%)</a:t>
            </a:r>
          </a:p>
        </p:txBody>
      </p:sp>
      <p:sp>
        <p:nvSpPr>
          <p:cNvPr id="41" name="TextBox 40"/>
          <p:cNvSpPr txBox="1"/>
          <p:nvPr/>
        </p:nvSpPr>
        <p:spPr>
          <a:xfrm>
            <a:off x="6556248" y="2029968"/>
            <a:ext cx="1874520" cy="274320"/>
          </a:xfrm>
          <a:prstGeom prst="rect">
            <a:avLst/>
          </a:prstGeom>
          <a:noFill/>
          <a:ln>
            <a:noFill/>
          </a:ln>
        </p:spPr>
        <p:txBody>
          <a:bodyPr wrap="square">
            <a:spAutoFit/>
          </a:bodyPr>
          <a:lstStyle/>
          <a:p>
            <a:pPr algn="l"/>
            <a:r>
              <a:rPr sz="900" b="0" i="0">
                <a:solidFill>
                  <a:srgbClr val="475569"/>
                </a:solidFill>
                <a:latin typeface="Calibri"/>
              </a:rPr>
              <a:t>Cost of capital</a:t>
            </a:r>
          </a:p>
        </p:txBody>
      </p:sp>
      <p:sp>
        <p:nvSpPr>
          <p:cNvPr id="42" name="Rectangle 41"/>
          <p:cNvSpPr/>
          <p:nvPr/>
        </p:nvSpPr>
        <p:spPr>
          <a:xfrm>
            <a:off x="4544568" y="2304288"/>
            <a:ext cx="3931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17720" y="2304288"/>
            <a:ext cx="1920240" cy="274320"/>
          </a:xfrm>
          <a:prstGeom prst="rect">
            <a:avLst/>
          </a:prstGeom>
          <a:noFill/>
          <a:ln>
            <a:noFill/>
          </a:ln>
        </p:spPr>
        <p:txBody>
          <a:bodyPr wrap="square">
            <a:spAutoFit/>
          </a:bodyPr>
          <a:lstStyle/>
          <a:p>
            <a:pPr algn="l"/>
            <a:r>
              <a:rPr sz="900" b="1" i="0">
                <a:solidFill>
                  <a:srgbClr val="1E293B"/>
                </a:solidFill>
                <a:latin typeface="Calibri"/>
              </a:rPr>
              <a:t>Financing take-up (%)</a:t>
            </a:r>
          </a:p>
        </p:txBody>
      </p:sp>
      <p:sp>
        <p:nvSpPr>
          <p:cNvPr id="44" name="TextBox 43"/>
          <p:cNvSpPr txBox="1"/>
          <p:nvPr/>
        </p:nvSpPr>
        <p:spPr>
          <a:xfrm>
            <a:off x="6556248" y="2304288"/>
            <a:ext cx="1874520" cy="274320"/>
          </a:xfrm>
          <a:prstGeom prst="rect">
            <a:avLst/>
          </a:prstGeom>
          <a:noFill/>
          <a:ln>
            <a:noFill/>
          </a:ln>
        </p:spPr>
        <p:txBody>
          <a:bodyPr wrap="square">
            <a:spAutoFit/>
          </a:bodyPr>
          <a:lstStyle/>
          <a:p>
            <a:pPr algn="l"/>
            <a:r>
              <a:rPr sz="900" b="0" i="0">
                <a:solidFill>
                  <a:srgbClr val="475569"/>
                </a:solidFill>
                <a:latin typeface="Calibri"/>
              </a:rPr>
              <a:t>Share of buyers using financing</a:t>
            </a:r>
          </a:p>
        </p:txBody>
      </p:sp>
      <p:sp>
        <p:nvSpPr>
          <p:cNvPr id="45" name="Rectangle 44"/>
          <p:cNvSpPr/>
          <p:nvPr/>
        </p:nvSpPr>
        <p:spPr>
          <a:xfrm>
            <a:off x="4544568" y="2578608"/>
            <a:ext cx="393192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2578608"/>
            <a:ext cx="1920240" cy="274320"/>
          </a:xfrm>
          <a:prstGeom prst="rect">
            <a:avLst/>
          </a:prstGeom>
          <a:noFill/>
          <a:ln>
            <a:noFill/>
          </a:ln>
        </p:spPr>
        <p:txBody>
          <a:bodyPr wrap="square">
            <a:spAutoFit/>
          </a:bodyPr>
          <a:lstStyle/>
          <a:p>
            <a:pPr algn="l"/>
            <a:r>
              <a:rPr sz="900" b="1" i="0">
                <a:solidFill>
                  <a:srgbClr val="1E293B"/>
                </a:solidFill>
                <a:latin typeface="Calibri"/>
              </a:rPr>
              <a:t>Cross-sell income (€)</a:t>
            </a:r>
          </a:p>
        </p:txBody>
      </p:sp>
      <p:sp>
        <p:nvSpPr>
          <p:cNvPr id="47" name="TextBox 46"/>
          <p:cNvSpPr txBox="1"/>
          <p:nvPr/>
        </p:nvSpPr>
        <p:spPr>
          <a:xfrm>
            <a:off x="6556248" y="2578608"/>
            <a:ext cx="1874520" cy="274320"/>
          </a:xfrm>
          <a:prstGeom prst="rect">
            <a:avLst/>
          </a:prstGeom>
          <a:noFill/>
          <a:ln>
            <a:noFill/>
          </a:ln>
        </p:spPr>
        <p:txBody>
          <a:bodyPr wrap="square">
            <a:spAutoFit/>
          </a:bodyPr>
          <a:lstStyle/>
          <a:p>
            <a:pPr algn="l"/>
            <a:r>
              <a:rPr sz="900" b="0" i="0">
                <a:solidFill>
                  <a:srgbClr val="475569"/>
                </a:solidFill>
                <a:latin typeface="Calibri"/>
              </a:rPr>
              <a:t>Expected ancillary revenue</a:t>
            </a:r>
          </a:p>
        </p:txBody>
      </p:sp>
      <p:sp>
        <p:nvSpPr>
          <p:cNvPr id="48" name="Rectangle 47"/>
          <p:cNvSpPr/>
          <p:nvPr/>
        </p:nvSpPr>
        <p:spPr>
          <a:xfrm>
            <a:off x="4544568" y="2852928"/>
            <a:ext cx="39319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2852928"/>
            <a:ext cx="1920240" cy="274320"/>
          </a:xfrm>
          <a:prstGeom prst="rect">
            <a:avLst/>
          </a:prstGeom>
          <a:noFill/>
          <a:ln>
            <a:noFill/>
          </a:ln>
        </p:spPr>
        <p:txBody>
          <a:bodyPr wrap="square">
            <a:spAutoFit/>
          </a:bodyPr>
          <a:lstStyle/>
          <a:p>
            <a:pPr algn="l"/>
            <a:r>
              <a:rPr sz="900" b="1" i="0">
                <a:solidFill>
                  <a:srgbClr val="1E293B"/>
                </a:solidFill>
                <a:latin typeface="Calibri"/>
              </a:rPr>
              <a:t>Expected ROI</a:t>
            </a:r>
          </a:p>
        </p:txBody>
      </p:sp>
      <p:sp>
        <p:nvSpPr>
          <p:cNvPr id="50" name="TextBox 49"/>
          <p:cNvSpPr txBox="1"/>
          <p:nvPr/>
        </p:nvSpPr>
        <p:spPr>
          <a:xfrm>
            <a:off x="6556248" y="2852928"/>
            <a:ext cx="1874520" cy="274320"/>
          </a:xfrm>
          <a:prstGeom prst="rect">
            <a:avLst/>
          </a:prstGeom>
          <a:noFill/>
          <a:ln>
            <a:noFill/>
          </a:ln>
        </p:spPr>
        <p:txBody>
          <a:bodyPr wrap="square">
            <a:spAutoFit/>
          </a:bodyPr>
          <a:lstStyle/>
          <a:p>
            <a:pPr algn="l"/>
            <a:r>
              <a:rPr sz="900" b="0" i="0">
                <a:solidFill>
                  <a:srgbClr val="475569"/>
                </a:solidFill>
                <a:latin typeface="Calibri"/>
              </a:rPr>
              <a:t>Combined investment return</a:t>
            </a:r>
          </a:p>
        </p:txBody>
      </p:sp>
      <p:sp>
        <p:nvSpPr>
          <p:cNvPr id="51" name="Rectangle 50"/>
          <p:cNvSpPr/>
          <p:nvPr/>
        </p:nvSpPr>
        <p:spPr>
          <a:xfrm>
            <a:off x="4544568" y="3127248"/>
            <a:ext cx="3931920" cy="2743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3127248"/>
            <a:ext cx="1920240" cy="274320"/>
          </a:xfrm>
          <a:prstGeom prst="rect">
            <a:avLst/>
          </a:prstGeom>
          <a:noFill/>
          <a:ln>
            <a:noFill/>
          </a:ln>
        </p:spPr>
        <p:txBody>
          <a:bodyPr wrap="square">
            <a:spAutoFit/>
          </a:bodyPr>
          <a:lstStyle/>
          <a:p>
            <a:pPr algn="l"/>
            <a:r>
              <a:rPr sz="900" b="1" i="0">
                <a:solidFill>
                  <a:srgbClr val="1E293B"/>
                </a:solidFill>
                <a:latin typeface="Calibri"/>
              </a:rPr>
              <a:t>Investment score</a:t>
            </a:r>
          </a:p>
        </p:txBody>
      </p:sp>
      <p:sp>
        <p:nvSpPr>
          <p:cNvPr id="53" name="TextBox 52"/>
          <p:cNvSpPr txBox="1"/>
          <p:nvPr/>
        </p:nvSpPr>
        <p:spPr>
          <a:xfrm>
            <a:off x="6556248" y="3127248"/>
            <a:ext cx="1874520" cy="274320"/>
          </a:xfrm>
          <a:prstGeom prst="rect">
            <a:avLst/>
          </a:prstGeom>
          <a:noFill/>
          <a:ln>
            <a:noFill/>
          </a:ln>
        </p:spPr>
        <p:txBody>
          <a:bodyPr wrap="square">
            <a:spAutoFit/>
          </a:bodyPr>
          <a:lstStyle/>
          <a:p>
            <a:pPr algn="l"/>
            <a:r>
              <a:rPr sz="900" b="0" i="0">
                <a:solidFill>
                  <a:srgbClr val="475569"/>
                </a:solidFill>
                <a:latin typeface="Calibri"/>
              </a:rPr>
              <a:t>Composite ranking signal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Text-to-SQL is not powered by the LLM alone</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Text-to-SQL becomes reliable only when the architecture narrows what the model is allowed to mean.</a:t>
            </a:r>
          </a:p>
        </p:txBody>
      </p:sp>
      <p:sp>
        <p:nvSpPr>
          <p:cNvPr id="8" name="TextBox 7"/>
          <p:cNvSpPr txBox="1"/>
          <p:nvPr/>
        </p:nvSpPr>
        <p:spPr>
          <a:xfrm>
            <a:off x="429768" y="877824"/>
            <a:ext cx="8284464" cy="347472"/>
          </a:xfrm>
          <a:prstGeom prst="rect">
            <a:avLst/>
          </a:prstGeom>
          <a:noFill/>
          <a:ln>
            <a:noFill/>
          </a:ln>
        </p:spPr>
        <p:txBody>
          <a:bodyPr wrap="square">
            <a:spAutoFit/>
          </a:bodyPr>
          <a:lstStyle/>
          <a:p>
            <a:pPr algn="l"/>
            <a:r>
              <a:rPr sz="1050" b="0" i="0">
                <a:solidFill>
                  <a:srgbClr val="475569"/>
                </a:solidFill>
                <a:latin typeface="Calibri"/>
              </a:rPr>
              <a:t>An LLM can generate useful SQL only because the architecture gives it a governed surface to work against. Without that surface, the model has no reliable meaning to translate.</a:t>
            </a:r>
          </a:p>
        </p:txBody>
      </p:sp>
      <p:sp>
        <p:nvSpPr>
          <p:cNvPr id="9" name="Rectangle 8"/>
          <p:cNvSpPr/>
          <p:nvPr/>
        </p:nvSpPr>
        <p:spPr>
          <a:xfrm>
            <a:off x="429768" y="1335024"/>
            <a:ext cx="1525219"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335024"/>
            <a:ext cx="1525219" cy="548640"/>
          </a:xfrm>
          <a:prstGeom prst="rect">
            <a:avLst/>
          </a:prstGeom>
          <a:noFill/>
          <a:ln>
            <a:noFill/>
          </a:ln>
        </p:spPr>
        <p:txBody>
          <a:bodyPr wrap="square">
            <a:spAutoFit/>
          </a:bodyPr>
          <a:lstStyle/>
          <a:p>
            <a:pPr algn="ctr">
              <a:spcBef>
                <a:spcPts val="400"/>
              </a:spcBef>
            </a:pPr>
            <a:r>
              <a:rPr sz="850" b="1" i="0">
                <a:solidFill>
                  <a:srgbClr val="FFFFFF"/>
                </a:solidFill>
                <a:latin typeface="Calibri"/>
              </a:rPr>
              <a:t>Natural language
question</a:t>
            </a:r>
          </a:p>
        </p:txBody>
      </p:sp>
      <p:sp>
        <p:nvSpPr>
          <p:cNvPr id="11" name="Rectangle 10"/>
          <p:cNvSpPr/>
          <p:nvPr/>
        </p:nvSpPr>
        <p:spPr>
          <a:xfrm>
            <a:off x="1954987" y="1581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19579" y="1335024"/>
            <a:ext cx="1525219"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19579" y="1335024"/>
            <a:ext cx="1525219" cy="548640"/>
          </a:xfrm>
          <a:prstGeom prst="rect">
            <a:avLst/>
          </a:prstGeom>
          <a:noFill/>
          <a:ln>
            <a:noFill/>
          </a:ln>
        </p:spPr>
        <p:txBody>
          <a:bodyPr wrap="square">
            <a:spAutoFit/>
          </a:bodyPr>
          <a:lstStyle/>
          <a:p>
            <a:pPr algn="ctr">
              <a:spcBef>
                <a:spcPts val="400"/>
              </a:spcBef>
            </a:pPr>
            <a:r>
              <a:rPr sz="850" b="1" i="0">
                <a:solidFill>
                  <a:srgbClr val="FFFFFF"/>
                </a:solidFill>
                <a:latin typeface="Calibri"/>
              </a:rPr>
              <a:t>Semantic
layer</a:t>
            </a:r>
          </a:p>
        </p:txBody>
      </p:sp>
      <p:sp>
        <p:nvSpPr>
          <p:cNvPr id="14" name="Rectangle 13"/>
          <p:cNvSpPr/>
          <p:nvPr/>
        </p:nvSpPr>
        <p:spPr>
          <a:xfrm>
            <a:off x="3644798" y="1581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09390" y="1335024"/>
            <a:ext cx="1525219"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09390" y="1335024"/>
            <a:ext cx="1525219" cy="548640"/>
          </a:xfrm>
          <a:prstGeom prst="rect">
            <a:avLst/>
          </a:prstGeom>
          <a:noFill/>
          <a:ln>
            <a:noFill/>
          </a:ln>
        </p:spPr>
        <p:txBody>
          <a:bodyPr wrap="square">
            <a:spAutoFit/>
          </a:bodyPr>
          <a:lstStyle/>
          <a:p>
            <a:pPr algn="ctr">
              <a:spcBef>
                <a:spcPts val="400"/>
              </a:spcBef>
            </a:pPr>
            <a:r>
              <a:rPr sz="850" b="1" i="0">
                <a:solidFill>
                  <a:srgbClr val="FFFFFF"/>
                </a:solidFill>
                <a:latin typeface="Calibri"/>
              </a:rPr>
              <a:t>Governed
BI view</a:t>
            </a:r>
          </a:p>
        </p:txBody>
      </p:sp>
      <p:sp>
        <p:nvSpPr>
          <p:cNvPr id="17" name="Rectangle 16"/>
          <p:cNvSpPr/>
          <p:nvPr/>
        </p:nvSpPr>
        <p:spPr>
          <a:xfrm>
            <a:off x="5334609" y="1581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99201" y="1335024"/>
            <a:ext cx="1525219"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99201" y="1335024"/>
            <a:ext cx="1525219" cy="548640"/>
          </a:xfrm>
          <a:prstGeom prst="rect">
            <a:avLst/>
          </a:prstGeom>
          <a:noFill/>
          <a:ln>
            <a:noFill/>
          </a:ln>
        </p:spPr>
        <p:txBody>
          <a:bodyPr wrap="square">
            <a:spAutoFit/>
          </a:bodyPr>
          <a:lstStyle/>
          <a:p>
            <a:pPr algn="ctr">
              <a:spcBef>
                <a:spcPts val="400"/>
              </a:spcBef>
            </a:pPr>
            <a:r>
              <a:rPr sz="850" b="1" i="0">
                <a:solidFill>
                  <a:srgbClr val="FFFFFF"/>
                </a:solidFill>
                <a:latin typeface="Calibri"/>
              </a:rPr>
              <a:t>SQL
generation</a:t>
            </a:r>
          </a:p>
        </p:txBody>
      </p:sp>
      <p:sp>
        <p:nvSpPr>
          <p:cNvPr id="20" name="Rectangle 19"/>
          <p:cNvSpPr/>
          <p:nvPr/>
        </p:nvSpPr>
        <p:spPr>
          <a:xfrm>
            <a:off x="7024420" y="158191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89012" y="1335024"/>
            <a:ext cx="1525219" cy="5486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89012" y="1335024"/>
            <a:ext cx="1525219" cy="548640"/>
          </a:xfrm>
          <a:prstGeom prst="rect">
            <a:avLst/>
          </a:prstGeom>
          <a:noFill/>
          <a:ln>
            <a:noFill/>
          </a:ln>
        </p:spPr>
        <p:txBody>
          <a:bodyPr wrap="square">
            <a:spAutoFit/>
          </a:bodyPr>
          <a:lstStyle/>
          <a:p>
            <a:pPr algn="ctr">
              <a:spcBef>
                <a:spcPts val="400"/>
              </a:spcBef>
            </a:pPr>
            <a:r>
              <a:rPr sz="850" b="1" i="0">
                <a:solidFill>
                  <a:srgbClr val="FFFFFF"/>
                </a:solidFill>
                <a:latin typeface="Calibri"/>
              </a:rPr>
              <a:t>Validation +
BigQuery execution</a:t>
            </a:r>
          </a:p>
        </p:txBody>
      </p:sp>
      <p:graphicFrame>
        <p:nvGraphicFramePr>
          <p:cNvPr id="23" name="Table 22"/>
          <p:cNvGraphicFramePr>
            <a:graphicFrameLocks noGrp="1"/>
          </p:cNvGraphicFramePr>
          <p:nvPr/>
        </p:nvGraphicFramePr>
        <p:xfrm>
          <a:off x="429768" y="2020824"/>
          <a:ext cx="8046720" cy="2011680"/>
        </p:xfrm>
        <a:graphic>
          <a:graphicData uri="http://schemas.openxmlformats.org/drawingml/2006/table">
            <a:tbl>
              <a:tblPr firstRow="1" bandRow="1">
                <a:tableStyleId>{5C22544A-7EE6-4342-B048-85BDC9FD1C3A}</a:tableStyleId>
              </a:tblPr>
              <a:tblGrid>
                <a:gridCol w="3108960"/>
                <a:gridCol w="4937760"/>
              </a:tblGrid>
              <a:tr h="335280">
                <a:tc>
                  <a:txBody>
                    <a:bodyPr wrap="square"/>
                    <a:lstStyle/>
                    <a:p>
                      <a:pPr algn="l"/>
                      <a:r>
                        <a:rPr sz="1000" b="1" i="0">
                          <a:solidFill>
                            <a:srgbClr val="FFFFFF"/>
                          </a:solidFill>
                          <a:latin typeface="Calibri"/>
                        </a:rPr>
                        <a:t>Requirement</a:t>
                      </a:r>
                    </a:p>
                  </a:txBody>
                  <a:tcPr>
                    <a:solidFill>
                      <a:srgbClr val="1E293B"/>
                    </a:solidFill>
                  </a:tcPr>
                </a:tc>
                <a:tc>
                  <a:txBody>
                    <a:bodyPr wrap="square"/>
                    <a:lstStyle/>
                    <a:p>
                      <a:pPr algn="l"/>
                      <a:r>
                        <a:rPr sz="1000" b="1" i="0">
                          <a:solidFill>
                            <a:srgbClr val="FFFFFF"/>
                          </a:solidFill>
                          <a:latin typeface="Calibri"/>
                        </a:rPr>
                        <a:t>What it provides</a:t>
                      </a:r>
                    </a:p>
                  </a:txBody>
                  <a:tcPr>
                    <a:solidFill>
                      <a:srgbClr val="1E293B"/>
                    </a:solidFill>
                  </a:tcPr>
                </a:tc>
              </a:tr>
              <a:tr h="335280">
                <a:tc>
                  <a:txBody>
                    <a:bodyPr wrap="square"/>
                    <a:lstStyle/>
                    <a:p>
                      <a:pPr algn="l"/>
                      <a:r>
                        <a:rPr sz="1000" b="1" i="0">
                          <a:solidFill>
                            <a:srgbClr val="1E293B"/>
                          </a:solidFill>
                          <a:latin typeface="Calibri"/>
                        </a:rPr>
                        <a:t>1. Governed data model</a:t>
                      </a:r>
                    </a:p>
                  </a:txBody>
                  <a:tcPr>
                    <a:solidFill>
                      <a:srgbClr val="FFFFFF"/>
                    </a:solidFill>
                  </a:tcPr>
                </a:tc>
                <a:tc>
                  <a:txBody>
                    <a:bodyPr wrap="square"/>
                    <a:lstStyle/>
                    <a:p>
                      <a:pPr algn="l"/>
                      <a:r>
                        <a:rPr sz="1000" b="0" i="0">
                          <a:solidFill>
                            <a:srgbClr val="475569"/>
                          </a:solidFill>
                          <a:latin typeface="Calibri"/>
                        </a:rPr>
                        <a:t>A stable, typed schema the LLM can reason about</a:t>
                      </a:r>
                    </a:p>
                  </a:txBody>
                  <a:tcPr>
                    <a:solidFill>
                      <a:srgbClr val="FFFFFF"/>
                    </a:solidFill>
                  </a:tcPr>
                </a:tc>
              </a:tr>
              <a:tr h="335280">
                <a:tc>
                  <a:txBody>
                    <a:bodyPr wrap="square"/>
                    <a:lstStyle/>
                    <a:p>
                      <a:pPr algn="l"/>
                      <a:r>
                        <a:rPr sz="1000" b="1" i="0">
                          <a:solidFill>
                            <a:srgbClr val="1E293B"/>
                          </a:solidFill>
                          <a:latin typeface="Calibri"/>
                        </a:rPr>
                        <a:t>2. Semantic layer with field meanings</a:t>
                      </a:r>
                    </a:p>
                  </a:txBody>
                  <a:tcPr>
                    <a:solidFill>
                      <a:srgbClr val="F1F5F9"/>
                    </a:solidFill>
                  </a:tcPr>
                </a:tc>
                <a:tc>
                  <a:txBody>
                    <a:bodyPr wrap="square"/>
                    <a:lstStyle/>
                    <a:p>
                      <a:pPr algn="l"/>
                      <a:r>
                        <a:rPr sz="1000" b="0" i="0">
                          <a:solidFill>
                            <a:srgbClr val="475569"/>
                          </a:solidFill>
                          <a:latin typeface="Calibri"/>
                        </a:rPr>
                        <a:t>Business definitions that constrain interpretation</a:t>
                      </a:r>
                    </a:p>
                  </a:txBody>
                  <a:tcPr>
                    <a:solidFill>
                      <a:srgbClr val="F1F5F9"/>
                    </a:solidFill>
                  </a:tcPr>
                </a:tc>
              </a:tr>
              <a:tr h="335280">
                <a:tc>
                  <a:txBody>
                    <a:bodyPr wrap="square"/>
                    <a:lstStyle/>
                    <a:p>
                      <a:pPr algn="l"/>
                      <a:r>
                        <a:rPr sz="1000" b="1" i="0">
                          <a:solidFill>
                            <a:srgbClr val="1E293B"/>
                          </a:solidFill>
                          <a:latin typeface="Calibri"/>
                        </a:rPr>
                        <a:t>3. Prompt contract</a:t>
                      </a:r>
                    </a:p>
                  </a:txBody>
                  <a:tcPr>
                    <a:solidFill>
                      <a:srgbClr val="FFFFFF"/>
                    </a:solidFill>
                  </a:tcPr>
                </a:tc>
                <a:tc>
                  <a:txBody>
                    <a:bodyPr wrap="square"/>
                    <a:lstStyle/>
                    <a:p>
                      <a:pPr algn="l"/>
                      <a:r>
                        <a:rPr sz="1000" b="0" i="0">
                          <a:solidFill>
                            <a:srgbClr val="475569"/>
                          </a:solidFill>
                          <a:latin typeface="Calibri"/>
                        </a:rPr>
                        <a:t>Instructions that scope what the LLM is allowed to generate</a:t>
                      </a:r>
                    </a:p>
                  </a:txBody>
                  <a:tcPr>
                    <a:solidFill>
                      <a:srgbClr val="FFFFFF"/>
                    </a:solidFill>
                  </a:tcPr>
                </a:tc>
              </a:tr>
              <a:tr h="335280">
                <a:tc>
                  <a:txBody>
                    <a:bodyPr wrap="square"/>
                    <a:lstStyle/>
                    <a:p>
                      <a:pPr algn="l"/>
                      <a:r>
                        <a:rPr sz="1000" b="1" i="0">
                          <a:solidFill>
                            <a:srgbClr val="1E293B"/>
                          </a:solidFill>
                          <a:latin typeface="Calibri"/>
                        </a:rPr>
                        <a:t>4. SQL guardrails</a:t>
                      </a:r>
                    </a:p>
                  </a:txBody>
                  <a:tcPr>
                    <a:solidFill>
                      <a:srgbClr val="F1F5F9"/>
                    </a:solidFill>
                  </a:tcPr>
                </a:tc>
                <a:tc>
                  <a:txBody>
                    <a:bodyPr wrap="square"/>
                    <a:lstStyle/>
                    <a:p>
                      <a:pPr algn="l"/>
                      <a:r>
                        <a:rPr sz="1000" b="0" i="0">
                          <a:solidFill>
                            <a:srgbClr val="475569"/>
                          </a:solidFill>
                          <a:latin typeface="Calibri"/>
                        </a:rPr>
                        <a:t>Deterministic validation before BigQuery sees the query</a:t>
                      </a:r>
                    </a:p>
                  </a:txBody>
                  <a:tcPr>
                    <a:solidFill>
                      <a:srgbClr val="F1F5F9"/>
                    </a:solidFill>
                  </a:tcPr>
                </a:tc>
              </a:tr>
              <a:tr h="335280">
                <a:tc>
                  <a:txBody>
                    <a:bodyPr wrap="square"/>
                    <a:lstStyle/>
                    <a:p>
                      <a:pPr algn="l"/>
                      <a:r>
                        <a:rPr sz="1000" b="1" i="0">
                          <a:solidFill>
                            <a:srgbClr val="1E293B"/>
                          </a:solidFill>
                          <a:latin typeface="Calibri"/>
                        </a:rPr>
                        <a:t>5. Execution boundary</a:t>
                      </a:r>
                    </a:p>
                  </a:txBody>
                  <a:tcPr>
                    <a:solidFill>
                      <a:srgbClr val="FFFFFF"/>
                    </a:solidFill>
                  </a:tcPr>
                </a:tc>
                <a:tc>
                  <a:txBody>
                    <a:bodyPr wrap="square"/>
                    <a:lstStyle/>
                    <a:p>
                      <a:pPr algn="l"/>
                      <a:r>
                        <a:rPr sz="1000" b="0" i="0">
                          <a:solidFill>
                            <a:srgbClr val="475569"/>
                          </a:solidFill>
                          <a:latin typeface="Calibri"/>
                        </a:rPr>
                        <a:t>BigQuery dry-run to check safety and scan cost</a:t>
                      </a:r>
                    </a:p>
                  </a:txBody>
                  <a:tcP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The Text-to-SQL control loop</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The LLM writes candidate syntax. The architecture owns trust.</a:t>
            </a:r>
          </a:p>
        </p:txBody>
      </p:sp>
      <p:sp>
        <p:nvSpPr>
          <p:cNvPr id="8" name="Rectangle 7"/>
          <p:cNvSpPr/>
          <p:nvPr/>
        </p:nvSpPr>
        <p:spPr>
          <a:xfrm>
            <a:off x="429768" y="877824"/>
            <a:ext cx="51206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877824"/>
            <a:ext cx="5010912" cy="384048"/>
          </a:xfrm>
          <a:prstGeom prst="rect">
            <a:avLst/>
          </a:prstGeom>
          <a:noFill/>
          <a:ln>
            <a:noFill/>
          </a:ln>
        </p:spPr>
        <p:txBody>
          <a:bodyPr wrap="square">
            <a:spAutoFit/>
          </a:bodyPr>
          <a:lstStyle/>
          <a:p>
            <a:pPr algn="l"/>
            <a:r>
              <a:rPr sz="1000" b="1" i="0">
                <a:solidFill>
                  <a:srgbClr val="1E293B"/>
                </a:solidFill>
                <a:latin typeface="Calibri"/>
              </a:rPr>
              <a:t>1. User asks a business question</a:t>
            </a:r>
          </a:p>
        </p:txBody>
      </p:sp>
      <p:sp>
        <p:nvSpPr>
          <p:cNvPr id="10" name="Rectangle 9"/>
          <p:cNvSpPr/>
          <p:nvPr/>
        </p:nvSpPr>
        <p:spPr>
          <a:xfrm>
            <a:off x="429768" y="1261872"/>
            <a:ext cx="512064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61872"/>
            <a:ext cx="5010912" cy="384048"/>
          </a:xfrm>
          <a:prstGeom prst="rect">
            <a:avLst/>
          </a:prstGeom>
          <a:noFill/>
          <a:ln>
            <a:noFill/>
          </a:ln>
        </p:spPr>
        <p:txBody>
          <a:bodyPr wrap="square">
            <a:spAutoFit/>
          </a:bodyPr>
          <a:lstStyle/>
          <a:p>
            <a:pPr algn="l"/>
            <a:r>
              <a:rPr sz="1000" b="0" i="0">
                <a:solidFill>
                  <a:srgbClr val="1E293B"/>
                </a:solidFill>
                <a:latin typeface="Calibri"/>
              </a:rPr>
              <a:t>2. App enriches with semantic context (field meanings, allowed table, SQL rules)</a:t>
            </a:r>
          </a:p>
        </p:txBody>
      </p:sp>
      <p:sp>
        <p:nvSpPr>
          <p:cNvPr id="12" name="Rectangle 11"/>
          <p:cNvSpPr/>
          <p:nvPr/>
        </p:nvSpPr>
        <p:spPr>
          <a:xfrm>
            <a:off x="429768" y="1645920"/>
            <a:ext cx="51206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45920"/>
            <a:ext cx="5010912" cy="384048"/>
          </a:xfrm>
          <a:prstGeom prst="rect">
            <a:avLst/>
          </a:prstGeom>
          <a:noFill/>
          <a:ln>
            <a:noFill/>
          </a:ln>
        </p:spPr>
        <p:txBody>
          <a:bodyPr wrap="square">
            <a:spAutoFit/>
          </a:bodyPr>
          <a:lstStyle/>
          <a:p>
            <a:pPr algn="l"/>
            <a:r>
              <a:rPr sz="1000" b="0" i="0">
                <a:solidFill>
                  <a:srgbClr val="1E293B"/>
                </a:solidFill>
                <a:latin typeface="Calibri"/>
              </a:rPr>
              <a:t>3. LLM drafts candidate SQL</a:t>
            </a:r>
          </a:p>
        </p:txBody>
      </p:sp>
      <p:sp>
        <p:nvSpPr>
          <p:cNvPr id="14" name="Rectangle 13"/>
          <p:cNvSpPr/>
          <p:nvPr/>
        </p:nvSpPr>
        <p:spPr>
          <a:xfrm>
            <a:off x="429768" y="2029968"/>
            <a:ext cx="512064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029968"/>
            <a:ext cx="5010912" cy="384048"/>
          </a:xfrm>
          <a:prstGeom prst="rect">
            <a:avLst/>
          </a:prstGeom>
          <a:noFill/>
          <a:ln>
            <a:noFill/>
          </a:ln>
        </p:spPr>
        <p:txBody>
          <a:bodyPr wrap="square">
            <a:spAutoFit/>
          </a:bodyPr>
          <a:lstStyle/>
          <a:p>
            <a:pPr algn="l"/>
            <a:r>
              <a:rPr sz="1000" b="0" i="0">
                <a:solidFill>
                  <a:srgbClr val="1E293B"/>
                </a:solidFill>
                <a:latin typeface="Calibri"/>
              </a:rPr>
              <a:t>4. Validator inspects SQL (blocks non-SELECT, SELECT *, forbidden tables, etc.)</a:t>
            </a:r>
          </a:p>
        </p:txBody>
      </p:sp>
      <p:sp>
        <p:nvSpPr>
          <p:cNvPr id="16" name="Rectangle 15"/>
          <p:cNvSpPr/>
          <p:nvPr/>
        </p:nvSpPr>
        <p:spPr>
          <a:xfrm>
            <a:off x="429768" y="2414016"/>
            <a:ext cx="51206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414016"/>
            <a:ext cx="5010912" cy="384048"/>
          </a:xfrm>
          <a:prstGeom prst="rect">
            <a:avLst/>
          </a:prstGeom>
          <a:noFill/>
          <a:ln>
            <a:noFill/>
          </a:ln>
        </p:spPr>
        <p:txBody>
          <a:bodyPr wrap="square">
            <a:spAutoFit/>
          </a:bodyPr>
          <a:lstStyle/>
          <a:p>
            <a:pPr algn="l"/>
            <a:r>
              <a:rPr sz="1000" b="0" i="0">
                <a:solidFill>
                  <a:srgbClr val="1E293B"/>
                </a:solidFill>
                <a:latin typeface="Calibri"/>
              </a:rPr>
              <a:t>5. BigQuery dry-run checks safety and scan cost</a:t>
            </a:r>
          </a:p>
        </p:txBody>
      </p:sp>
      <p:sp>
        <p:nvSpPr>
          <p:cNvPr id="18" name="Rectangle 17"/>
          <p:cNvSpPr/>
          <p:nvPr/>
        </p:nvSpPr>
        <p:spPr>
          <a:xfrm>
            <a:off x="429768" y="2798064"/>
            <a:ext cx="5120640" cy="384048"/>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798064"/>
            <a:ext cx="5010912" cy="384048"/>
          </a:xfrm>
          <a:prstGeom prst="rect">
            <a:avLst/>
          </a:prstGeom>
          <a:noFill/>
          <a:ln>
            <a:noFill/>
          </a:ln>
        </p:spPr>
        <p:txBody>
          <a:bodyPr wrap="square">
            <a:spAutoFit/>
          </a:bodyPr>
          <a:lstStyle/>
          <a:p>
            <a:pPr algn="l"/>
            <a:r>
              <a:rPr sz="1000" b="1" i="0">
                <a:solidFill>
                  <a:srgbClr val="1E293B"/>
                </a:solidFill>
                <a:latin typeface="Calibri"/>
              </a:rPr>
              <a:t>6. BigQuery executes — App returns table, chart, and executive interpretation</a:t>
            </a:r>
          </a:p>
        </p:txBody>
      </p:sp>
      <p:sp>
        <p:nvSpPr>
          <p:cNvPr id="20" name="Rectangle 19"/>
          <p:cNvSpPr/>
          <p:nvPr/>
        </p:nvSpPr>
        <p:spPr>
          <a:xfrm>
            <a:off x="5779008" y="877824"/>
            <a:ext cx="2935224" cy="329184"/>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79008" y="877824"/>
            <a:ext cx="2935224" cy="329184"/>
          </a:xfrm>
          <a:prstGeom prst="rect">
            <a:avLst/>
          </a:prstGeom>
          <a:noFill/>
          <a:ln>
            <a:noFill/>
          </a:ln>
        </p:spPr>
        <p:txBody>
          <a:bodyPr wrap="square">
            <a:spAutoFit/>
          </a:bodyPr>
          <a:lstStyle/>
          <a:p>
            <a:pPr algn="ctr"/>
            <a:r>
              <a:rPr sz="1050" b="1" i="0">
                <a:solidFill>
                  <a:srgbClr val="FFFFFF"/>
                </a:solidFill>
                <a:latin typeface="Calibri"/>
              </a:rPr>
              <a:t>Responsibility split</a:t>
            </a:r>
          </a:p>
        </p:txBody>
      </p:sp>
      <p:sp>
        <p:nvSpPr>
          <p:cNvPr id="22" name="Rectangle 21"/>
          <p:cNvSpPr/>
          <p:nvPr/>
        </p:nvSpPr>
        <p:spPr>
          <a:xfrm>
            <a:off x="5779008" y="1207008"/>
            <a:ext cx="2935224"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1207008"/>
            <a:ext cx="1097280" cy="502920"/>
          </a:xfrm>
          <a:prstGeom prst="rect">
            <a:avLst/>
          </a:prstGeom>
          <a:noFill/>
          <a:ln>
            <a:noFill/>
          </a:ln>
        </p:spPr>
        <p:txBody>
          <a:bodyPr wrap="square">
            <a:spAutoFit/>
          </a:bodyPr>
          <a:lstStyle/>
          <a:p>
            <a:pPr algn="l"/>
            <a:r>
              <a:rPr sz="1000" b="1" i="0">
                <a:solidFill>
                  <a:srgbClr val="1E293B"/>
                </a:solidFill>
                <a:latin typeface="Calibri"/>
              </a:rPr>
              <a:t>LLM</a:t>
            </a:r>
          </a:p>
        </p:txBody>
      </p:sp>
      <p:sp>
        <p:nvSpPr>
          <p:cNvPr id="24" name="TextBox 23"/>
          <p:cNvSpPr txBox="1"/>
          <p:nvPr/>
        </p:nvSpPr>
        <p:spPr>
          <a:xfrm>
            <a:off x="6967728" y="1207008"/>
            <a:ext cx="1700784" cy="502920"/>
          </a:xfrm>
          <a:prstGeom prst="rect">
            <a:avLst/>
          </a:prstGeom>
          <a:noFill/>
          <a:ln>
            <a:noFill/>
          </a:ln>
        </p:spPr>
        <p:txBody>
          <a:bodyPr wrap="square">
            <a:spAutoFit/>
          </a:bodyPr>
          <a:lstStyle/>
          <a:p>
            <a:pPr algn="l"/>
            <a:r>
              <a:rPr sz="1000" b="0" i="0">
                <a:solidFill>
                  <a:srgbClr val="475569"/>
                </a:solidFill>
                <a:latin typeface="Calibri"/>
              </a:rPr>
              <a:t>Drafts candidate SQL syntax</a:t>
            </a:r>
          </a:p>
        </p:txBody>
      </p:sp>
      <p:sp>
        <p:nvSpPr>
          <p:cNvPr id="25" name="Rectangle 24"/>
          <p:cNvSpPr/>
          <p:nvPr/>
        </p:nvSpPr>
        <p:spPr>
          <a:xfrm>
            <a:off x="5779008" y="1709928"/>
            <a:ext cx="2935224"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1709928"/>
            <a:ext cx="1097280" cy="502920"/>
          </a:xfrm>
          <a:prstGeom prst="rect">
            <a:avLst/>
          </a:prstGeom>
          <a:noFill/>
          <a:ln>
            <a:noFill/>
          </a:ln>
        </p:spPr>
        <p:txBody>
          <a:bodyPr wrap="square">
            <a:spAutoFit/>
          </a:bodyPr>
          <a:lstStyle/>
          <a:p>
            <a:pPr algn="l"/>
            <a:r>
              <a:rPr sz="1000" b="1" i="0">
                <a:solidFill>
                  <a:srgbClr val="1E293B"/>
                </a:solidFill>
                <a:latin typeface="Calibri"/>
              </a:rPr>
              <a:t>Application</a:t>
            </a:r>
          </a:p>
        </p:txBody>
      </p:sp>
      <p:sp>
        <p:nvSpPr>
          <p:cNvPr id="27" name="TextBox 26"/>
          <p:cNvSpPr txBox="1"/>
          <p:nvPr/>
        </p:nvSpPr>
        <p:spPr>
          <a:xfrm>
            <a:off x="6967728" y="1709928"/>
            <a:ext cx="1700784" cy="502920"/>
          </a:xfrm>
          <a:prstGeom prst="rect">
            <a:avLst/>
          </a:prstGeom>
          <a:noFill/>
          <a:ln>
            <a:noFill/>
          </a:ln>
        </p:spPr>
        <p:txBody>
          <a:bodyPr wrap="square">
            <a:spAutoFit/>
          </a:bodyPr>
          <a:lstStyle/>
          <a:p>
            <a:pPr algn="l"/>
            <a:r>
              <a:rPr sz="1000" b="0" i="0">
                <a:solidFill>
                  <a:srgbClr val="475569"/>
                </a:solidFill>
                <a:latin typeface="Calibri"/>
              </a:rPr>
              <a:t>Validates, constrains, and governs execution</a:t>
            </a:r>
          </a:p>
        </p:txBody>
      </p:sp>
      <p:sp>
        <p:nvSpPr>
          <p:cNvPr id="28" name="Rectangle 27"/>
          <p:cNvSpPr/>
          <p:nvPr/>
        </p:nvSpPr>
        <p:spPr>
          <a:xfrm>
            <a:off x="5779008" y="2212848"/>
            <a:ext cx="2935224"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52160" y="2212848"/>
            <a:ext cx="1097280" cy="502920"/>
          </a:xfrm>
          <a:prstGeom prst="rect">
            <a:avLst/>
          </a:prstGeom>
          <a:noFill/>
          <a:ln>
            <a:noFill/>
          </a:ln>
        </p:spPr>
        <p:txBody>
          <a:bodyPr wrap="square">
            <a:spAutoFit/>
          </a:bodyPr>
          <a:lstStyle/>
          <a:p>
            <a:pPr algn="l"/>
            <a:r>
              <a:rPr sz="1000" b="1" i="0">
                <a:solidFill>
                  <a:srgbClr val="1E293B"/>
                </a:solidFill>
                <a:latin typeface="Calibri"/>
              </a:rPr>
              <a:t>BigQuery</a:t>
            </a:r>
          </a:p>
        </p:txBody>
      </p:sp>
      <p:sp>
        <p:nvSpPr>
          <p:cNvPr id="30" name="TextBox 29"/>
          <p:cNvSpPr txBox="1"/>
          <p:nvPr/>
        </p:nvSpPr>
        <p:spPr>
          <a:xfrm>
            <a:off x="6967728" y="2212848"/>
            <a:ext cx="1700784" cy="502920"/>
          </a:xfrm>
          <a:prstGeom prst="rect">
            <a:avLst/>
          </a:prstGeom>
          <a:noFill/>
          <a:ln>
            <a:noFill/>
          </a:ln>
        </p:spPr>
        <p:txBody>
          <a:bodyPr wrap="square">
            <a:spAutoFit/>
          </a:bodyPr>
          <a:lstStyle/>
          <a:p>
            <a:pPr algn="l"/>
            <a:r>
              <a:rPr sz="1000" b="0" i="0">
                <a:solidFill>
                  <a:srgbClr val="475569"/>
                </a:solidFill>
                <a:latin typeface="Calibri"/>
              </a:rPr>
              <a:t>Executes against governed access</a:t>
            </a:r>
          </a:p>
        </p:txBody>
      </p:sp>
      <p:sp>
        <p:nvSpPr>
          <p:cNvPr id="31" name="Rectangle 30"/>
          <p:cNvSpPr/>
          <p:nvPr/>
        </p:nvSpPr>
        <p:spPr>
          <a:xfrm>
            <a:off x="5779008" y="2715768"/>
            <a:ext cx="2935224" cy="502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2715768"/>
            <a:ext cx="1097280" cy="502920"/>
          </a:xfrm>
          <a:prstGeom prst="rect">
            <a:avLst/>
          </a:prstGeom>
          <a:noFill/>
          <a:ln>
            <a:noFill/>
          </a:ln>
        </p:spPr>
        <p:txBody>
          <a:bodyPr wrap="square">
            <a:spAutoFit/>
          </a:bodyPr>
          <a:lstStyle/>
          <a:p>
            <a:pPr algn="l"/>
            <a:r>
              <a:rPr sz="1000" b="1" i="0">
                <a:solidFill>
                  <a:srgbClr val="1E293B"/>
                </a:solidFill>
                <a:latin typeface="Calibri"/>
              </a:rPr>
              <a:t>User</a:t>
            </a:r>
          </a:p>
        </p:txBody>
      </p:sp>
      <p:sp>
        <p:nvSpPr>
          <p:cNvPr id="33" name="TextBox 32"/>
          <p:cNvSpPr txBox="1"/>
          <p:nvPr/>
        </p:nvSpPr>
        <p:spPr>
          <a:xfrm>
            <a:off x="6967728" y="2715768"/>
            <a:ext cx="1700784" cy="502920"/>
          </a:xfrm>
          <a:prstGeom prst="rect">
            <a:avLst/>
          </a:prstGeom>
          <a:noFill/>
          <a:ln>
            <a:noFill/>
          </a:ln>
        </p:spPr>
        <p:txBody>
          <a:bodyPr wrap="square">
            <a:spAutoFit/>
          </a:bodyPr>
          <a:lstStyle/>
          <a:p>
            <a:pPr algn="l"/>
            <a:r>
              <a:rPr sz="1000" b="0" i="0">
                <a:solidFill>
                  <a:srgbClr val="475569"/>
                </a:solidFill>
                <a:latin typeface="Calibri"/>
              </a:rPr>
              <a:t>Owns the decision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13232"/>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13232"/>
            <a:ext cx="9144000" cy="2743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164592"/>
            <a:ext cx="8284464" cy="502920"/>
          </a:xfrm>
          <a:prstGeom prst="rect">
            <a:avLst/>
          </a:prstGeom>
          <a:noFill/>
          <a:ln>
            <a:noFill/>
          </a:ln>
        </p:spPr>
        <p:txBody>
          <a:bodyPr wrap="square">
            <a:spAutoFit/>
          </a:bodyPr>
          <a:lstStyle/>
          <a:p>
            <a:pPr algn="l"/>
            <a:r>
              <a:rPr sz="2200" b="1" i="0">
                <a:solidFill>
                  <a:srgbClr val="FFFFFF"/>
                </a:solidFill>
                <a:latin typeface="Calibri"/>
              </a:rPr>
              <a:t>Failure modes across the full pipeline</a:t>
            </a:r>
          </a:p>
        </p:txBody>
      </p:sp>
      <p:sp>
        <p:nvSpPr>
          <p:cNvPr id="5" name="Rectangle 4"/>
          <p:cNvSpPr/>
          <p:nvPr/>
        </p:nvSpPr>
        <p:spPr>
          <a:xfrm>
            <a:off x="0" y="4777740"/>
            <a:ext cx="9144000" cy="3657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4777740"/>
            <a:ext cx="8961120" cy="365760"/>
          </a:xfrm>
          <a:prstGeom prst="rect">
            <a:avLst/>
          </a:prstGeom>
          <a:noFill/>
          <a:ln>
            <a:noFill/>
          </a:ln>
        </p:spPr>
        <p:txBody>
          <a:bodyPr wrap="square">
            <a:spAutoFit/>
          </a:bodyPr>
          <a:lstStyle/>
          <a:p>
            <a:pPr algn="l">
              <a:spcBef>
                <a:spcPts val="800"/>
              </a:spcBef>
            </a:pPr>
            <a:r>
              <a:rPr sz="1100" b="1" i="0">
                <a:solidFill>
                  <a:srgbClr val="1E293B"/>
                </a:solidFill>
                <a:latin typeface="Calibri"/>
              </a:rPr>
              <a:t>Architecture is risk control made visible.</a:t>
            </a:r>
          </a:p>
        </p:txBody>
      </p:sp>
      <p:graphicFrame>
        <p:nvGraphicFramePr>
          <p:cNvPr id="8" name="Table 7"/>
          <p:cNvGraphicFramePr>
            <a:graphicFrameLocks noGrp="1"/>
          </p:cNvGraphicFramePr>
          <p:nvPr/>
        </p:nvGraphicFramePr>
        <p:xfrm>
          <a:off x="429768" y="877824"/>
          <a:ext cx="8046720" cy="3566160"/>
        </p:xfrm>
        <a:graphic>
          <a:graphicData uri="http://schemas.openxmlformats.org/drawingml/2006/table">
            <a:tbl>
              <a:tblPr firstRow="1" bandRow="1">
                <a:tableStyleId>{5C22544A-7EE6-4342-B048-85BDC9FD1C3A}</a:tableStyleId>
              </a:tblPr>
              <a:tblGrid>
                <a:gridCol w="1188720"/>
                <a:gridCol w="1828800"/>
                <a:gridCol w="2377440"/>
                <a:gridCol w="2651760"/>
              </a:tblGrid>
              <a:tr h="396240">
                <a:tc>
                  <a:txBody>
                    <a:bodyPr wrap="square"/>
                    <a:lstStyle/>
                    <a:p>
                      <a:pPr algn="l"/>
                      <a:r>
                        <a:rPr sz="1000" b="1" i="0">
                          <a:solidFill>
                            <a:srgbClr val="FFFFFF"/>
                          </a:solidFill>
                          <a:latin typeface="Calibri"/>
                        </a:rPr>
                        <a:t>Layer</a:t>
                      </a:r>
                    </a:p>
                  </a:txBody>
                  <a:tcPr>
                    <a:solidFill>
                      <a:srgbClr val="1E293B"/>
                    </a:solidFill>
                  </a:tcPr>
                </a:tc>
                <a:tc>
                  <a:txBody>
                    <a:bodyPr wrap="square"/>
                    <a:lstStyle/>
                    <a:p>
                      <a:pPr algn="l"/>
                      <a:r>
                        <a:rPr sz="1000" b="1" i="0">
                          <a:solidFill>
                            <a:srgbClr val="FFFFFF"/>
                          </a:solidFill>
                          <a:latin typeface="Calibri"/>
                        </a:rPr>
                        <a:t>Failure mode</a:t>
                      </a:r>
                    </a:p>
                  </a:txBody>
                  <a:tcPr>
                    <a:solidFill>
                      <a:srgbClr val="1E293B"/>
                    </a:solidFill>
                  </a:tcPr>
                </a:tc>
                <a:tc>
                  <a:txBody>
                    <a:bodyPr wrap="square"/>
                    <a:lstStyle/>
                    <a:p>
                      <a:pPr algn="l"/>
                      <a:r>
                        <a:rPr sz="1000" b="1" i="0">
                          <a:solidFill>
                            <a:srgbClr val="FFFFFF"/>
                          </a:solidFill>
                          <a:latin typeface="Calibri"/>
                        </a:rPr>
                        <a:t>Product consequence</a:t>
                      </a:r>
                    </a:p>
                  </a:txBody>
                  <a:tcPr>
                    <a:solidFill>
                      <a:srgbClr val="1E293B"/>
                    </a:solidFill>
                  </a:tcPr>
                </a:tc>
                <a:tc>
                  <a:txBody>
                    <a:bodyPr wrap="square"/>
                    <a:lstStyle/>
                    <a:p>
                      <a:pPr algn="l"/>
                      <a:r>
                        <a:rPr sz="1000" b="1" i="0">
                          <a:solidFill>
                            <a:srgbClr val="FFFFFF"/>
                          </a:solidFill>
                          <a:latin typeface="Calibri"/>
                        </a:rPr>
                        <a:t>Professional control</a:t>
                      </a:r>
                    </a:p>
                  </a:txBody>
                  <a:tcPr>
                    <a:solidFill>
                      <a:srgbClr val="1E293B"/>
                    </a:solidFill>
                  </a:tcPr>
                </a:tc>
              </a:tr>
              <a:tr h="396240">
                <a:tc>
                  <a:txBody>
                    <a:bodyPr wrap="square"/>
                    <a:lstStyle/>
                    <a:p>
                      <a:pPr algn="l"/>
                      <a:r>
                        <a:rPr sz="1000" b="1" i="0">
                          <a:solidFill>
                            <a:srgbClr val="1E293B"/>
                          </a:solidFill>
                          <a:latin typeface="Calibri"/>
                        </a:rPr>
                        <a:t>Acquisition</a:t>
                      </a:r>
                    </a:p>
                  </a:txBody>
                  <a:tcPr>
                    <a:solidFill>
                      <a:srgbClr val="FFFFFF"/>
                    </a:solidFill>
                  </a:tcPr>
                </a:tc>
                <a:tc>
                  <a:txBody>
                    <a:bodyPr wrap="square"/>
                    <a:lstStyle/>
                    <a:p>
                      <a:pPr algn="l"/>
                      <a:r>
                        <a:rPr sz="1000" b="0" i="0">
                          <a:solidFill>
                            <a:srgbClr val="475569"/>
                          </a:solidFill>
                          <a:latin typeface="Calibri"/>
                        </a:rPr>
                        <a:t>Scrape without scope</a:t>
                      </a:r>
                    </a:p>
                  </a:txBody>
                  <a:tcPr>
                    <a:solidFill>
                      <a:srgbClr val="FFFFFF"/>
                    </a:solidFill>
                  </a:tcPr>
                </a:tc>
                <a:tc>
                  <a:txBody>
                    <a:bodyPr wrap="square"/>
                    <a:lstStyle/>
                    <a:p>
                      <a:pPr algn="l"/>
                      <a:r>
                        <a:rPr sz="1000" b="0" i="0">
                          <a:solidFill>
                            <a:srgbClr val="475569"/>
                          </a:solidFill>
                          <a:latin typeface="Calibri"/>
                        </a:rPr>
                        <a:t>Noisy, undefendable dataset</a:t>
                      </a:r>
                    </a:p>
                  </a:txBody>
                  <a:tcPr>
                    <a:solidFill>
                      <a:srgbClr val="FFFFFF"/>
                    </a:solidFill>
                  </a:tcPr>
                </a:tc>
                <a:tc>
                  <a:txBody>
                    <a:bodyPr wrap="square"/>
                    <a:lstStyle/>
                    <a:p>
                      <a:pPr algn="l"/>
                      <a:r>
                        <a:rPr sz="1000" b="0" i="0">
                          <a:solidFill>
                            <a:srgbClr val="475569"/>
                          </a:solidFill>
                          <a:latin typeface="Calibri"/>
                        </a:rPr>
                        <a:t>Product scope in config</a:t>
                      </a:r>
                    </a:p>
                  </a:txBody>
                  <a:tcPr>
                    <a:solidFill>
                      <a:srgbClr val="FFFFFF"/>
                    </a:solidFill>
                  </a:tcPr>
                </a:tc>
              </a:tr>
              <a:tr h="396240">
                <a:tc>
                  <a:txBody>
                    <a:bodyPr wrap="square"/>
                    <a:lstStyle/>
                    <a:p>
                      <a:pPr algn="l"/>
                      <a:r>
                        <a:rPr sz="1000" b="1" i="0">
                          <a:solidFill>
                            <a:srgbClr val="1E293B"/>
                          </a:solidFill>
                          <a:latin typeface="Calibri"/>
                        </a:rPr>
                        <a:t>Raw</a:t>
                      </a:r>
                    </a:p>
                  </a:txBody>
                  <a:tcPr>
                    <a:solidFill>
                      <a:srgbClr val="F1F5F9"/>
                    </a:solidFill>
                  </a:tcPr>
                </a:tc>
                <a:tc>
                  <a:txBody>
                    <a:bodyPr wrap="square"/>
                    <a:lstStyle/>
                    <a:p>
                      <a:pPr algn="l"/>
                      <a:r>
                        <a:rPr sz="1000" b="0" i="0">
                          <a:solidFill>
                            <a:srgbClr val="475569"/>
                          </a:solidFill>
                          <a:latin typeface="Calibri"/>
                        </a:rPr>
                        <a:t>Overwrite raw file</a:t>
                      </a:r>
                    </a:p>
                  </a:txBody>
                  <a:tcPr>
                    <a:solidFill>
                      <a:srgbClr val="F1F5F9"/>
                    </a:solidFill>
                  </a:tcPr>
                </a:tc>
                <a:tc>
                  <a:txBody>
                    <a:bodyPr wrap="square"/>
                    <a:lstStyle/>
                    <a:p>
                      <a:pPr algn="l"/>
                      <a:r>
                        <a:rPr sz="1000" b="0" i="0">
                          <a:solidFill>
                            <a:srgbClr val="475569"/>
                          </a:solidFill>
                          <a:latin typeface="Calibri"/>
                        </a:rPr>
                        <a:t>No reproducibility</a:t>
                      </a:r>
                    </a:p>
                  </a:txBody>
                  <a:tcPr>
                    <a:solidFill>
                      <a:srgbClr val="F1F5F9"/>
                    </a:solidFill>
                  </a:tcPr>
                </a:tc>
                <a:tc>
                  <a:txBody>
                    <a:bodyPr wrap="square"/>
                    <a:lstStyle/>
                    <a:p>
                      <a:pPr algn="l"/>
                      <a:r>
                        <a:rPr sz="1000" b="0" i="0">
                          <a:solidFill>
                            <a:srgbClr val="475569"/>
                          </a:solidFill>
                          <a:latin typeface="Calibri"/>
                        </a:rPr>
                        <a:t>Immutable raw contract</a:t>
                      </a:r>
                    </a:p>
                  </a:txBody>
                  <a:tcPr>
                    <a:solidFill>
                      <a:srgbClr val="F1F5F9"/>
                    </a:solidFill>
                  </a:tcPr>
                </a:tc>
              </a:tr>
              <a:tr h="396240">
                <a:tc>
                  <a:txBody>
                    <a:bodyPr wrap="square"/>
                    <a:lstStyle/>
                    <a:p>
                      <a:pPr algn="l"/>
                      <a:r>
                        <a:rPr sz="1000" b="1" i="0">
                          <a:solidFill>
                            <a:srgbClr val="1E293B"/>
                          </a:solidFill>
                          <a:latin typeface="Calibri"/>
                        </a:rPr>
                        <a:t>Preprocessing</a:t>
                      </a:r>
                    </a:p>
                  </a:txBody>
                  <a:tcPr>
                    <a:solidFill>
                      <a:srgbClr val="FFFFFF"/>
                    </a:solidFill>
                  </a:tcPr>
                </a:tc>
                <a:tc>
                  <a:txBody>
                    <a:bodyPr wrap="square"/>
                    <a:lstStyle/>
                    <a:p>
                      <a:pPr algn="l"/>
                      <a:r>
                        <a:rPr sz="1000" b="0" i="0">
                          <a:solidFill>
                            <a:srgbClr val="475569"/>
                          </a:solidFill>
                          <a:latin typeface="Calibri"/>
                        </a:rPr>
                        <a:t>Drop outliers blindly</a:t>
                      </a:r>
                    </a:p>
                  </a:txBody>
                  <a:tcPr>
                    <a:solidFill>
                      <a:srgbClr val="FFFFFF"/>
                    </a:solidFill>
                  </a:tcPr>
                </a:tc>
                <a:tc>
                  <a:txBody>
                    <a:bodyPr wrap="square"/>
                    <a:lstStyle/>
                    <a:p>
                      <a:pPr algn="l"/>
                      <a:r>
                        <a:rPr sz="1000" b="0" i="0">
                          <a:solidFill>
                            <a:srgbClr val="475569"/>
                          </a:solidFill>
                          <a:latin typeface="Calibri"/>
                        </a:rPr>
                        <a:t>Lost opportunity signal</a:t>
                      </a:r>
                    </a:p>
                  </a:txBody>
                  <a:tcPr>
                    <a:solidFill>
                      <a:srgbClr val="FFFFFF"/>
                    </a:solidFill>
                  </a:tcPr>
                </a:tc>
                <a:tc>
                  <a:txBody>
                    <a:bodyPr wrap="square"/>
                    <a:lstStyle/>
                    <a:p>
                      <a:pPr algn="l"/>
                      <a:r>
                        <a:rPr sz="1000" b="0" i="0">
                          <a:solidFill>
                            <a:srgbClr val="475569"/>
                          </a:solidFill>
                          <a:latin typeface="Calibri"/>
                        </a:rPr>
                        <a:t>Flag-first policy</a:t>
                      </a:r>
                    </a:p>
                  </a:txBody>
                  <a:tcPr>
                    <a:solidFill>
                      <a:srgbClr val="FFFFFF"/>
                    </a:solidFill>
                  </a:tcPr>
                </a:tc>
              </a:tr>
              <a:tr h="396240">
                <a:tc>
                  <a:txBody>
                    <a:bodyPr wrap="square"/>
                    <a:lstStyle/>
                    <a:p>
                      <a:pPr algn="l"/>
                      <a:r>
                        <a:rPr sz="1000" b="1" i="0">
                          <a:solidFill>
                            <a:srgbClr val="1E293B"/>
                          </a:solidFill>
                          <a:latin typeface="Calibri"/>
                        </a:rPr>
                        <a:t>Warehouse</a:t>
                      </a:r>
                    </a:p>
                  </a:txBody>
                  <a:tcPr>
                    <a:solidFill>
                      <a:srgbClr val="F1F5F9"/>
                    </a:solidFill>
                  </a:tcPr>
                </a:tc>
                <a:tc>
                  <a:txBody>
                    <a:bodyPr wrap="square"/>
                    <a:lstStyle/>
                    <a:p>
                      <a:pPr algn="l"/>
                      <a:r>
                        <a:rPr sz="1000" b="0" i="0">
                          <a:solidFill>
                            <a:srgbClr val="475569"/>
                          </a:solidFill>
                          <a:latin typeface="Calibri"/>
                        </a:rPr>
                        <a:t>Implicit grain</a:t>
                      </a:r>
                    </a:p>
                  </a:txBody>
                  <a:tcPr>
                    <a:solidFill>
                      <a:srgbClr val="F1F5F9"/>
                    </a:solidFill>
                  </a:tcPr>
                </a:tc>
                <a:tc>
                  <a:txBody>
                    <a:bodyPr wrap="square"/>
                    <a:lstStyle/>
                    <a:p>
                      <a:pPr algn="l"/>
                      <a:r>
                        <a:rPr sz="1000" b="0" i="0">
                          <a:solidFill>
                            <a:srgbClr val="475569"/>
                          </a:solidFill>
                          <a:latin typeface="Calibri"/>
                        </a:rPr>
                        <a:t>Duplicated or wrong metrics</a:t>
                      </a:r>
                    </a:p>
                  </a:txBody>
                  <a:tcPr>
                    <a:solidFill>
                      <a:srgbClr val="F1F5F9"/>
                    </a:solidFill>
                  </a:tcPr>
                </a:tc>
                <a:tc>
                  <a:txBody>
                    <a:bodyPr wrap="square"/>
                    <a:lstStyle/>
                    <a:p>
                      <a:pPr algn="l"/>
                      <a:r>
                        <a:rPr sz="1000" b="0" i="0">
                          <a:solidFill>
                            <a:srgbClr val="475569"/>
                          </a:solidFill>
                          <a:latin typeface="Calibri"/>
                        </a:rPr>
                        <a:t>Explicit grain definition</a:t>
                      </a:r>
                    </a:p>
                  </a:txBody>
                  <a:tcPr>
                    <a:solidFill>
                      <a:srgbClr val="F1F5F9"/>
                    </a:solidFill>
                  </a:tcPr>
                </a:tc>
              </a:tr>
              <a:tr h="396240">
                <a:tc>
                  <a:txBody>
                    <a:bodyPr wrap="square"/>
                    <a:lstStyle/>
                    <a:p>
                      <a:pPr algn="l"/>
                      <a:r>
                        <a:rPr sz="1000" b="1" i="0">
                          <a:solidFill>
                            <a:srgbClr val="1E293B"/>
                          </a:solidFill>
                          <a:latin typeface="Calibri"/>
                        </a:rPr>
                        <a:t>SQL</a:t>
                      </a:r>
                    </a:p>
                  </a:txBody>
                  <a:tcPr>
                    <a:solidFill>
                      <a:srgbClr val="FFFFFF"/>
                    </a:solidFill>
                  </a:tcPr>
                </a:tc>
                <a:tc>
                  <a:txBody>
                    <a:bodyPr wrap="square"/>
                    <a:lstStyle/>
                    <a:p>
                      <a:pPr algn="l"/>
                      <a:r>
                        <a:rPr sz="1000" b="0" i="0">
                          <a:solidFill>
                            <a:srgbClr val="475569"/>
                          </a:solidFill>
                          <a:latin typeface="Calibri"/>
                        </a:rPr>
                        <a:t>Ad hoc extracts</a:t>
                      </a:r>
                    </a:p>
                  </a:txBody>
                  <a:tcPr>
                    <a:solidFill>
                      <a:srgbClr val="FFFFFF"/>
                    </a:solidFill>
                  </a:tcPr>
                </a:tc>
                <a:tc>
                  <a:txBody>
                    <a:bodyPr wrap="square"/>
                    <a:lstStyle/>
                    <a:p>
                      <a:pPr algn="l"/>
                      <a:r>
                        <a:rPr sz="1000" b="0" i="0">
                          <a:solidFill>
                            <a:srgbClr val="475569"/>
                          </a:solidFill>
                          <a:latin typeface="Calibri"/>
                        </a:rPr>
                        <a:t>Inconsistent model inputs</a:t>
                      </a:r>
                    </a:p>
                  </a:txBody>
                  <a:tcPr>
                    <a:solidFill>
                      <a:srgbClr val="FFFFFF"/>
                    </a:solidFill>
                  </a:tcPr>
                </a:tc>
                <a:tc>
                  <a:txBody>
                    <a:bodyPr wrap="square"/>
                    <a:lstStyle/>
                    <a:p>
                      <a:pPr algn="l"/>
                      <a:r>
                        <a:rPr sz="1000" b="0" i="0">
                          <a:solidFill>
                            <a:srgbClr val="475569"/>
                          </a:solidFill>
                          <a:latin typeface="Calibri"/>
                        </a:rPr>
                        <a:t>Governed views only</a:t>
                      </a:r>
                    </a:p>
                  </a:txBody>
                  <a:tcPr>
                    <a:solidFill>
                      <a:srgbClr val="FFFFFF"/>
                    </a:solidFill>
                  </a:tcPr>
                </a:tc>
              </a:tr>
              <a:tr h="396240">
                <a:tc>
                  <a:txBody>
                    <a:bodyPr wrap="square"/>
                    <a:lstStyle/>
                    <a:p>
                      <a:pPr algn="l"/>
                      <a:r>
                        <a:rPr sz="1000" b="1" i="0">
                          <a:solidFill>
                            <a:srgbClr val="1E293B"/>
                          </a:solidFill>
                          <a:latin typeface="Calibri"/>
                        </a:rPr>
                        <a:t>ML</a:t>
                      </a:r>
                    </a:p>
                  </a:txBody>
                  <a:tcPr>
                    <a:solidFill>
                      <a:srgbClr val="F1F5F9"/>
                    </a:solidFill>
                  </a:tcPr>
                </a:tc>
                <a:tc>
                  <a:txBody>
                    <a:bodyPr wrap="square"/>
                    <a:lstStyle/>
                    <a:p>
                      <a:pPr algn="l"/>
                      <a:r>
                        <a:rPr sz="1000" b="0" i="0">
                          <a:solidFill>
                            <a:srgbClr val="475569"/>
                          </a:solidFill>
                          <a:latin typeface="Calibri"/>
                        </a:rPr>
                        <a:t>Local-only predictions</a:t>
                      </a:r>
                    </a:p>
                  </a:txBody>
                  <a:tcPr>
                    <a:solidFill>
                      <a:srgbClr val="F1F5F9"/>
                    </a:solidFill>
                  </a:tcPr>
                </a:tc>
                <a:tc>
                  <a:txBody>
                    <a:bodyPr wrap="square"/>
                    <a:lstStyle/>
                    <a:p>
                      <a:pPr algn="l"/>
                      <a:r>
                        <a:rPr sz="1000" b="0" i="0">
                          <a:solidFill>
                            <a:srgbClr val="475569"/>
                          </a:solidFill>
                          <a:latin typeface="Calibri"/>
                        </a:rPr>
                        <a:t>No reuse, no auditability</a:t>
                      </a:r>
                    </a:p>
                  </a:txBody>
                  <a:tcPr>
                    <a:solidFill>
                      <a:srgbClr val="F1F5F9"/>
                    </a:solidFill>
                  </a:tcPr>
                </a:tc>
                <a:tc>
                  <a:txBody>
                    <a:bodyPr wrap="square"/>
                    <a:lstStyle/>
                    <a:p>
                      <a:pPr algn="l"/>
                      <a:r>
                        <a:rPr sz="1000" b="0" i="0">
                          <a:solidFill>
                            <a:srgbClr val="475569"/>
                          </a:solidFill>
                          <a:latin typeface="Calibri"/>
                        </a:rPr>
                        <a:t>Persisted outputs in BigQuery</a:t>
                      </a:r>
                    </a:p>
                  </a:txBody>
                  <a:tcPr>
                    <a:solidFill>
                      <a:srgbClr val="F1F5F9"/>
                    </a:solidFill>
                  </a:tcPr>
                </a:tc>
              </a:tr>
              <a:tr h="396240">
                <a:tc>
                  <a:txBody>
                    <a:bodyPr wrap="square"/>
                    <a:lstStyle/>
                    <a:p>
                      <a:pPr algn="l"/>
                      <a:r>
                        <a:rPr sz="1000" b="1" i="0">
                          <a:solidFill>
                            <a:srgbClr val="1E293B"/>
                          </a:solidFill>
                          <a:latin typeface="Calibri"/>
                        </a:rPr>
                        <a:t>Streamlit</a:t>
                      </a:r>
                    </a:p>
                  </a:txBody>
                  <a:tcPr>
                    <a:solidFill>
                      <a:srgbClr val="FFFFFF"/>
                    </a:solidFill>
                  </a:tcPr>
                </a:tc>
                <a:tc>
                  <a:txBody>
                    <a:bodyPr wrap="square"/>
                    <a:lstStyle/>
                    <a:p>
                      <a:pPr algn="l"/>
                      <a:r>
                        <a:rPr sz="1000" b="0" i="0">
                          <a:solidFill>
                            <a:srgbClr val="475569"/>
                          </a:solidFill>
                          <a:latin typeface="Calibri"/>
                        </a:rPr>
                        <a:t>Reads CSVs directly</a:t>
                      </a:r>
                    </a:p>
                  </a:txBody>
                  <a:tcPr>
                    <a:solidFill>
                      <a:srgbClr val="FFFFFF"/>
                    </a:solidFill>
                  </a:tcPr>
                </a:tc>
                <a:tc>
                  <a:txBody>
                    <a:bodyPr wrap="square"/>
                    <a:lstStyle/>
                    <a:p>
                      <a:pPr algn="l"/>
                      <a:r>
                        <a:rPr sz="1000" b="0" i="0">
                          <a:solidFill>
                            <a:srgbClr val="475569"/>
                          </a:solidFill>
                          <a:latin typeface="Calibri"/>
                        </a:rPr>
                        <a:t>Bypasses source of truth</a:t>
                      </a:r>
                    </a:p>
                  </a:txBody>
                  <a:tcPr>
                    <a:solidFill>
                      <a:srgbClr val="FFFFFF"/>
                    </a:solidFill>
                  </a:tcPr>
                </a:tc>
                <a:tc>
                  <a:txBody>
                    <a:bodyPr wrap="square"/>
                    <a:lstStyle/>
                    <a:p>
                      <a:pPr algn="l"/>
                      <a:r>
                        <a:rPr sz="1000" b="0" i="0">
                          <a:solidFill>
                            <a:srgbClr val="475569"/>
                          </a:solidFill>
                          <a:latin typeface="Calibri"/>
                        </a:rPr>
                        <a:t>BigQuery-backed app</a:t>
                      </a:r>
                    </a:p>
                  </a:txBody>
                  <a:tcPr>
                    <a:solidFill>
                      <a:srgbClr val="FFFFFF"/>
                    </a:solidFill>
                  </a:tcPr>
                </a:tc>
              </a:tr>
              <a:tr h="396240">
                <a:tc>
                  <a:txBody>
                    <a:bodyPr wrap="square"/>
                    <a:lstStyle/>
                    <a:p>
                      <a:pPr algn="l"/>
                      <a:r>
                        <a:rPr sz="1000" b="1" i="0">
                          <a:solidFill>
                            <a:srgbClr val="1E293B"/>
                          </a:solidFill>
                          <a:latin typeface="Calibri"/>
                        </a:rPr>
                        <a:t>Text-to-SQL</a:t>
                      </a:r>
                    </a:p>
                  </a:txBody>
                  <a:tcPr>
                    <a:solidFill>
                      <a:srgbClr val="F1F5F9"/>
                    </a:solidFill>
                  </a:tcPr>
                </a:tc>
                <a:tc>
                  <a:txBody>
                    <a:bodyPr wrap="square"/>
                    <a:lstStyle/>
                    <a:p>
                      <a:pPr algn="l"/>
                      <a:r>
                        <a:rPr sz="1000" b="0" i="0">
                          <a:solidFill>
                            <a:srgbClr val="475569"/>
                          </a:solidFill>
                          <a:latin typeface="Calibri"/>
                        </a:rPr>
                        <a:t>LLM queries everything</a:t>
                      </a:r>
                    </a:p>
                  </a:txBody>
                  <a:tcPr>
                    <a:solidFill>
                      <a:srgbClr val="F1F5F9"/>
                    </a:solidFill>
                  </a:tcPr>
                </a:tc>
                <a:tc>
                  <a:txBody>
                    <a:bodyPr wrap="square"/>
                    <a:lstStyle/>
                    <a:p>
                      <a:pPr algn="l"/>
                      <a:r>
                        <a:rPr sz="1000" b="0" i="0">
                          <a:solidFill>
                            <a:srgbClr val="475569"/>
                          </a:solidFill>
                          <a:latin typeface="Calibri"/>
                        </a:rPr>
                        <a:t>Unsafe ambiguity</a:t>
                      </a:r>
                    </a:p>
                  </a:txBody>
                  <a:tcPr>
                    <a:solidFill>
                      <a:srgbClr val="F1F5F9"/>
                    </a:solidFill>
                  </a:tcPr>
                </a:tc>
                <a:tc>
                  <a:txBody>
                    <a:bodyPr wrap="square"/>
                    <a:lstStyle/>
                    <a:p>
                      <a:pPr algn="l"/>
                      <a:r>
                        <a:rPr sz="1000" b="0" i="0">
                          <a:solidFill>
                            <a:srgbClr val="475569"/>
                          </a:solidFill>
                          <a:latin typeface="Calibri"/>
                        </a:rPr>
                        <a:t>Semantic layer + validation</a:t>
                      </a:r>
                    </a:p>
                  </a:txBody>
                  <a:tcPr>
                    <a:solidFill>
                      <a:srgbClr val="F1F5F9"/>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 y="320040"/>
            <a:ext cx="8284464" cy="274320"/>
          </a:xfrm>
          <a:prstGeom prst="rect">
            <a:avLst/>
          </a:prstGeom>
          <a:noFill/>
          <a:ln>
            <a:noFill/>
          </a:ln>
        </p:spPr>
        <p:txBody>
          <a:bodyPr wrap="square">
            <a:spAutoFit/>
          </a:bodyPr>
          <a:lstStyle/>
          <a:p>
            <a:pPr algn="ctr"/>
            <a:r>
              <a:rPr sz="1000" b="0" i="0">
                <a:solidFill>
                  <a:srgbClr val="CBD5E1"/>
                </a:solidFill>
                <a:latin typeface="Calibri"/>
              </a:rPr>
              <a:t>Head of Data 101  —  Session 07  —  Final Architecture Session</a:t>
            </a:r>
          </a:p>
        </p:txBody>
      </p:sp>
      <p:sp>
        <p:nvSpPr>
          <p:cNvPr id="5" name="TextBox 4"/>
          <p:cNvSpPr txBox="1"/>
          <p:nvPr/>
        </p:nvSpPr>
        <p:spPr>
          <a:xfrm>
            <a:off x="429768" y="685800"/>
            <a:ext cx="8284464" cy="502920"/>
          </a:xfrm>
          <a:prstGeom prst="rect">
            <a:avLst/>
          </a:prstGeom>
          <a:noFill/>
          <a:ln>
            <a:noFill/>
          </a:ln>
        </p:spPr>
        <p:txBody>
          <a:bodyPr wrap="square">
            <a:spAutoFit/>
          </a:bodyPr>
          <a:lstStyle/>
          <a:p>
            <a:pPr algn="ctr"/>
            <a:r>
              <a:rPr sz="2800" b="1" i="0">
                <a:solidFill>
                  <a:srgbClr val="FFFFFF"/>
                </a:solidFill>
                <a:latin typeface="Calibri"/>
              </a:rPr>
              <a:t>The reusable architecture</a:t>
            </a:r>
          </a:p>
        </p:txBody>
      </p:sp>
      <p:sp>
        <p:nvSpPr>
          <p:cNvPr id="6" name="TextBox 5"/>
          <p:cNvSpPr txBox="1"/>
          <p:nvPr/>
        </p:nvSpPr>
        <p:spPr>
          <a:xfrm>
            <a:off x="429768" y="1280160"/>
            <a:ext cx="8284464" cy="320040"/>
          </a:xfrm>
          <a:prstGeom prst="rect">
            <a:avLst/>
          </a:prstGeom>
          <a:noFill/>
          <a:ln>
            <a:noFill/>
          </a:ln>
        </p:spPr>
        <p:txBody>
          <a:bodyPr wrap="square">
            <a:spAutoFit/>
          </a:bodyPr>
          <a:lstStyle/>
          <a:p>
            <a:pPr algn="ctr"/>
            <a:r>
              <a:rPr sz="1400" b="0" i="0">
                <a:solidFill>
                  <a:srgbClr val="CBD5E1"/>
                </a:solidFill>
                <a:latin typeface="Calibri"/>
              </a:rPr>
              <a:t>The case was vehicles.  The architecture is generic.</a:t>
            </a:r>
          </a:p>
        </p:txBody>
      </p:sp>
      <p:sp>
        <p:nvSpPr>
          <p:cNvPr id="7" name="TextBox 6"/>
          <p:cNvSpPr txBox="1"/>
          <p:nvPr/>
        </p:nvSpPr>
        <p:spPr>
          <a:xfrm>
            <a:off x="429768" y="1691640"/>
            <a:ext cx="8284464" cy="320040"/>
          </a:xfrm>
          <a:prstGeom prst="rect">
            <a:avLst/>
          </a:prstGeom>
          <a:noFill/>
          <a:ln>
            <a:noFill/>
          </a:ln>
        </p:spPr>
        <p:txBody>
          <a:bodyPr wrap="square">
            <a:spAutoFit/>
          </a:bodyPr>
          <a:lstStyle/>
          <a:p>
            <a:pPr algn="ctr"/>
            <a:r>
              <a:rPr sz="950" b="0" i="0">
                <a:solidFill>
                  <a:srgbClr val="CBD5E1"/>
                </a:solidFill>
                <a:latin typeface="Calibri"/>
              </a:rPr>
              <a:t>Fraud detection   |   Credit risk   |   Churn prediction   |   Pricing optimization   |   Operational monitoring   |   Marketing attribution   |   Financial control   |   AI assistants over governed data</a:t>
            </a:r>
          </a:p>
        </p:txBody>
      </p:sp>
      <p:sp>
        <p:nvSpPr>
          <p:cNvPr id="8" name="Rectangle 7"/>
          <p:cNvSpPr/>
          <p:nvPr/>
        </p:nvSpPr>
        <p:spPr>
          <a:xfrm>
            <a:off x="429768" y="2148840"/>
            <a:ext cx="8284464" cy="5943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2194560"/>
            <a:ext cx="8101584" cy="502920"/>
          </a:xfrm>
          <a:prstGeom prst="rect">
            <a:avLst/>
          </a:prstGeom>
          <a:noFill/>
          <a:ln>
            <a:noFill/>
          </a:ln>
        </p:spPr>
        <p:txBody>
          <a:bodyPr wrap="square">
            <a:spAutoFit/>
          </a:bodyPr>
          <a:lstStyle/>
          <a:p>
            <a:pPr algn="ctr"/>
            <a:r>
              <a:rPr sz="1600" b="1" i="0">
                <a:solidFill>
                  <a:srgbClr val="FFFFFF"/>
                </a:solidFill>
                <a:latin typeface="Calibri"/>
              </a:rPr>
              <a:t>A professional data product is a reproducible chain from evidence to decision.</a:t>
            </a:r>
          </a:p>
        </p:txBody>
      </p:sp>
      <p:sp>
        <p:nvSpPr>
          <p:cNvPr id="10" name="Rectangle 9"/>
          <p:cNvSpPr/>
          <p:nvPr/>
        </p:nvSpPr>
        <p:spPr>
          <a:xfrm>
            <a:off x="429768"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Web Source</a:t>
            </a:r>
          </a:p>
        </p:txBody>
      </p:sp>
      <p:sp>
        <p:nvSpPr>
          <p:cNvPr id="12" name="Rectangle 11"/>
          <p:cNvSpPr/>
          <p:nvPr/>
        </p:nvSpPr>
        <p:spPr>
          <a:xfrm>
            <a:off x="1203960"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68552"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68552"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Raw Data</a:t>
            </a:r>
          </a:p>
        </p:txBody>
      </p:sp>
      <p:sp>
        <p:nvSpPr>
          <p:cNvPr id="15" name="Rectangle 14"/>
          <p:cNvSpPr/>
          <p:nvPr/>
        </p:nvSpPr>
        <p:spPr>
          <a:xfrm>
            <a:off x="2142744"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07336"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07336"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Clean Data</a:t>
            </a:r>
          </a:p>
        </p:txBody>
      </p:sp>
      <p:sp>
        <p:nvSpPr>
          <p:cNvPr id="18" name="Rectangle 17"/>
          <p:cNvSpPr/>
          <p:nvPr/>
        </p:nvSpPr>
        <p:spPr>
          <a:xfrm>
            <a:off x="3081528"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6120"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6120"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BigQuery</a:t>
            </a:r>
          </a:p>
        </p:txBody>
      </p:sp>
      <p:sp>
        <p:nvSpPr>
          <p:cNvPr id="21" name="Rectangle 20"/>
          <p:cNvSpPr/>
          <p:nvPr/>
        </p:nvSpPr>
        <p:spPr>
          <a:xfrm>
            <a:off x="4020312"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84904"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84904"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SQL Views</a:t>
            </a:r>
          </a:p>
        </p:txBody>
      </p:sp>
      <p:sp>
        <p:nvSpPr>
          <p:cNvPr id="24" name="Rectangle 23"/>
          <p:cNvSpPr/>
          <p:nvPr/>
        </p:nvSpPr>
        <p:spPr>
          <a:xfrm>
            <a:off x="4959096"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23688"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3688"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ML Signals</a:t>
            </a:r>
          </a:p>
        </p:txBody>
      </p:sp>
      <p:sp>
        <p:nvSpPr>
          <p:cNvPr id="27" name="Rectangle 26"/>
          <p:cNvSpPr/>
          <p:nvPr/>
        </p:nvSpPr>
        <p:spPr>
          <a:xfrm>
            <a:off x="5897880"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62472"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62472"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BI View</a:t>
            </a:r>
          </a:p>
        </p:txBody>
      </p:sp>
      <p:sp>
        <p:nvSpPr>
          <p:cNvPr id="30" name="Rectangle 29"/>
          <p:cNvSpPr/>
          <p:nvPr/>
        </p:nvSpPr>
        <p:spPr>
          <a:xfrm>
            <a:off x="6836664"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01256"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01256"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Streamlit</a:t>
            </a:r>
          </a:p>
        </p:txBody>
      </p:sp>
      <p:sp>
        <p:nvSpPr>
          <p:cNvPr id="33" name="Rectangle 32"/>
          <p:cNvSpPr/>
          <p:nvPr/>
        </p:nvSpPr>
        <p:spPr>
          <a:xfrm>
            <a:off x="7775448" y="3044952"/>
            <a:ext cx="164592"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40040" y="2880360"/>
            <a:ext cx="774192" cy="384048"/>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40040" y="2880360"/>
            <a:ext cx="774192" cy="384048"/>
          </a:xfrm>
          <a:prstGeom prst="rect">
            <a:avLst/>
          </a:prstGeom>
          <a:noFill/>
          <a:ln>
            <a:noFill/>
          </a:ln>
        </p:spPr>
        <p:txBody>
          <a:bodyPr wrap="square">
            <a:spAutoFit/>
          </a:bodyPr>
          <a:lstStyle/>
          <a:p>
            <a:pPr algn="ctr">
              <a:spcBef>
                <a:spcPts val="400"/>
              </a:spcBef>
            </a:pPr>
            <a:r>
              <a:rPr sz="800" b="1" i="0">
                <a:solidFill>
                  <a:srgbClr val="FFFFFF"/>
                </a:solidFill>
                <a:latin typeface="Calibri"/>
              </a:rPr>
              <a:t>Decision</a:t>
            </a:r>
          </a:p>
        </p:txBody>
      </p:sp>
      <p:sp>
        <p:nvSpPr>
          <p:cNvPr id="36" name="Rectangle 35"/>
          <p:cNvSpPr/>
          <p:nvPr/>
        </p:nvSpPr>
        <p:spPr>
          <a:xfrm>
            <a:off x="0" y="4777740"/>
            <a:ext cx="9144000" cy="365760"/>
          </a:xfrm>
          <a:prstGeom prst="rect">
            <a:avLst/>
          </a:prstGeom>
          <a:solidFill>
            <a:srgbClr val="2D3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4777740"/>
            <a:ext cx="54864" cy="36576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7160" y="4777740"/>
            <a:ext cx="8961120" cy="365760"/>
          </a:xfrm>
          <a:prstGeom prst="rect">
            <a:avLst/>
          </a:prstGeom>
          <a:noFill/>
          <a:ln>
            <a:noFill/>
          </a:ln>
        </p:spPr>
        <p:txBody>
          <a:bodyPr wrap="square">
            <a:spAutoFit/>
          </a:bodyPr>
          <a:lstStyle/>
          <a:p>
            <a:pPr algn="l"/>
            <a:r>
              <a:rPr sz="1100" b="1" i="0">
                <a:solidFill>
                  <a:srgbClr val="FFFFFF"/>
                </a:solidFill>
                <a:latin typeface="Calibri"/>
              </a:rPr>
              <a:t>Do not ship a notebook. Ship a trustworthy decision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